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e7d36af-47c4-b446-8f3b-be3956616594}">
          <p14:sldIdLst>
            <p14:sldId id="256"/>
            <p14:sldId id="257"/>
          </p14:sldIdLst>
        </p14:section>
        <p14:section name="The Promise, Kept" id="{c36ac1c7-de9e-ce61-a270-4413d59b0941}">
          <p14:sldIdLst>
            <p14:sldId id="258"/>
            <p14:sldId id="259"/>
            <p14:sldId id="260"/>
          </p14:sldIdLst>
        </p14:section>
        <p14:section name="The System as Built" id="{d53d83ff-7e10-3fe7-3c01-91ce89ce5385}">
          <p14:sldIdLst>
            <p14:sldId id="261"/>
            <p14:sldId id="262"/>
            <p14:sldId id="263"/>
            <p14:sldId id="264"/>
            <p14:sldId id="265"/>
            <p14:sldId id="266"/>
          </p14:sldIdLst>
        </p14:section>
        <p14:section name="The Results" id="{ddcd780f-54cf-83e4-3f0b-c59cb4dbda50}">
          <p14:sldIdLst>
            <p14:sldId id="267"/>
            <p14:sldId id="268"/>
            <p14:sldId id="269"/>
            <p14:sldId id="270"/>
            <p14:sldId id="271"/>
          </p14:sldIdLst>
        </p14:section>
        <p14:section name="Risks and Limits" id="{98ab33d6-9435-8cb5-b5de-bb30797eb1fe}">
          <p14:sldIdLst>
            <p14:sldId id="272"/>
            <p14:sldId id="273"/>
          </p14:sldIdLst>
        </p14:section>
        <p14:section name="Demo and Close" id="{eb4f1b90-64a4-11d2-a28e-ee719893dcc6}">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measured error of one configuration</c:v>
                </c:pt>
              </c:strCache>
            </c:strRef>
          </c:tx>
          <c:spPr>
            <a:solidFill>
              <a:srgbClr val="2F3C7E"/>
            </a:solidFill>
            <a:ln>
              <a:noFill/>
            </a:ln>
            <a:effectLst/>
          </c:spPr>
          <c:marker>
            <c:symbol val="circle"/>
            <c:size val="5"/>
            <c:spPr>
              <a:solidFill>
                <a:srgbClr val="2F3C7E"/>
              </a:solidFill>
              <a:ln w="9525" cap="flat">
                <a:solidFill>
                  <a:srgbClr val="2F3C7E"/>
                </a:solidFill>
                <a:prstDash val="solid"/>
                <a:round/>
              </a:ln>
              <a:effectLst/>
            </c:spPr>
          </c:marker>
          <c:xVal>
            <c:numRef>
              <c:f>Sheet1!$A$2:$A$281</c:f>
              <c:numCache>
                <c:formatCode>General</c:formatCode>
                <c:ptCount val="280"/>
                <c:pt idx="0">
                  <c:v>-9</c:v>
                </c:pt>
                <c:pt idx="1">
                  <c:v>-8.92</c:v>
                </c:pt>
                <c:pt idx="2">
                  <c:v>-8.84</c:v>
                </c:pt>
                <c:pt idx="3">
                  <c:v>-8.76</c:v>
                </c:pt>
                <c:pt idx="4">
                  <c:v>-8.68</c:v>
                </c:pt>
                <c:pt idx="5">
                  <c:v>-8.6</c:v>
                </c:pt>
                <c:pt idx="6">
                  <c:v>-8.52</c:v>
                </c:pt>
                <c:pt idx="7">
                  <c:v>-8.44</c:v>
                </c:pt>
                <c:pt idx="8">
                  <c:v>-8.36</c:v>
                </c:pt>
                <c:pt idx="9">
                  <c:v>-8.28</c:v>
                </c:pt>
                <c:pt idx="10">
                  <c:v>-8.2</c:v>
                </c:pt>
                <c:pt idx="11">
                  <c:v>-8.12</c:v>
                </c:pt>
                <c:pt idx="12">
                  <c:v>-8.04</c:v>
                </c:pt>
                <c:pt idx="13">
                  <c:v>-7.96</c:v>
                </c:pt>
                <c:pt idx="14">
                  <c:v>-7.88</c:v>
                </c:pt>
                <c:pt idx="15">
                  <c:v>-7.8</c:v>
                </c:pt>
                <c:pt idx="16">
                  <c:v>-7.72</c:v>
                </c:pt>
                <c:pt idx="17">
                  <c:v>-7.64</c:v>
                </c:pt>
                <c:pt idx="18">
                  <c:v>-7.56</c:v>
                </c:pt>
                <c:pt idx="19">
                  <c:v>-7.48</c:v>
                </c:pt>
                <c:pt idx="20">
                  <c:v>-7.4</c:v>
                </c:pt>
                <c:pt idx="21">
                  <c:v>-7.32</c:v>
                </c:pt>
                <c:pt idx="22">
                  <c:v>-7.24</c:v>
                </c:pt>
                <c:pt idx="23">
                  <c:v>-7.16</c:v>
                </c:pt>
                <c:pt idx="24">
                  <c:v>-7.08</c:v>
                </c:pt>
                <c:pt idx="25">
                  <c:v>-7</c:v>
                </c:pt>
                <c:pt idx="26">
                  <c:v>-6.92</c:v>
                </c:pt>
                <c:pt idx="27">
                  <c:v>-6.84</c:v>
                </c:pt>
                <c:pt idx="28">
                  <c:v>-6.76</c:v>
                </c:pt>
                <c:pt idx="29">
                  <c:v>-6.68</c:v>
                </c:pt>
                <c:pt idx="30">
                  <c:v>-6.6</c:v>
                </c:pt>
                <c:pt idx="31">
                  <c:v>-6.52</c:v>
                </c:pt>
                <c:pt idx="32">
                  <c:v>-6.44</c:v>
                </c:pt>
                <c:pt idx="33">
                  <c:v>-6.36</c:v>
                </c:pt>
                <c:pt idx="34">
                  <c:v>-6.28</c:v>
                </c:pt>
                <c:pt idx="35">
                  <c:v>-6.2</c:v>
                </c:pt>
                <c:pt idx="36">
                  <c:v>-6.12</c:v>
                </c:pt>
                <c:pt idx="37">
                  <c:v>-6.04</c:v>
                </c:pt>
                <c:pt idx="38">
                  <c:v>-5.96</c:v>
                </c:pt>
                <c:pt idx="39">
                  <c:v>-5.9294</c:v>
                </c:pt>
                <c:pt idx="40">
                  <c:v>-5.9294</c:v>
                </c:pt>
                <c:pt idx="41">
                  <c:v>-5.9294</c:v>
                </c:pt>
                <c:pt idx="42">
                  <c:v>-5.9294</c:v>
                </c:pt>
                <c:pt idx="43">
                  <c:v>-5.9294</c:v>
                </c:pt>
                <c:pt idx="44">
                  <c:v>-5.9233</c:v>
                </c:pt>
                <c:pt idx="45">
                  <c:v>-5.9233</c:v>
                </c:pt>
                <c:pt idx="46">
                  <c:v>-5.9233</c:v>
                </c:pt>
                <c:pt idx="47">
                  <c:v>-5.9233</c:v>
                </c:pt>
                <c:pt idx="48">
                  <c:v>-5.9233</c:v>
                </c:pt>
                <c:pt idx="49">
                  <c:v>-5.9233</c:v>
                </c:pt>
                <c:pt idx="50">
                  <c:v>-5.9233</c:v>
                </c:pt>
                <c:pt idx="51">
                  <c:v>-5.9233</c:v>
                </c:pt>
                <c:pt idx="52">
                  <c:v>-5.88</c:v>
                </c:pt>
                <c:pt idx="53">
                  <c:v>-5.8426</c:v>
                </c:pt>
                <c:pt idx="54">
                  <c:v>-5.8426</c:v>
                </c:pt>
                <c:pt idx="55">
                  <c:v>-5.8426</c:v>
                </c:pt>
                <c:pt idx="56">
                  <c:v>-5.8426</c:v>
                </c:pt>
                <c:pt idx="57">
                  <c:v>-5.8426</c:v>
                </c:pt>
                <c:pt idx="58">
                  <c:v>-5.8</c:v>
                </c:pt>
                <c:pt idx="59">
                  <c:v>-5.72</c:v>
                </c:pt>
                <c:pt idx="60">
                  <c:v>-5.6449</c:v>
                </c:pt>
                <c:pt idx="61">
                  <c:v>-5.6449</c:v>
                </c:pt>
                <c:pt idx="62">
                  <c:v>-5.6449</c:v>
                </c:pt>
                <c:pt idx="63">
                  <c:v>-5.6449</c:v>
                </c:pt>
                <c:pt idx="64">
                  <c:v>-5.6449</c:v>
                </c:pt>
                <c:pt idx="65">
                  <c:v>-5.6449</c:v>
                </c:pt>
                <c:pt idx="66">
                  <c:v>-5.6449</c:v>
                </c:pt>
                <c:pt idx="67">
                  <c:v>-5.6449</c:v>
                </c:pt>
                <c:pt idx="68">
                  <c:v>-5.6449</c:v>
                </c:pt>
                <c:pt idx="69">
                  <c:v>-5.6449</c:v>
                </c:pt>
                <c:pt idx="70">
                  <c:v>-5.64</c:v>
                </c:pt>
                <c:pt idx="71">
                  <c:v>-5.56</c:v>
                </c:pt>
                <c:pt idx="72">
                  <c:v>-5.48</c:v>
                </c:pt>
                <c:pt idx="73">
                  <c:v>-5.4</c:v>
                </c:pt>
                <c:pt idx="74">
                  <c:v>-5.32</c:v>
                </c:pt>
                <c:pt idx="75">
                  <c:v>-5.2802</c:v>
                </c:pt>
                <c:pt idx="76">
                  <c:v>-5.2802</c:v>
                </c:pt>
                <c:pt idx="77">
                  <c:v>-5.2802</c:v>
                </c:pt>
                <c:pt idx="78">
                  <c:v>-5.2802</c:v>
                </c:pt>
                <c:pt idx="79">
                  <c:v>-5.2802</c:v>
                </c:pt>
                <c:pt idx="80">
                  <c:v>-5.2802</c:v>
                </c:pt>
                <c:pt idx="81">
                  <c:v>-5.24</c:v>
                </c:pt>
                <c:pt idx="82">
                  <c:v>-5.2316</c:v>
                </c:pt>
                <c:pt idx="83">
                  <c:v>-5.2316</c:v>
                </c:pt>
                <c:pt idx="84">
                  <c:v>-5.2316</c:v>
                </c:pt>
                <c:pt idx="85">
                  <c:v>-5.2316</c:v>
                </c:pt>
                <c:pt idx="86">
                  <c:v>-5.2316</c:v>
                </c:pt>
                <c:pt idx="87">
                  <c:v>-5.2316</c:v>
                </c:pt>
                <c:pt idx="88">
                  <c:v>-5.1913</c:v>
                </c:pt>
                <c:pt idx="89">
                  <c:v>-5.16</c:v>
                </c:pt>
                <c:pt idx="90">
                  <c:v>-5.146</c:v>
                </c:pt>
                <c:pt idx="91">
                  <c:v>-5.08</c:v>
                </c:pt>
                <c:pt idx="92">
                  <c:v>-5</c:v>
                </c:pt>
                <c:pt idx="93">
                  <c:v>-4.92</c:v>
                </c:pt>
                <c:pt idx="94">
                  <c:v>-4.84</c:v>
                </c:pt>
                <c:pt idx="95">
                  <c:v>-4.76</c:v>
                </c:pt>
                <c:pt idx="96">
                  <c:v>-4.7142</c:v>
                </c:pt>
                <c:pt idx="97">
                  <c:v>-4.68</c:v>
                </c:pt>
                <c:pt idx="98">
                  <c:v>-4.6129</c:v>
                </c:pt>
                <c:pt idx="99">
                  <c:v>-4.6</c:v>
                </c:pt>
                <c:pt idx="100">
                  <c:v>-4.52</c:v>
                </c:pt>
                <c:pt idx="101">
                  <c:v>-4.4643</c:v>
                </c:pt>
                <c:pt idx="102">
                  <c:v>-4.4643</c:v>
                </c:pt>
                <c:pt idx="103">
                  <c:v>-4.4643</c:v>
                </c:pt>
                <c:pt idx="104">
                  <c:v>-4.4643</c:v>
                </c:pt>
                <c:pt idx="105">
                  <c:v>-4.4643</c:v>
                </c:pt>
                <c:pt idx="106">
                  <c:v>-4.4643</c:v>
                </c:pt>
                <c:pt idx="107">
                  <c:v>-4.44</c:v>
                </c:pt>
                <c:pt idx="108">
                  <c:v>-4.4044</c:v>
                </c:pt>
                <c:pt idx="109">
                  <c:v>-4.4044</c:v>
                </c:pt>
                <c:pt idx="110">
                  <c:v>-4.4044</c:v>
                </c:pt>
                <c:pt idx="111">
                  <c:v>-4.4044</c:v>
                </c:pt>
                <c:pt idx="112">
                  <c:v>-4.4044</c:v>
                </c:pt>
                <c:pt idx="113">
                  <c:v>-4.4044</c:v>
                </c:pt>
                <c:pt idx="114">
                  <c:v>-4.4044</c:v>
                </c:pt>
                <c:pt idx="115">
                  <c:v>-4.4044</c:v>
                </c:pt>
                <c:pt idx="116">
                  <c:v>-4.36</c:v>
                </c:pt>
                <c:pt idx="117">
                  <c:v>-4.28</c:v>
                </c:pt>
                <c:pt idx="118">
                  <c:v>-4.2</c:v>
                </c:pt>
                <c:pt idx="119">
                  <c:v>-4.12</c:v>
                </c:pt>
                <c:pt idx="120">
                  <c:v>-4.1154</c:v>
                </c:pt>
                <c:pt idx="121">
                  <c:v>-4.1154</c:v>
                </c:pt>
                <c:pt idx="122">
                  <c:v>-4.1154</c:v>
                </c:pt>
                <c:pt idx="123">
                  <c:v>-4.1154</c:v>
                </c:pt>
                <c:pt idx="124">
                  <c:v>-4.1154</c:v>
                </c:pt>
                <c:pt idx="125">
                  <c:v>-4.1154</c:v>
                </c:pt>
                <c:pt idx="126">
                  <c:v>-4.1154</c:v>
                </c:pt>
                <c:pt idx="127">
                  <c:v>-4.1154</c:v>
                </c:pt>
                <c:pt idx="128">
                  <c:v>-4.1154</c:v>
                </c:pt>
                <c:pt idx="129">
                  <c:v>-4.1154</c:v>
                </c:pt>
                <c:pt idx="130">
                  <c:v>-4.1154</c:v>
                </c:pt>
                <c:pt idx="131">
                  <c:v>-4.1154</c:v>
                </c:pt>
                <c:pt idx="132">
                  <c:v>-4.1154</c:v>
                </c:pt>
                <c:pt idx="133">
                  <c:v>-4.1154</c:v>
                </c:pt>
                <c:pt idx="134">
                  <c:v>-4.1154</c:v>
                </c:pt>
                <c:pt idx="135">
                  <c:v>-4.04</c:v>
                </c:pt>
                <c:pt idx="136">
                  <c:v>-3.96</c:v>
                </c:pt>
                <c:pt idx="137">
                  <c:v>-3.88</c:v>
                </c:pt>
                <c:pt idx="138">
                  <c:v>-3.8</c:v>
                </c:pt>
                <c:pt idx="139">
                  <c:v>-3.72</c:v>
                </c:pt>
                <c:pt idx="140">
                  <c:v>-3.64</c:v>
                </c:pt>
                <c:pt idx="141">
                  <c:v>-3.56</c:v>
                </c:pt>
                <c:pt idx="142">
                  <c:v>-3.48</c:v>
                </c:pt>
                <c:pt idx="143">
                  <c:v>-3.4</c:v>
                </c:pt>
                <c:pt idx="144">
                  <c:v>-3.32</c:v>
                </c:pt>
                <c:pt idx="145">
                  <c:v>-3.24</c:v>
                </c:pt>
                <c:pt idx="146">
                  <c:v>-3.16</c:v>
                </c:pt>
                <c:pt idx="147">
                  <c:v>-3.08</c:v>
                </c:pt>
                <c:pt idx="148">
                  <c:v>-3</c:v>
                </c:pt>
                <c:pt idx="149">
                  <c:v>-2.9302</c:v>
                </c:pt>
                <c:pt idx="150">
                  <c:v>-2.9302</c:v>
                </c:pt>
                <c:pt idx="151">
                  <c:v>-2.9302</c:v>
                </c:pt>
                <c:pt idx="152">
                  <c:v>-2.92</c:v>
                </c:pt>
                <c:pt idx="153">
                  <c:v>-2.84</c:v>
                </c:pt>
                <c:pt idx="154">
                  <c:v>-2.76</c:v>
                </c:pt>
                <c:pt idx="155">
                  <c:v>-2.6825</c:v>
                </c:pt>
                <c:pt idx="156">
                  <c:v>-2.68</c:v>
                </c:pt>
                <c:pt idx="157">
                  <c:v>-2.6</c:v>
                </c:pt>
                <c:pt idx="158">
                  <c:v>-2.52</c:v>
                </c:pt>
                <c:pt idx="159">
                  <c:v>-2.5159</c:v>
                </c:pt>
                <c:pt idx="160">
                  <c:v>-2.44</c:v>
                </c:pt>
                <c:pt idx="161">
                  <c:v>-2.36</c:v>
                </c:pt>
                <c:pt idx="162">
                  <c:v>-2.28</c:v>
                </c:pt>
                <c:pt idx="163">
                  <c:v>-2.2317</c:v>
                </c:pt>
                <c:pt idx="164">
                  <c:v>-2.2317</c:v>
                </c:pt>
                <c:pt idx="165">
                  <c:v>-2.2317</c:v>
                </c:pt>
                <c:pt idx="166">
                  <c:v>-2.2317</c:v>
                </c:pt>
                <c:pt idx="167">
                  <c:v>-2.2317</c:v>
                </c:pt>
                <c:pt idx="168">
                  <c:v>-2.2314</c:v>
                </c:pt>
                <c:pt idx="169">
                  <c:v>-2.2314</c:v>
                </c:pt>
                <c:pt idx="170">
                  <c:v>-2.2055</c:v>
                </c:pt>
                <c:pt idx="171">
                  <c:v>-2.2</c:v>
                </c:pt>
                <c:pt idx="172">
                  <c:v>-2.1275</c:v>
                </c:pt>
                <c:pt idx="173">
                  <c:v>-2.12</c:v>
                </c:pt>
                <c:pt idx="174">
                  <c:v>-2.0551</c:v>
                </c:pt>
                <c:pt idx="175">
                  <c:v>-2.0551</c:v>
                </c:pt>
                <c:pt idx="176">
                  <c:v>-2.0432</c:v>
                </c:pt>
                <c:pt idx="177">
                  <c:v>-2.0432</c:v>
                </c:pt>
                <c:pt idx="178">
                  <c:v>-2.04</c:v>
                </c:pt>
                <c:pt idx="179">
                  <c:v>-1.9828</c:v>
                </c:pt>
                <c:pt idx="180">
                  <c:v>-1.9828</c:v>
                </c:pt>
                <c:pt idx="181">
                  <c:v>-1.9687</c:v>
                </c:pt>
                <c:pt idx="182">
                  <c:v>-1.9687</c:v>
                </c:pt>
                <c:pt idx="183">
                  <c:v>-1.9687</c:v>
                </c:pt>
                <c:pt idx="184">
                  <c:v>-1.96</c:v>
                </c:pt>
                <c:pt idx="185">
                  <c:v>-1.88</c:v>
                </c:pt>
                <c:pt idx="186">
                  <c:v>-1.8</c:v>
                </c:pt>
                <c:pt idx="187">
                  <c:v>-1.72</c:v>
                </c:pt>
                <c:pt idx="188">
                  <c:v>-1.64</c:v>
                </c:pt>
                <c:pt idx="189">
                  <c:v>-1.5789</c:v>
                </c:pt>
                <c:pt idx="190">
                  <c:v>-1.5628</c:v>
                </c:pt>
                <c:pt idx="191">
                  <c:v>-1.56</c:v>
                </c:pt>
                <c:pt idx="192">
                  <c:v>-1.5042</c:v>
                </c:pt>
                <c:pt idx="193">
                  <c:v>-1.48</c:v>
                </c:pt>
                <c:pt idx="194">
                  <c:v>-1.4</c:v>
                </c:pt>
                <c:pt idx="195">
                  <c:v>-1.32</c:v>
                </c:pt>
                <c:pt idx="196">
                  <c:v>-1.3005</c:v>
                </c:pt>
                <c:pt idx="197">
                  <c:v>-1.3005</c:v>
                </c:pt>
                <c:pt idx="198">
                  <c:v>-1.2817</c:v>
                </c:pt>
                <c:pt idx="199">
                  <c:v>-1.2817</c:v>
                </c:pt>
                <c:pt idx="200">
                  <c:v>-1.2817</c:v>
                </c:pt>
                <c:pt idx="201">
                  <c:v>-1.2817</c:v>
                </c:pt>
                <c:pt idx="202">
                  <c:v>-1.2817</c:v>
                </c:pt>
                <c:pt idx="203">
                  <c:v>-1.2757</c:v>
                </c:pt>
                <c:pt idx="204">
                  <c:v>-1.24</c:v>
                </c:pt>
                <c:pt idx="205">
                  <c:v>-1.1629</c:v>
                </c:pt>
                <c:pt idx="206">
                  <c:v>-1.1629</c:v>
                </c:pt>
                <c:pt idx="207">
                  <c:v>-1.16</c:v>
                </c:pt>
                <c:pt idx="208">
                  <c:v>-1.1304</c:v>
                </c:pt>
                <c:pt idx="209">
                  <c:v>-1.1304</c:v>
                </c:pt>
                <c:pt idx="210">
                  <c:v>-1.1304</c:v>
                </c:pt>
                <c:pt idx="211">
                  <c:v>-1.1304</c:v>
                </c:pt>
                <c:pt idx="212">
                  <c:v>-1.1304</c:v>
                </c:pt>
                <c:pt idx="213">
                  <c:v>-1.1243</c:v>
                </c:pt>
                <c:pt idx="214">
                  <c:v>-1.1243</c:v>
                </c:pt>
                <c:pt idx="215">
                  <c:v>-1.08</c:v>
                </c:pt>
                <c:pt idx="216">
                  <c:v>-1.0002</c:v>
                </c:pt>
                <c:pt idx="217">
                  <c:v>-1</c:v>
                </c:pt>
                <c:pt idx="218">
                  <c:v>-0.92</c:v>
                </c:pt>
                <c:pt idx="219">
                  <c:v>-0.899</c:v>
                </c:pt>
                <c:pt idx="220">
                  <c:v>-0.899</c:v>
                </c:pt>
                <c:pt idx="221">
                  <c:v>-0.899</c:v>
                </c:pt>
                <c:pt idx="222">
                  <c:v>-0.8955</c:v>
                </c:pt>
                <c:pt idx="223">
                  <c:v>-0.84</c:v>
                </c:pt>
                <c:pt idx="224">
                  <c:v>-0.7646</c:v>
                </c:pt>
                <c:pt idx="225">
                  <c:v>-0.7646</c:v>
                </c:pt>
                <c:pt idx="226">
                  <c:v>-0.7646</c:v>
                </c:pt>
                <c:pt idx="227">
                  <c:v>-0.7646</c:v>
                </c:pt>
                <c:pt idx="228">
                  <c:v>-0.7646</c:v>
                </c:pt>
                <c:pt idx="229">
                  <c:v>-0.76</c:v>
                </c:pt>
                <c:pt idx="230">
                  <c:v>-0.696</c:v>
                </c:pt>
                <c:pt idx="231">
                  <c:v>-0.696</c:v>
                </c:pt>
                <c:pt idx="232">
                  <c:v>-0.68</c:v>
                </c:pt>
                <c:pt idx="233">
                  <c:v>-0.6</c:v>
                </c:pt>
                <c:pt idx="234">
                  <c:v>-0.564</c:v>
                </c:pt>
                <c:pt idx="235">
                  <c:v>-0.536</c:v>
                </c:pt>
                <c:pt idx="236">
                  <c:v>-0.52</c:v>
                </c:pt>
                <c:pt idx="237">
                  <c:v>-0.44</c:v>
                </c:pt>
                <c:pt idx="238">
                  <c:v>-0.36</c:v>
                </c:pt>
                <c:pt idx="239">
                  <c:v>-0.28</c:v>
                </c:pt>
                <c:pt idx="240">
                  <c:v>-0.2589</c:v>
                </c:pt>
                <c:pt idx="241">
                  <c:v>-0.2</c:v>
                </c:pt>
                <c:pt idx="242">
                  <c:v>-0.12</c:v>
                </c:pt>
                <c:pt idx="243">
                  <c:v>-0.1095</c:v>
                </c:pt>
                <c:pt idx="244">
                  <c:v>-0.1095</c:v>
                </c:pt>
                <c:pt idx="245">
                  <c:v>-0.0792</c:v>
                </c:pt>
                <c:pt idx="246">
                  <c:v>-0.0693</c:v>
                </c:pt>
                <c:pt idx="247">
                  <c:v>-0.0644</c:v>
                </c:pt>
                <c:pt idx="248">
                  <c:v>-0.0644</c:v>
                </c:pt>
                <c:pt idx="249">
                  <c:v>-0.0644</c:v>
                </c:pt>
                <c:pt idx="250">
                  <c:v>-0.04</c:v>
                </c:pt>
                <c:pt idx="251">
                  <c:v>-0.0304</c:v>
                </c:pt>
                <c:pt idx="252">
                  <c:v>0.0394</c:v>
                </c:pt>
                <c:pt idx="253">
                  <c:v>0.0394</c:v>
                </c:pt>
                <c:pt idx="254">
                  <c:v>0.04</c:v>
                </c:pt>
                <c:pt idx="255">
                  <c:v>0.12</c:v>
                </c:pt>
                <c:pt idx="256">
                  <c:v>0.1429</c:v>
                </c:pt>
                <c:pt idx="257">
                  <c:v>0.1429</c:v>
                </c:pt>
                <c:pt idx="258">
                  <c:v>0.2</c:v>
                </c:pt>
                <c:pt idx="259">
                  <c:v>0.2386</c:v>
                </c:pt>
                <c:pt idx="260">
                  <c:v>0.28</c:v>
                </c:pt>
                <c:pt idx="261">
                  <c:v>0.3016</c:v>
                </c:pt>
                <c:pt idx="262">
                  <c:v>0.3016</c:v>
                </c:pt>
                <c:pt idx="263">
                  <c:v>0.3346</c:v>
                </c:pt>
                <c:pt idx="264">
                  <c:v>0.3346</c:v>
                </c:pt>
                <c:pt idx="265">
                  <c:v>0.36</c:v>
                </c:pt>
                <c:pt idx="266">
                  <c:v>0.3833</c:v>
                </c:pt>
                <c:pt idx="267">
                  <c:v>0.44</c:v>
                </c:pt>
                <c:pt idx="268">
                  <c:v>0.52</c:v>
                </c:pt>
                <c:pt idx="269">
                  <c:v>0.6</c:v>
                </c:pt>
                <c:pt idx="270">
                  <c:v>0.6243</c:v>
                </c:pt>
                <c:pt idx="271">
                  <c:v>0.6243</c:v>
                </c:pt>
                <c:pt idx="272">
                  <c:v>0.6475</c:v>
                </c:pt>
                <c:pt idx="273">
                  <c:v>0.6475</c:v>
                </c:pt>
                <c:pt idx="274">
                  <c:v>0.6675</c:v>
                </c:pt>
                <c:pt idx="275">
                  <c:v>0.68</c:v>
                </c:pt>
                <c:pt idx="276">
                  <c:v>0.76</c:v>
                </c:pt>
                <c:pt idx="277">
                  <c:v>0.84</c:v>
                </c:pt>
                <c:pt idx="278">
                  <c:v>0.92</c:v>
                </c:pt>
                <c:pt idx="279">
                  <c:v>1</c:v>
                </c:pt>
              </c:numCache>
            </c:numRef>
          </c:xVal>
          <c:yVal>
            <c:numRef>
              <c:f>Sheet1!$B$2:$B$281</c:f>
              <c:numCache>
                <c:formatCode>General</c:formatCode>
                <c:ptCount val="28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-6.7336</c:v>
                </c:pt>
                <c:pt idx="40">
                  <c:v>-6.7336</c:v>
                </c:pt>
                <c:pt idx="41">
                  <c:v>-6.7336</c:v>
                </c:pt>
                <c:pt idx="42">
                  <c:v>-6.7336</c:v>
                </c:pt>
                <c:pt idx="43">
                  <c:v>-6.7336</c:v>
                </c:pt>
                <c:pt idx="44">
                  <c:v>-6.4293</c:v>
                </c:pt>
                <c:pt idx="45">
                  <c:v>-6.4293</c:v>
                </c:pt>
                <c:pt idx="46">
                  <c:v>-6.4293</c:v>
                </c:pt>
                <c:pt idx="47">
                  <c:v>-6.4293</c:v>
                </c:pt>
                <c:pt idx="48">
                  <c:v>-6.4293</c:v>
                </c:pt>
                <c:pt idx="49">
                  <c:v>-6.4293</c:v>
                </c:pt>
                <c:pt idx="50">
                  <c:v>-6.4293</c:v>
                </c:pt>
                <c:pt idx="51">
                  <c:v>-6.4293</c:v>
                </c:pt>
                <c:pt idx="52">
                  <c:v/>
                </c:pt>
                <c:pt idx="53">
                  <c:v>-6.6121</c:v>
                </c:pt>
                <c:pt idx="54">
                  <c:v>-6.6121</c:v>
                </c:pt>
                <c:pt idx="55">
                  <c:v>-6.6121</c:v>
                </c:pt>
                <c:pt idx="56">
                  <c:v>-6.6121</c:v>
                </c:pt>
                <c:pt idx="57">
                  <c:v>-6.6121</c:v>
                </c:pt>
                <c:pt idx="58">
                  <c:v/>
                </c:pt>
                <c:pt idx="59">
                  <c:v/>
                </c:pt>
                <c:pt idx="60">
                  <c:v>-6.6525</c:v>
                </c:pt>
                <c:pt idx="61">
                  <c:v>-6.6525</c:v>
                </c:pt>
                <c:pt idx="62">
                  <c:v>-6.6525</c:v>
                </c:pt>
                <c:pt idx="63">
                  <c:v>-6.6525</c:v>
                </c:pt>
                <c:pt idx="64">
                  <c:v>-6.6525</c:v>
                </c:pt>
                <c:pt idx="65">
                  <c:v>-6.6525</c:v>
                </c:pt>
                <c:pt idx="66">
                  <c:v>-6.6525</c:v>
                </c:pt>
                <c:pt idx="67">
                  <c:v>-6.6525</c:v>
                </c:pt>
                <c:pt idx="68">
                  <c:v>-6.6525</c:v>
                </c:pt>
                <c:pt idx="69">
                  <c:v>-6.6525</c:v>
                </c:pt>
                <c:pt idx="70">
                  <c:v/>
                </c:pt>
                <c:pt idx="71">
                  <c:v/>
                </c:pt>
                <c:pt idx="72">
                  <c:v/>
                </c:pt>
                <c:pt idx="73">
                  <c:v/>
                </c:pt>
                <c:pt idx="74">
                  <c:v/>
                </c:pt>
                <c:pt idx="75">
                  <c:v>-6.6431</c:v>
                </c:pt>
                <c:pt idx="76">
                  <c:v>-6.6431</c:v>
                </c:pt>
                <c:pt idx="77">
                  <c:v>-6.6431</c:v>
                </c:pt>
                <c:pt idx="78">
                  <c:v>-6.6431</c:v>
                </c:pt>
                <c:pt idx="79">
                  <c:v>-6.6431</c:v>
                </c:pt>
                <c:pt idx="80">
                  <c:v>-6.6431</c:v>
                </c:pt>
                <c:pt idx="81">
                  <c:v/>
                </c:pt>
                <c:pt idx="82">
                  <c:v>-6.1507</c:v>
                </c:pt>
                <c:pt idx="83">
                  <c:v>-6.1507</c:v>
                </c:pt>
                <c:pt idx="84">
                  <c:v>-6.1507</c:v>
                </c:pt>
                <c:pt idx="85">
                  <c:v>-6.1507</c:v>
                </c:pt>
                <c:pt idx="86">
                  <c:v>-6.1507</c:v>
                </c:pt>
                <c:pt idx="87">
                  <c:v>-6.1507</c:v>
                </c:pt>
                <c:pt idx="88">
                  <c:v>-6.9592</c:v>
                </c:pt>
                <c:pt idx="89">
                  <c:v/>
                </c:pt>
                <c:pt idx="90">
                  <c:v>-7.1237</c:v>
                </c:pt>
                <c:pt idx="91">
                  <c:v/>
                </c:pt>
                <c:pt idx="92">
                  <c:v/>
                </c:pt>
                <c:pt idx="93">
                  <c:v/>
                </c:pt>
                <c:pt idx="94">
                  <c:v/>
                </c:pt>
                <c:pt idx="95">
                  <c:v/>
                </c:pt>
                <c:pt idx="96">
                  <c:v>-6.8553</c:v>
                </c:pt>
                <c:pt idx="97">
                  <c:v/>
                </c:pt>
                <c:pt idx="98">
                  <c:v>-6.364</c:v>
                </c:pt>
                <c:pt idx="99">
                  <c:v/>
                </c:pt>
                <c:pt idx="100">
                  <c:v/>
                </c:pt>
                <c:pt idx="101">
                  <c:v>-6.813</c:v>
                </c:pt>
                <c:pt idx="102">
                  <c:v>-6.813</c:v>
                </c:pt>
                <c:pt idx="103">
                  <c:v>-6.813</c:v>
                </c:pt>
                <c:pt idx="104">
                  <c:v>-6.813</c:v>
                </c:pt>
                <c:pt idx="105">
                  <c:v>-6.813</c:v>
                </c:pt>
                <c:pt idx="106">
                  <c:v>-6.813</c:v>
                </c:pt>
                <c:pt idx="107">
                  <c:v/>
                </c:pt>
                <c:pt idx="108">
                  <c:v>-6.364</c:v>
                </c:pt>
                <c:pt idx="109">
                  <c:v>-6.364</c:v>
                </c:pt>
                <c:pt idx="110">
                  <c:v>-6.364</c:v>
                </c:pt>
                <c:pt idx="111">
                  <c:v>-6.364</c:v>
                </c:pt>
                <c:pt idx="112">
                  <c:v>-6.364</c:v>
                </c:pt>
                <c:pt idx="113">
                  <c:v>-6.364</c:v>
                </c:pt>
                <c:pt idx="114">
                  <c:v>-6.364</c:v>
                </c:pt>
                <c:pt idx="115">
                  <c:v>-6.3338</c:v>
                </c:pt>
                <c:pt idx="116">
                  <c:v/>
                </c:pt>
                <c:pt idx="117">
                  <c:v/>
                </c:pt>
                <c:pt idx="118">
                  <c:v/>
                </c:pt>
                <c:pt idx="119">
                  <c:v/>
                </c:pt>
                <c:pt idx="120">
                  <c:v>-6.9426</c:v>
                </c:pt>
                <c:pt idx="121">
                  <c:v>-6.9426</c:v>
                </c:pt>
                <c:pt idx="122">
                  <c:v>-6.9426</c:v>
                </c:pt>
                <c:pt idx="123">
                  <c:v>-6.9426</c:v>
                </c:pt>
                <c:pt idx="124">
                  <c:v>-6.9426</c:v>
                </c:pt>
                <c:pt idx="125">
                  <c:v>-6.9426</c:v>
                </c:pt>
                <c:pt idx="126">
                  <c:v>-6.9426</c:v>
                </c:pt>
                <c:pt idx="127">
                  <c:v>-6.9426</c:v>
                </c:pt>
                <c:pt idx="128">
                  <c:v>-6.9426</c:v>
                </c:pt>
                <c:pt idx="129">
                  <c:v>-6.9426</c:v>
                </c:pt>
                <c:pt idx="130">
                  <c:v>-6.9426</c:v>
                </c:pt>
                <c:pt idx="131">
                  <c:v>-6.9426</c:v>
                </c:pt>
                <c:pt idx="132">
                  <c:v>-6.9426</c:v>
                </c:pt>
                <c:pt idx="133">
                  <c:v>-6.9426</c:v>
                </c:pt>
                <c:pt idx="134">
                  <c:v>-6.8963</c:v>
                </c:pt>
                <c:pt idx="135">
                  <c:v/>
                </c:pt>
                <c:pt idx="136">
                  <c:v/>
                </c:pt>
                <c:pt idx="137">
                  <c:v/>
                </c:pt>
                <c:pt idx="138">
                  <c:v/>
                </c:pt>
                <c:pt idx="139">
                  <c:v/>
                </c:pt>
                <c:pt idx="140">
                  <c:v/>
                </c:pt>
                <c:pt idx="141">
                  <c:v/>
                </c:pt>
                <c:pt idx="142">
                  <c:v/>
                </c:pt>
                <c:pt idx="143">
                  <c:v/>
                </c:pt>
                <c:pt idx="144">
                  <c:v/>
                </c:pt>
                <c:pt idx="145">
                  <c:v/>
                </c:pt>
                <c:pt idx="146">
                  <c:v/>
                </c:pt>
                <c:pt idx="147">
                  <c:v/>
                </c:pt>
                <c:pt idx="148">
                  <c:v/>
                </c:pt>
                <c:pt idx="149">
                  <c:v>-3.5618</c:v>
                </c:pt>
                <c:pt idx="150">
                  <c:v>-3.5618</c:v>
                </c:pt>
                <c:pt idx="151">
                  <c:v>-3.5618</c:v>
                </c:pt>
                <c:pt idx="152">
                  <c:v/>
                </c:pt>
                <c:pt idx="153">
                  <c:v/>
                </c:pt>
                <c:pt idx="154">
                  <c:v/>
                </c:pt>
                <c:pt idx="155">
                  <c:v>-3.9893</c:v>
                </c:pt>
                <c:pt idx="156">
                  <c:v/>
                </c:pt>
                <c:pt idx="157">
                  <c:v/>
                </c:pt>
                <c:pt idx="158">
                  <c:v/>
                </c:pt>
                <c:pt idx="159">
                  <c:v>-3.5622</c:v>
                </c:pt>
                <c:pt idx="160">
                  <c:v/>
                </c:pt>
                <c:pt idx="161">
                  <c:v/>
                </c:pt>
                <c:pt idx="162">
                  <c:v/>
                </c:pt>
                <c:pt idx="163">
                  <c:v>-3.3114</c:v>
                </c:pt>
                <c:pt idx="164">
                  <c:v>-3.3114</c:v>
                </c:pt>
                <c:pt idx="165">
                  <c:v>-3.3114</c:v>
                </c:pt>
                <c:pt idx="166">
                  <c:v>-3.3114</c:v>
                </c:pt>
                <c:pt idx="167">
                  <c:v>-3.203</c:v>
                </c:pt>
                <c:pt idx="168">
                  <c:v>-3.5536</c:v>
                </c:pt>
                <c:pt idx="169">
                  <c:v>-3.5072</c:v>
                </c:pt>
                <c:pt idx="170">
                  <c:v>-2.2971</c:v>
                </c:pt>
                <c:pt idx="171">
                  <c:v/>
                </c:pt>
                <c:pt idx="172">
                  <c:v>-3.1701</c:v>
                </c:pt>
                <c:pt idx="173">
                  <c:v/>
                </c:pt>
                <c:pt idx="174">
                  <c:v>-2.8971</c:v>
                </c:pt>
                <c:pt idx="175">
                  <c:v>-2.8564</c:v>
                </c:pt>
                <c:pt idx="176">
                  <c:v>-3.3322</c:v>
                </c:pt>
                <c:pt idx="177">
                  <c:v>-3.3322</c:v>
                </c:pt>
                <c:pt idx="178">
                  <c:v/>
                </c:pt>
                <c:pt idx="179">
                  <c:v>-2.4954</c:v>
                </c:pt>
                <c:pt idx="180">
                  <c:v>-2.4954</c:v>
                </c:pt>
                <c:pt idx="181">
                  <c:v>-2.309</c:v>
                </c:pt>
                <c:pt idx="182">
                  <c:v>-2.309</c:v>
                </c:pt>
                <c:pt idx="183">
                  <c:v>-2.309</c:v>
                </c:pt>
                <c:pt idx="184">
                  <c:v/>
                </c:pt>
                <c:pt idx="185">
                  <c:v/>
                </c:pt>
                <c:pt idx="186">
                  <c:v/>
                </c:pt>
                <c:pt idx="187">
                  <c:v/>
                </c:pt>
                <c:pt idx="188">
                  <c:v/>
                </c:pt>
                <c:pt idx="189">
                  <c:v>-2.2552</c:v>
                </c:pt>
                <c:pt idx="190">
                  <c:v>-2.2367</c:v>
                </c:pt>
                <c:pt idx="191">
                  <c:v/>
                </c:pt>
                <c:pt idx="192">
                  <c:v>-2.3262</c:v>
                </c:pt>
                <c:pt idx="193">
                  <c:v/>
                </c:pt>
                <c:pt idx="194">
                  <c:v/>
                </c:pt>
                <c:pt idx="195">
                  <c:v/>
                </c:pt>
                <c:pt idx="196">
                  <c:v>-2.1742</c:v>
                </c:pt>
                <c:pt idx="197">
                  <c:v>-2.1742</c:v>
                </c:pt>
                <c:pt idx="198">
                  <c:v>-1.961</c:v>
                </c:pt>
                <c:pt idx="199">
                  <c:v>-1.961</c:v>
                </c:pt>
                <c:pt idx="200">
                  <c:v>-1.961</c:v>
                </c:pt>
                <c:pt idx="201">
                  <c:v>-1.961</c:v>
                </c:pt>
                <c:pt idx="202">
                  <c:v>-1.961</c:v>
                </c:pt>
                <c:pt idx="203">
                  <c:v>-3.0242</c:v>
                </c:pt>
                <c:pt idx="204">
                  <c:v/>
                </c:pt>
                <c:pt idx="205">
                  <c:v>-1.6825</c:v>
                </c:pt>
                <c:pt idx="206">
                  <c:v>-1.6825</c:v>
                </c:pt>
                <c:pt idx="207">
                  <c:v/>
                </c:pt>
                <c:pt idx="208">
                  <c:v>-2.3003</c:v>
                </c:pt>
                <c:pt idx="209">
                  <c:v>-2.3003</c:v>
                </c:pt>
                <c:pt idx="210">
                  <c:v>-2.3003</c:v>
                </c:pt>
                <c:pt idx="211">
                  <c:v>-2.3003</c:v>
                </c:pt>
                <c:pt idx="212">
                  <c:v>-2.3003</c:v>
                </c:pt>
                <c:pt idx="213">
                  <c:v>-2.3015</c:v>
                </c:pt>
                <c:pt idx="214">
                  <c:v>-2.3015</c:v>
                </c:pt>
                <c:pt idx="215">
                  <c:v/>
                </c:pt>
                <c:pt idx="216">
                  <c:v>-1.3449</c:v>
                </c:pt>
                <c:pt idx="217">
                  <c:v/>
                </c:pt>
                <c:pt idx="218">
                  <c:v/>
                </c:pt>
                <c:pt idx="219">
                  <c:v>-1.6825</c:v>
                </c:pt>
                <c:pt idx="220">
                  <c:v>-1.6825</c:v>
                </c:pt>
                <c:pt idx="221">
                  <c:v>-1.6825</c:v>
                </c:pt>
                <c:pt idx="222">
                  <c:v>-1.3013</c:v>
                </c:pt>
                <c:pt idx="223">
                  <c:v/>
                </c:pt>
                <c:pt idx="224">
                  <c:v>-1.1293</c:v>
                </c:pt>
                <c:pt idx="225">
                  <c:v>-1.1293</c:v>
                </c:pt>
                <c:pt idx="226">
                  <c:v>-1.1293</c:v>
                </c:pt>
                <c:pt idx="227">
                  <c:v>-1.1293</c:v>
                </c:pt>
                <c:pt idx="228">
                  <c:v>-1.1293</c:v>
                </c:pt>
                <c:pt idx="229">
                  <c:v/>
                </c:pt>
                <c:pt idx="230">
                  <c:v>-3.6245</c:v>
                </c:pt>
                <c:pt idx="231">
                  <c:v>-3.6245</c:v>
                </c:pt>
                <c:pt idx="232">
                  <c:v/>
                </c:pt>
                <c:pt idx="233">
                  <c:v/>
                </c:pt>
                <c:pt idx="234">
                  <c:v>-3.0511</c:v>
                </c:pt>
                <c:pt idx="235">
                  <c:v>-2.921</c:v>
                </c:pt>
                <c:pt idx="236">
                  <c:v/>
                </c:pt>
                <c:pt idx="237">
                  <c:v/>
                </c:pt>
                <c:pt idx="238">
                  <c:v/>
                </c:pt>
                <c:pt idx="239">
                  <c:v/>
                </c:pt>
                <c:pt idx="240">
                  <c:v>-0.7713</c:v>
                </c:pt>
                <c:pt idx="241">
                  <c:v/>
                </c:pt>
                <c:pt idx="242">
                  <c:v/>
                </c:pt>
                <c:pt idx="243">
                  <c:v>-3.0321</c:v>
                </c:pt>
                <c:pt idx="244">
                  <c:v>-3.0321</c:v>
                </c:pt>
                <c:pt idx="245">
                  <c:v>-2.1902</c:v>
                </c:pt>
                <c:pt idx="246">
                  <c:v>-2.2062</c:v>
                </c:pt>
                <c:pt idx="247">
                  <c:v>-0.9069</c:v>
                </c:pt>
                <c:pt idx="248">
                  <c:v>-0.9069</c:v>
                </c:pt>
                <c:pt idx="249">
                  <c:v>-0.9069</c:v>
                </c:pt>
                <c:pt idx="250">
                  <c:v/>
                </c:pt>
                <c:pt idx="251">
                  <c:v>-1.1721</c:v>
                </c:pt>
                <c:pt idx="252">
                  <c:v>-2.1902</c:v>
                </c:pt>
                <c:pt idx="253">
                  <c:v>-2.1902</c:v>
                </c:pt>
                <c:pt idx="254">
                  <c:v/>
                </c:pt>
                <c:pt idx="255">
                  <c:v/>
                </c:pt>
                <c:pt idx="256">
                  <c:v>-0.7317</c:v>
                </c:pt>
                <c:pt idx="257">
                  <c:v>-0.7317</c:v>
                </c:pt>
                <c:pt idx="258">
                  <c:v/>
                </c:pt>
                <c:pt idx="259">
                  <c:v>0</c:v>
                </c:pt>
                <c:pt idx="260">
                  <c:v/>
                </c:pt>
                <c:pt idx="261">
                  <c:v>-0.8228</c:v>
                </c:pt>
                <c:pt idx="262">
                  <c:v>-0.8228</c:v>
                </c:pt>
                <c:pt idx="263">
                  <c:v>-0.9069</c:v>
                </c:pt>
                <c:pt idx="264">
                  <c:v>-0.9069</c:v>
                </c:pt>
                <c:pt idx="265">
                  <c:v/>
                </c:pt>
                <c:pt idx="266">
                  <c:v>-2.0413</c:v>
                </c:pt>
                <c:pt idx="267">
                  <c:v/>
                </c:pt>
                <c:pt idx="268">
                  <c:v/>
                </c:pt>
                <c:pt idx="269">
                  <c:v/>
                </c:pt>
                <c:pt idx="270">
                  <c:v>0.301</c:v>
                </c:pt>
                <c:pt idx="271">
                  <c:v>0.301</c:v>
                </c:pt>
                <c:pt idx="272">
                  <c:v>-0.6689</c:v>
                </c:pt>
                <c:pt idx="273">
                  <c:v>-0.6689</c:v>
                </c:pt>
                <c:pt idx="274">
                  <c:v>-1.4399</c:v>
                </c:pt>
                <c:pt idx="275">
                  <c:v/>
                </c:pt>
                <c:pt idx="276">
                  <c:v/>
                </c:pt>
                <c:pt idx="277">
                  <c:v/>
                </c:pt>
                <c:pt idx="278">
                  <c:v/>
                </c:pt>
                <c:pt idx="279">
                  <c:v/>
                </c:pt>
              </c:numCache>
            </c:numRef>
          </c:yVal>
          <c:smooth val="0"/>
        </c:ser>
        <c:ser>
          <c:idx val="1"/>
          <c:order val="1"/>
          <c:tx>
            <c:strRef>
              <c:f>Sheet1!$C$1</c:f>
              <c:strCache>
                <c:ptCount val="1"/>
                <c:pt idx="0">
                  <c:v>measured = bound</c:v>
                </c:pt>
              </c:strCache>
            </c:strRef>
          </c:tx>
          <c:spPr>
            <a:solidFill>
              <a:srgbClr val="B4B6C0"/>
            </a:solidFill>
            <a:ln>
              <a:noFill/>
            </a:ln>
            <a:effectLst/>
          </c:spPr>
          <c:marker>
            <c:symbol val="circle"/>
            <c:size val="5"/>
            <c:spPr>
              <a:solidFill>
                <a:srgbClr val="B4B6C0"/>
              </a:solidFill>
              <a:ln w="9525" cap="flat">
                <a:solidFill>
                  <a:srgbClr val="B4B6C0"/>
                </a:solidFill>
                <a:prstDash val="solid"/>
                <a:round/>
              </a:ln>
              <a:effectLst/>
            </c:spPr>
          </c:marker>
          <c:xVal>
            <c:numRef>
              <c:f>Sheet1!$A$2:$A$281</c:f>
              <c:numCache>
                <c:formatCode>General</c:formatCode>
                <c:ptCount val="280"/>
                <c:pt idx="0">
                  <c:v>-9</c:v>
                </c:pt>
                <c:pt idx="1">
                  <c:v>-8.92</c:v>
                </c:pt>
                <c:pt idx="2">
                  <c:v>-8.84</c:v>
                </c:pt>
                <c:pt idx="3">
                  <c:v>-8.76</c:v>
                </c:pt>
                <c:pt idx="4">
                  <c:v>-8.68</c:v>
                </c:pt>
                <c:pt idx="5">
                  <c:v>-8.6</c:v>
                </c:pt>
                <c:pt idx="6">
                  <c:v>-8.52</c:v>
                </c:pt>
                <c:pt idx="7">
                  <c:v>-8.44</c:v>
                </c:pt>
                <c:pt idx="8">
                  <c:v>-8.36</c:v>
                </c:pt>
                <c:pt idx="9">
                  <c:v>-8.28</c:v>
                </c:pt>
                <c:pt idx="10">
                  <c:v>-8.2</c:v>
                </c:pt>
                <c:pt idx="11">
                  <c:v>-8.12</c:v>
                </c:pt>
                <c:pt idx="12">
                  <c:v>-8.04</c:v>
                </c:pt>
                <c:pt idx="13">
                  <c:v>-7.96</c:v>
                </c:pt>
                <c:pt idx="14">
                  <c:v>-7.88</c:v>
                </c:pt>
                <c:pt idx="15">
                  <c:v>-7.8</c:v>
                </c:pt>
                <c:pt idx="16">
                  <c:v>-7.72</c:v>
                </c:pt>
                <c:pt idx="17">
                  <c:v>-7.64</c:v>
                </c:pt>
                <c:pt idx="18">
                  <c:v>-7.56</c:v>
                </c:pt>
                <c:pt idx="19">
                  <c:v>-7.48</c:v>
                </c:pt>
                <c:pt idx="20">
                  <c:v>-7.4</c:v>
                </c:pt>
                <c:pt idx="21">
                  <c:v>-7.32</c:v>
                </c:pt>
                <c:pt idx="22">
                  <c:v>-7.24</c:v>
                </c:pt>
                <c:pt idx="23">
                  <c:v>-7.16</c:v>
                </c:pt>
                <c:pt idx="24">
                  <c:v>-7.08</c:v>
                </c:pt>
                <c:pt idx="25">
                  <c:v>-7</c:v>
                </c:pt>
                <c:pt idx="26">
                  <c:v>-6.92</c:v>
                </c:pt>
                <c:pt idx="27">
                  <c:v>-6.84</c:v>
                </c:pt>
                <c:pt idx="28">
                  <c:v>-6.76</c:v>
                </c:pt>
                <c:pt idx="29">
                  <c:v>-6.68</c:v>
                </c:pt>
                <c:pt idx="30">
                  <c:v>-6.6</c:v>
                </c:pt>
                <c:pt idx="31">
                  <c:v>-6.52</c:v>
                </c:pt>
                <c:pt idx="32">
                  <c:v>-6.44</c:v>
                </c:pt>
                <c:pt idx="33">
                  <c:v>-6.36</c:v>
                </c:pt>
                <c:pt idx="34">
                  <c:v>-6.28</c:v>
                </c:pt>
                <c:pt idx="35">
                  <c:v>-6.2</c:v>
                </c:pt>
                <c:pt idx="36">
                  <c:v>-6.12</c:v>
                </c:pt>
                <c:pt idx="37">
                  <c:v>-6.04</c:v>
                </c:pt>
                <c:pt idx="38">
                  <c:v>-5.96</c:v>
                </c:pt>
                <c:pt idx="39">
                  <c:v>-5.9294</c:v>
                </c:pt>
                <c:pt idx="40">
                  <c:v>-5.9294</c:v>
                </c:pt>
                <c:pt idx="41">
                  <c:v>-5.9294</c:v>
                </c:pt>
                <c:pt idx="42">
                  <c:v>-5.9294</c:v>
                </c:pt>
                <c:pt idx="43">
                  <c:v>-5.9294</c:v>
                </c:pt>
                <c:pt idx="44">
                  <c:v>-5.9233</c:v>
                </c:pt>
                <c:pt idx="45">
                  <c:v>-5.9233</c:v>
                </c:pt>
                <c:pt idx="46">
                  <c:v>-5.9233</c:v>
                </c:pt>
                <c:pt idx="47">
                  <c:v>-5.9233</c:v>
                </c:pt>
                <c:pt idx="48">
                  <c:v>-5.9233</c:v>
                </c:pt>
                <c:pt idx="49">
                  <c:v>-5.9233</c:v>
                </c:pt>
                <c:pt idx="50">
                  <c:v>-5.9233</c:v>
                </c:pt>
                <c:pt idx="51">
                  <c:v>-5.9233</c:v>
                </c:pt>
                <c:pt idx="52">
                  <c:v>-5.88</c:v>
                </c:pt>
                <c:pt idx="53">
                  <c:v>-5.8426</c:v>
                </c:pt>
                <c:pt idx="54">
                  <c:v>-5.8426</c:v>
                </c:pt>
                <c:pt idx="55">
                  <c:v>-5.8426</c:v>
                </c:pt>
                <c:pt idx="56">
                  <c:v>-5.8426</c:v>
                </c:pt>
                <c:pt idx="57">
                  <c:v>-5.8426</c:v>
                </c:pt>
                <c:pt idx="58">
                  <c:v>-5.8</c:v>
                </c:pt>
                <c:pt idx="59">
                  <c:v>-5.72</c:v>
                </c:pt>
                <c:pt idx="60">
                  <c:v>-5.6449</c:v>
                </c:pt>
                <c:pt idx="61">
                  <c:v>-5.6449</c:v>
                </c:pt>
                <c:pt idx="62">
                  <c:v>-5.6449</c:v>
                </c:pt>
                <c:pt idx="63">
                  <c:v>-5.6449</c:v>
                </c:pt>
                <c:pt idx="64">
                  <c:v>-5.6449</c:v>
                </c:pt>
                <c:pt idx="65">
                  <c:v>-5.6449</c:v>
                </c:pt>
                <c:pt idx="66">
                  <c:v>-5.6449</c:v>
                </c:pt>
                <c:pt idx="67">
                  <c:v>-5.6449</c:v>
                </c:pt>
                <c:pt idx="68">
                  <c:v>-5.6449</c:v>
                </c:pt>
                <c:pt idx="69">
                  <c:v>-5.6449</c:v>
                </c:pt>
                <c:pt idx="70">
                  <c:v>-5.64</c:v>
                </c:pt>
                <c:pt idx="71">
                  <c:v>-5.56</c:v>
                </c:pt>
                <c:pt idx="72">
                  <c:v>-5.48</c:v>
                </c:pt>
                <c:pt idx="73">
                  <c:v>-5.4</c:v>
                </c:pt>
                <c:pt idx="74">
                  <c:v>-5.32</c:v>
                </c:pt>
                <c:pt idx="75">
                  <c:v>-5.2802</c:v>
                </c:pt>
                <c:pt idx="76">
                  <c:v>-5.2802</c:v>
                </c:pt>
                <c:pt idx="77">
                  <c:v>-5.2802</c:v>
                </c:pt>
                <c:pt idx="78">
                  <c:v>-5.2802</c:v>
                </c:pt>
                <c:pt idx="79">
                  <c:v>-5.2802</c:v>
                </c:pt>
                <c:pt idx="80">
                  <c:v>-5.2802</c:v>
                </c:pt>
                <c:pt idx="81">
                  <c:v>-5.24</c:v>
                </c:pt>
                <c:pt idx="82">
                  <c:v>-5.2316</c:v>
                </c:pt>
                <c:pt idx="83">
                  <c:v>-5.2316</c:v>
                </c:pt>
                <c:pt idx="84">
                  <c:v>-5.2316</c:v>
                </c:pt>
                <c:pt idx="85">
                  <c:v>-5.2316</c:v>
                </c:pt>
                <c:pt idx="86">
                  <c:v>-5.2316</c:v>
                </c:pt>
                <c:pt idx="87">
                  <c:v>-5.2316</c:v>
                </c:pt>
                <c:pt idx="88">
                  <c:v>-5.1913</c:v>
                </c:pt>
                <c:pt idx="89">
                  <c:v>-5.16</c:v>
                </c:pt>
                <c:pt idx="90">
                  <c:v>-5.146</c:v>
                </c:pt>
                <c:pt idx="91">
                  <c:v>-5.08</c:v>
                </c:pt>
                <c:pt idx="92">
                  <c:v>-5</c:v>
                </c:pt>
                <c:pt idx="93">
                  <c:v>-4.92</c:v>
                </c:pt>
                <c:pt idx="94">
                  <c:v>-4.84</c:v>
                </c:pt>
                <c:pt idx="95">
                  <c:v>-4.76</c:v>
                </c:pt>
                <c:pt idx="96">
                  <c:v>-4.7142</c:v>
                </c:pt>
                <c:pt idx="97">
                  <c:v>-4.68</c:v>
                </c:pt>
                <c:pt idx="98">
                  <c:v>-4.6129</c:v>
                </c:pt>
                <c:pt idx="99">
                  <c:v>-4.6</c:v>
                </c:pt>
                <c:pt idx="100">
                  <c:v>-4.52</c:v>
                </c:pt>
                <c:pt idx="101">
                  <c:v>-4.4643</c:v>
                </c:pt>
                <c:pt idx="102">
                  <c:v>-4.4643</c:v>
                </c:pt>
                <c:pt idx="103">
                  <c:v>-4.4643</c:v>
                </c:pt>
                <c:pt idx="104">
                  <c:v>-4.4643</c:v>
                </c:pt>
                <c:pt idx="105">
                  <c:v>-4.4643</c:v>
                </c:pt>
                <c:pt idx="106">
                  <c:v>-4.4643</c:v>
                </c:pt>
                <c:pt idx="107">
                  <c:v>-4.44</c:v>
                </c:pt>
                <c:pt idx="108">
                  <c:v>-4.4044</c:v>
                </c:pt>
                <c:pt idx="109">
                  <c:v>-4.4044</c:v>
                </c:pt>
                <c:pt idx="110">
                  <c:v>-4.4044</c:v>
                </c:pt>
                <c:pt idx="111">
                  <c:v>-4.4044</c:v>
                </c:pt>
                <c:pt idx="112">
                  <c:v>-4.4044</c:v>
                </c:pt>
                <c:pt idx="113">
                  <c:v>-4.4044</c:v>
                </c:pt>
                <c:pt idx="114">
                  <c:v>-4.4044</c:v>
                </c:pt>
                <c:pt idx="115">
                  <c:v>-4.4044</c:v>
                </c:pt>
                <c:pt idx="116">
                  <c:v>-4.36</c:v>
                </c:pt>
                <c:pt idx="117">
                  <c:v>-4.28</c:v>
                </c:pt>
                <c:pt idx="118">
                  <c:v>-4.2</c:v>
                </c:pt>
                <c:pt idx="119">
                  <c:v>-4.12</c:v>
                </c:pt>
                <c:pt idx="120">
                  <c:v>-4.1154</c:v>
                </c:pt>
                <c:pt idx="121">
                  <c:v>-4.1154</c:v>
                </c:pt>
                <c:pt idx="122">
                  <c:v>-4.1154</c:v>
                </c:pt>
                <c:pt idx="123">
                  <c:v>-4.1154</c:v>
                </c:pt>
                <c:pt idx="124">
                  <c:v>-4.1154</c:v>
                </c:pt>
                <c:pt idx="125">
                  <c:v>-4.1154</c:v>
                </c:pt>
                <c:pt idx="126">
                  <c:v>-4.1154</c:v>
                </c:pt>
                <c:pt idx="127">
                  <c:v>-4.1154</c:v>
                </c:pt>
                <c:pt idx="128">
                  <c:v>-4.1154</c:v>
                </c:pt>
                <c:pt idx="129">
                  <c:v>-4.1154</c:v>
                </c:pt>
                <c:pt idx="130">
                  <c:v>-4.1154</c:v>
                </c:pt>
                <c:pt idx="131">
                  <c:v>-4.1154</c:v>
                </c:pt>
                <c:pt idx="132">
                  <c:v>-4.1154</c:v>
                </c:pt>
                <c:pt idx="133">
                  <c:v>-4.1154</c:v>
                </c:pt>
                <c:pt idx="134">
                  <c:v>-4.1154</c:v>
                </c:pt>
                <c:pt idx="135">
                  <c:v>-4.04</c:v>
                </c:pt>
                <c:pt idx="136">
                  <c:v>-3.96</c:v>
                </c:pt>
                <c:pt idx="137">
                  <c:v>-3.88</c:v>
                </c:pt>
                <c:pt idx="138">
                  <c:v>-3.8</c:v>
                </c:pt>
                <c:pt idx="139">
                  <c:v>-3.72</c:v>
                </c:pt>
                <c:pt idx="140">
                  <c:v>-3.64</c:v>
                </c:pt>
                <c:pt idx="141">
                  <c:v>-3.56</c:v>
                </c:pt>
                <c:pt idx="142">
                  <c:v>-3.48</c:v>
                </c:pt>
                <c:pt idx="143">
                  <c:v>-3.4</c:v>
                </c:pt>
                <c:pt idx="144">
                  <c:v>-3.32</c:v>
                </c:pt>
                <c:pt idx="145">
                  <c:v>-3.24</c:v>
                </c:pt>
                <c:pt idx="146">
                  <c:v>-3.16</c:v>
                </c:pt>
                <c:pt idx="147">
                  <c:v>-3.08</c:v>
                </c:pt>
                <c:pt idx="148">
                  <c:v>-3</c:v>
                </c:pt>
                <c:pt idx="149">
                  <c:v>-2.9302</c:v>
                </c:pt>
                <c:pt idx="150">
                  <c:v>-2.9302</c:v>
                </c:pt>
                <c:pt idx="151">
                  <c:v>-2.9302</c:v>
                </c:pt>
                <c:pt idx="152">
                  <c:v>-2.92</c:v>
                </c:pt>
                <c:pt idx="153">
                  <c:v>-2.84</c:v>
                </c:pt>
                <c:pt idx="154">
                  <c:v>-2.76</c:v>
                </c:pt>
                <c:pt idx="155">
                  <c:v>-2.6825</c:v>
                </c:pt>
                <c:pt idx="156">
                  <c:v>-2.68</c:v>
                </c:pt>
                <c:pt idx="157">
                  <c:v>-2.6</c:v>
                </c:pt>
                <c:pt idx="158">
                  <c:v>-2.52</c:v>
                </c:pt>
                <c:pt idx="159">
                  <c:v>-2.5159</c:v>
                </c:pt>
                <c:pt idx="160">
                  <c:v>-2.44</c:v>
                </c:pt>
                <c:pt idx="161">
                  <c:v>-2.36</c:v>
                </c:pt>
                <c:pt idx="162">
                  <c:v>-2.28</c:v>
                </c:pt>
                <c:pt idx="163">
                  <c:v>-2.2317</c:v>
                </c:pt>
                <c:pt idx="164">
                  <c:v>-2.2317</c:v>
                </c:pt>
                <c:pt idx="165">
                  <c:v>-2.2317</c:v>
                </c:pt>
                <c:pt idx="166">
                  <c:v>-2.2317</c:v>
                </c:pt>
                <c:pt idx="167">
                  <c:v>-2.2317</c:v>
                </c:pt>
                <c:pt idx="168">
                  <c:v>-2.2314</c:v>
                </c:pt>
                <c:pt idx="169">
                  <c:v>-2.2314</c:v>
                </c:pt>
                <c:pt idx="170">
                  <c:v>-2.2055</c:v>
                </c:pt>
                <c:pt idx="171">
                  <c:v>-2.2</c:v>
                </c:pt>
                <c:pt idx="172">
                  <c:v>-2.1275</c:v>
                </c:pt>
                <c:pt idx="173">
                  <c:v>-2.12</c:v>
                </c:pt>
                <c:pt idx="174">
                  <c:v>-2.0551</c:v>
                </c:pt>
                <c:pt idx="175">
                  <c:v>-2.0551</c:v>
                </c:pt>
                <c:pt idx="176">
                  <c:v>-2.0432</c:v>
                </c:pt>
                <c:pt idx="177">
                  <c:v>-2.0432</c:v>
                </c:pt>
                <c:pt idx="178">
                  <c:v>-2.04</c:v>
                </c:pt>
                <c:pt idx="179">
                  <c:v>-1.9828</c:v>
                </c:pt>
                <c:pt idx="180">
                  <c:v>-1.9828</c:v>
                </c:pt>
                <c:pt idx="181">
                  <c:v>-1.9687</c:v>
                </c:pt>
                <c:pt idx="182">
                  <c:v>-1.9687</c:v>
                </c:pt>
                <c:pt idx="183">
                  <c:v>-1.9687</c:v>
                </c:pt>
                <c:pt idx="184">
                  <c:v>-1.96</c:v>
                </c:pt>
                <c:pt idx="185">
                  <c:v>-1.88</c:v>
                </c:pt>
                <c:pt idx="186">
                  <c:v>-1.8</c:v>
                </c:pt>
                <c:pt idx="187">
                  <c:v>-1.72</c:v>
                </c:pt>
                <c:pt idx="188">
                  <c:v>-1.64</c:v>
                </c:pt>
                <c:pt idx="189">
                  <c:v>-1.5789</c:v>
                </c:pt>
                <c:pt idx="190">
                  <c:v>-1.5628</c:v>
                </c:pt>
                <c:pt idx="191">
                  <c:v>-1.56</c:v>
                </c:pt>
                <c:pt idx="192">
                  <c:v>-1.5042</c:v>
                </c:pt>
                <c:pt idx="193">
                  <c:v>-1.48</c:v>
                </c:pt>
                <c:pt idx="194">
                  <c:v>-1.4</c:v>
                </c:pt>
                <c:pt idx="195">
                  <c:v>-1.32</c:v>
                </c:pt>
                <c:pt idx="196">
                  <c:v>-1.3005</c:v>
                </c:pt>
                <c:pt idx="197">
                  <c:v>-1.3005</c:v>
                </c:pt>
                <c:pt idx="198">
                  <c:v>-1.2817</c:v>
                </c:pt>
                <c:pt idx="199">
                  <c:v>-1.2817</c:v>
                </c:pt>
                <c:pt idx="200">
                  <c:v>-1.2817</c:v>
                </c:pt>
                <c:pt idx="201">
                  <c:v>-1.2817</c:v>
                </c:pt>
                <c:pt idx="202">
                  <c:v>-1.2817</c:v>
                </c:pt>
                <c:pt idx="203">
                  <c:v>-1.2757</c:v>
                </c:pt>
                <c:pt idx="204">
                  <c:v>-1.24</c:v>
                </c:pt>
                <c:pt idx="205">
                  <c:v>-1.1629</c:v>
                </c:pt>
                <c:pt idx="206">
                  <c:v>-1.1629</c:v>
                </c:pt>
                <c:pt idx="207">
                  <c:v>-1.16</c:v>
                </c:pt>
                <c:pt idx="208">
                  <c:v>-1.1304</c:v>
                </c:pt>
                <c:pt idx="209">
                  <c:v>-1.1304</c:v>
                </c:pt>
                <c:pt idx="210">
                  <c:v>-1.1304</c:v>
                </c:pt>
                <c:pt idx="211">
                  <c:v>-1.1304</c:v>
                </c:pt>
                <c:pt idx="212">
                  <c:v>-1.1304</c:v>
                </c:pt>
                <c:pt idx="213">
                  <c:v>-1.1243</c:v>
                </c:pt>
                <c:pt idx="214">
                  <c:v>-1.1243</c:v>
                </c:pt>
                <c:pt idx="215">
                  <c:v>-1.08</c:v>
                </c:pt>
                <c:pt idx="216">
                  <c:v>-1.0002</c:v>
                </c:pt>
                <c:pt idx="217">
                  <c:v>-1</c:v>
                </c:pt>
                <c:pt idx="218">
                  <c:v>-0.92</c:v>
                </c:pt>
                <c:pt idx="219">
                  <c:v>-0.899</c:v>
                </c:pt>
                <c:pt idx="220">
                  <c:v>-0.899</c:v>
                </c:pt>
                <c:pt idx="221">
                  <c:v>-0.899</c:v>
                </c:pt>
                <c:pt idx="222">
                  <c:v>-0.8955</c:v>
                </c:pt>
                <c:pt idx="223">
                  <c:v>-0.84</c:v>
                </c:pt>
                <c:pt idx="224">
                  <c:v>-0.7646</c:v>
                </c:pt>
                <c:pt idx="225">
                  <c:v>-0.7646</c:v>
                </c:pt>
                <c:pt idx="226">
                  <c:v>-0.7646</c:v>
                </c:pt>
                <c:pt idx="227">
                  <c:v>-0.7646</c:v>
                </c:pt>
                <c:pt idx="228">
                  <c:v>-0.7646</c:v>
                </c:pt>
                <c:pt idx="229">
                  <c:v>-0.76</c:v>
                </c:pt>
                <c:pt idx="230">
                  <c:v>-0.696</c:v>
                </c:pt>
                <c:pt idx="231">
                  <c:v>-0.696</c:v>
                </c:pt>
                <c:pt idx="232">
                  <c:v>-0.68</c:v>
                </c:pt>
                <c:pt idx="233">
                  <c:v>-0.6</c:v>
                </c:pt>
                <c:pt idx="234">
                  <c:v>-0.564</c:v>
                </c:pt>
                <c:pt idx="235">
                  <c:v>-0.536</c:v>
                </c:pt>
                <c:pt idx="236">
                  <c:v>-0.52</c:v>
                </c:pt>
                <c:pt idx="237">
                  <c:v>-0.44</c:v>
                </c:pt>
                <c:pt idx="238">
                  <c:v>-0.36</c:v>
                </c:pt>
                <c:pt idx="239">
                  <c:v>-0.28</c:v>
                </c:pt>
                <c:pt idx="240">
                  <c:v>-0.2589</c:v>
                </c:pt>
                <c:pt idx="241">
                  <c:v>-0.2</c:v>
                </c:pt>
                <c:pt idx="242">
                  <c:v>-0.12</c:v>
                </c:pt>
                <c:pt idx="243">
                  <c:v>-0.1095</c:v>
                </c:pt>
                <c:pt idx="244">
                  <c:v>-0.1095</c:v>
                </c:pt>
                <c:pt idx="245">
                  <c:v>-0.0792</c:v>
                </c:pt>
                <c:pt idx="246">
                  <c:v>-0.0693</c:v>
                </c:pt>
                <c:pt idx="247">
                  <c:v>-0.0644</c:v>
                </c:pt>
                <c:pt idx="248">
                  <c:v>-0.0644</c:v>
                </c:pt>
                <c:pt idx="249">
                  <c:v>-0.0644</c:v>
                </c:pt>
                <c:pt idx="250">
                  <c:v>-0.04</c:v>
                </c:pt>
                <c:pt idx="251">
                  <c:v>-0.0304</c:v>
                </c:pt>
                <c:pt idx="252">
                  <c:v>0.0394</c:v>
                </c:pt>
                <c:pt idx="253">
                  <c:v>0.0394</c:v>
                </c:pt>
                <c:pt idx="254">
                  <c:v>0.04</c:v>
                </c:pt>
                <c:pt idx="255">
                  <c:v>0.12</c:v>
                </c:pt>
                <c:pt idx="256">
                  <c:v>0.1429</c:v>
                </c:pt>
                <c:pt idx="257">
                  <c:v>0.1429</c:v>
                </c:pt>
                <c:pt idx="258">
                  <c:v>0.2</c:v>
                </c:pt>
                <c:pt idx="259">
                  <c:v>0.2386</c:v>
                </c:pt>
                <c:pt idx="260">
                  <c:v>0.28</c:v>
                </c:pt>
                <c:pt idx="261">
                  <c:v>0.3016</c:v>
                </c:pt>
                <c:pt idx="262">
                  <c:v>0.3016</c:v>
                </c:pt>
                <c:pt idx="263">
                  <c:v>0.3346</c:v>
                </c:pt>
                <c:pt idx="264">
                  <c:v>0.3346</c:v>
                </c:pt>
                <c:pt idx="265">
                  <c:v>0.36</c:v>
                </c:pt>
                <c:pt idx="266">
                  <c:v>0.3833</c:v>
                </c:pt>
                <c:pt idx="267">
                  <c:v>0.44</c:v>
                </c:pt>
                <c:pt idx="268">
                  <c:v>0.52</c:v>
                </c:pt>
                <c:pt idx="269">
                  <c:v>0.6</c:v>
                </c:pt>
                <c:pt idx="270">
                  <c:v>0.6243</c:v>
                </c:pt>
                <c:pt idx="271">
                  <c:v>0.6243</c:v>
                </c:pt>
                <c:pt idx="272">
                  <c:v>0.6475</c:v>
                </c:pt>
                <c:pt idx="273">
                  <c:v>0.6475</c:v>
                </c:pt>
                <c:pt idx="274">
                  <c:v>0.6675</c:v>
                </c:pt>
                <c:pt idx="275">
                  <c:v>0.68</c:v>
                </c:pt>
                <c:pt idx="276">
                  <c:v>0.76</c:v>
                </c:pt>
                <c:pt idx="277">
                  <c:v>0.84</c:v>
                </c:pt>
                <c:pt idx="278">
                  <c:v>0.92</c:v>
                </c:pt>
                <c:pt idx="279">
                  <c:v>1</c:v>
                </c:pt>
              </c:numCache>
            </c:numRef>
          </c:xVal>
          <c:yVal>
            <c:numRef>
              <c:f>Sheet1!$C$2:$C$281</c:f>
              <c:numCache>
                <c:formatCode>General</c:formatCode>
                <c:ptCount val="280"/>
                <c:pt idx="0">
                  <c:v>-9</c:v>
                </c:pt>
                <c:pt idx="1">
                  <c:v>-8.92</c:v>
                </c:pt>
                <c:pt idx="2">
                  <c:v>-8.84</c:v>
                </c:pt>
                <c:pt idx="3">
                  <c:v>-8.76</c:v>
                </c:pt>
                <c:pt idx="4">
                  <c:v>-8.68</c:v>
                </c:pt>
                <c:pt idx="5">
                  <c:v>-8.6</c:v>
                </c:pt>
                <c:pt idx="6">
                  <c:v>-8.52</c:v>
                </c:pt>
                <c:pt idx="7">
                  <c:v>-8.44</c:v>
                </c:pt>
                <c:pt idx="8">
                  <c:v>-8.36</c:v>
                </c:pt>
                <c:pt idx="9">
                  <c:v>-8.28</c:v>
                </c:pt>
                <c:pt idx="10">
                  <c:v>-8.2</c:v>
                </c:pt>
                <c:pt idx="11">
                  <c:v>-8.12</c:v>
                </c:pt>
                <c:pt idx="12">
                  <c:v>-8.04</c:v>
                </c:pt>
                <c:pt idx="13">
                  <c:v>-7.96</c:v>
                </c:pt>
                <c:pt idx="14">
                  <c:v>-7.88</c:v>
                </c:pt>
                <c:pt idx="15">
                  <c:v>-7.8</c:v>
                </c:pt>
                <c:pt idx="16">
                  <c:v>-7.72</c:v>
                </c:pt>
                <c:pt idx="17">
                  <c:v>-7.64</c:v>
                </c:pt>
                <c:pt idx="18">
                  <c:v>-7.56</c:v>
                </c:pt>
                <c:pt idx="19">
                  <c:v>-7.48</c:v>
                </c:pt>
                <c:pt idx="20">
                  <c:v>-7.4</c:v>
                </c:pt>
                <c:pt idx="21">
                  <c:v>-7.32</c:v>
                </c:pt>
                <c:pt idx="22">
                  <c:v>-7.24</c:v>
                </c:pt>
                <c:pt idx="23">
                  <c:v>-7.16</c:v>
                </c:pt>
                <c:pt idx="24">
                  <c:v>-7.08</c:v>
                </c:pt>
                <c:pt idx="25">
                  <c:v>-7</c:v>
                </c:pt>
                <c:pt idx="26">
                  <c:v>-6.92</c:v>
                </c:pt>
                <c:pt idx="27">
                  <c:v>-6.84</c:v>
                </c:pt>
                <c:pt idx="28">
                  <c:v>-6.76</c:v>
                </c:pt>
                <c:pt idx="29">
                  <c:v>-6.68</c:v>
                </c:pt>
                <c:pt idx="30">
                  <c:v>-6.6</c:v>
                </c:pt>
                <c:pt idx="31">
                  <c:v>-6.52</c:v>
                </c:pt>
                <c:pt idx="32">
                  <c:v>-6.44</c:v>
                </c:pt>
                <c:pt idx="33">
                  <c:v>-6.36</c:v>
                </c:pt>
                <c:pt idx="34">
                  <c:v>-6.28</c:v>
                </c:pt>
                <c:pt idx="35">
                  <c:v>-6.2</c:v>
                </c:pt>
                <c:pt idx="36">
                  <c:v>-6.12</c:v>
                </c:pt>
                <c:pt idx="37">
                  <c:v>-6.04</c:v>
                </c:pt>
                <c:pt idx="38">
                  <c:v>-5.96</c:v>
                </c:pt>
                <c:pt idx="39">
                  <c:v>-5.9294</c:v>
                </c:pt>
                <c:pt idx="40">
                  <c:v>-5.9294</c:v>
                </c:pt>
                <c:pt idx="41">
                  <c:v>-5.9294</c:v>
                </c:pt>
                <c:pt idx="42">
                  <c:v>-5.9294</c:v>
                </c:pt>
                <c:pt idx="43">
                  <c:v>-5.9294</c:v>
                </c:pt>
                <c:pt idx="44">
                  <c:v>-5.9233</c:v>
                </c:pt>
                <c:pt idx="45">
                  <c:v>-5.9233</c:v>
                </c:pt>
                <c:pt idx="46">
                  <c:v>-5.9233</c:v>
                </c:pt>
                <c:pt idx="47">
                  <c:v>-5.9233</c:v>
                </c:pt>
                <c:pt idx="48">
                  <c:v>-5.9233</c:v>
                </c:pt>
                <c:pt idx="49">
                  <c:v>-5.9233</c:v>
                </c:pt>
                <c:pt idx="50">
                  <c:v>-5.9233</c:v>
                </c:pt>
                <c:pt idx="51">
                  <c:v>-5.9233</c:v>
                </c:pt>
                <c:pt idx="52">
                  <c:v>-5.88</c:v>
                </c:pt>
                <c:pt idx="53">
                  <c:v>-5.8426</c:v>
                </c:pt>
                <c:pt idx="54">
                  <c:v>-5.8426</c:v>
                </c:pt>
                <c:pt idx="55">
                  <c:v>-5.8426</c:v>
                </c:pt>
                <c:pt idx="56">
                  <c:v>-5.8426</c:v>
                </c:pt>
                <c:pt idx="57">
                  <c:v>-5.8426</c:v>
                </c:pt>
                <c:pt idx="58">
                  <c:v>-5.8</c:v>
                </c:pt>
                <c:pt idx="59">
                  <c:v>-5.72</c:v>
                </c:pt>
                <c:pt idx="60">
                  <c:v>-5.6449</c:v>
                </c:pt>
                <c:pt idx="61">
                  <c:v>-5.6449</c:v>
                </c:pt>
                <c:pt idx="62">
                  <c:v>-5.6449</c:v>
                </c:pt>
                <c:pt idx="63">
                  <c:v>-5.6449</c:v>
                </c:pt>
                <c:pt idx="64">
                  <c:v>-5.6449</c:v>
                </c:pt>
                <c:pt idx="65">
                  <c:v>-5.6449</c:v>
                </c:pt>
                <c:pt idx="66">
                  <c:v>-5.6449</c:v>
                </c:pt>
                <c:pt idx="67">
                  <c:v>-5.6449</c:v>
                </c:pt>
                <c:pt idx="68">
                  <c:v>-5.6449</c:v>
                </c:pt>
                <c:pt idx="69">
                  <c:v>-5.6449</c:v>
                </c:pt>
                <c:pt idx="70">
                  <c:v>-5.64</c:v>
                </c:pt>
                <c:pt idx="71">
                  <c:v>-5.56</c:v>
                </c:pt>
                <c:pt idx="72">
                  <c:v>-5.48</c:v>
                </c:pt>
                <c:pt idx="73">
                  <c:v>-5.4</c:v>
                </c:pt>
                <c:pt idx="74">
                  <c:v>-5.32</c:v>
                </c:pt>
                <c:pt idx="75">
                  <c:v>-5.2802</c:v>
                </c:pt>
                <c:pt idx="76">
                  <c:v>-5.2802</c:v>
                </c:pt>
                <c:pt idx="77">
                  <c:v>-5.2802</c:v>
                </c:pt>
                <c:pt idx="78">
                  <c:v>-5.2802</c:v>
                </c:pt>
                <c:pt idx="79">
                  <c:v>-5.2802</c:v>
                </c:pt>
                <c:pt idx="80">
                  <c:v>-5.2802</c:v>
                </c:pt>
                <c:pt idx="81">
                  <c:v>-5.24</c:v>
                </c:pt>
                <c:pt idx="82">
                  <c:v>-5.2316</c:v>
                </c:pt>
                <c:pt idx="83">
                  <c:v>-5.2316</c:v>
                </c:pt>
                <c:pt idx="84">
                  <c:v>-5.2316</c:v>
                </c:pt>
                <c:pt idx="85">
                  <c:v>-5.2316</c:v>
                </c:pt>
                <c:pt idx="86">
                  <c:v>-5.2316</c:v>
                </c:pt>
                <c:pt idx="87">
                  <c:v>-5.2316</c:v>
                </c:pt>
                <c:pt idx="88">
                  <c:v>-5.1913</c:v>
                </c:pt>
                <c:pt idx="89">
                  <c:v>-5.16</c:v>
                </c:pt>
                <c:pt idx="90">
                  <c:v>-5.146</c:v>
                </c:pt>
                <c:pt idx="91">
                  <c:v>-5.08</c:v>
                </c:pt>
                <c:pt idx="92">
                  <c:v>-5</c:v>
                </c:pt>
                <c:pt idx="93">
                  <c:v>-4.92</c:v>
                </c:pt>
                <c:pt idx="94">
                  <c:v>-4.84</c:v>
                </c:pt>
                <c:pt idx="95">
                  <c:v>-4.76</c:v>
                </c:pt>
                <c:pt idx="96">
                  <c:v>-4.7142</c:v>
                </c:pt>
                <c:pt idx="97">
                  <c:v>-4.68</c:v>
                </c:pt>
                <c:pt idx="98">
                  <c:v>-4.6129</c:v>
                </c:pt>
                <c:pt idx="99">
                  <c:v>-4.6</c:v>
                </c:pt>
                <c:pt idx="100">
                  <c:v>-4.52</c:v>
                </c:pt>
                <c:pt idx="101">
                  <c:v>-4.4643</c:v>
                </c:pt>
                <c:pt idx="102">
                  <c:v>-4.4643</c:v>
                </c:pt>
                <c:pt idx="103">
                  <c:v>-4.4643</c:v>
                </c:pt>
                <c:pt idx="104">
                  <c:v>-4.4643</c:v>
                </c:pt>
                <c:pt idx="105">
                  <c:v>-4.4643</c:v>
                </c:pt>
                <c:pt idx="106">
                  <c:v>-4.4643</c:v>
                </c:pt>
                <c:pt idx="107">
                  <c:v>-4.44</c:v>
                </c:pt>
                <c:pt idx="108">
                  <c:v>-4.4044</c:v>
                </c:pt>
                <c:pt idx="109">
                  <c:v>-4.4044</c:v>
                </c:pt>
                <c:pt idx="110">
                  <c:v>-4.4044</c:v>
                </c:pt>
                <c:pt idx="111">
                  <c:v>-4.4044</c:v>
                </c:pt>
                <c:pt idx="112">
                  <c:v>-4.4044</c:v>
                </c:pt>
                <c:pt idx="113">
                  <c:v>-4.4044</c:v>
                </c:pt>
                <c:pt idx="114">
                  <c:v>-4.4044</c:v>
                </c:pt>
                <c:pt idx="115">
                  <c:v>-4.4044</c:v>
                </c:pt>
                <c:pt idx="116">
                  <c:v>-4.36</c:v>
                </c:pt>
                <c:pt idx="117">
                  <c:v>-4.28</c:v>
                </c:pt>
                <c:pt idx="118">
                  <c:v>-4.2</c:v>
                </c:pt>
                <c:pt idx="119">
                  <c:v>-4.12</c:v>
                </c:pt>
                <c:pt idx="120">
                  <c:v>-4.1154</c:v>
                </c:pt>
                <c:pt idx="121">
                  <c:v>-4.1154</c:v>
                </c:pt>
                <c:pt idx="122">
                  <c:v>-4.1154</c:v>
                </c:pt>
                <c:pt idx="123">
                  <c:v>-4.1154</c:v>
                </c:pt>
                <c:pt idx="124">
                  <c:v>-4.1154</c:v>
                </c:pt>
                <c:pt idx="125">
                  <c:v>-4.1154</c:v>
                </c:pt>
                <c:pt idx="126">
                  <c:v>-4.1154</c:v>
                </c:pt>
                <c:pt idx="127">
                  <c:v>-4.1154</c:v>
                </c:pt>
                <c:pt idx="128">
                  <c:v>-4.1154</c:v>
                </c:pt>
                <c:pt idx="129">
                  <c:v>-4.1154</c:v>
                </c:pt>
                <c:pt idx="130">
                  <c:v>-4.1154</c:v>
                </c:pt>
                <c:pt idx="131">
                  <c:v>-4.1154</c:v>
                </c:pt>
                <c:pt idx="132">
                  <c:v>-4.1154</c:v>
                </c:pt>
                <c:pt idx="133">
                  <c:v>-4.1154</c:v>
                </c:pt>
                <c:pt idx="134">
                  <c:v>-4.1154</c:v>
                </c:pt>
                <c:pt idx="135">
                  <c:v>-4.04</c:v>
                </c:pt>
                <c:pt idx="136">
                  <c:v>-3.96</c:v>
                </c:pt>
                <c:pt idx="137">
                  <c:v>-3.88</c:v>
                </c:pt>
                <c:pt idx="138">
                  <c:v>-3.8</c:v>
                </c:pt>
                <c:pt idx="139">
                  <c:v>-3.72</c:v>
                </c:pt>
                <c:pt idx="140">
                  <c:v>-3.64</c:v>
                </c:pt>
                <c:pt idx="141">
                  <c:v>-3.56</c:v>
                </c:pt>
                <c:pt idx="142">
                  <c:v>-3.48</c:v>
                </c:pt>
                <c:pt idx="143">
                  <c:v>-3.4</c:v>
                </c:pt>
                <c:pt idx="144">
                  <c:v>-3.32</c:v>
                </c:pt>
                <c:pt idx="145">
                  <c:v>-3.24</c:v>
                </c:pt>
                <c:pt idx="146">
                  <c:v>-3.16</c:v>
                </c:pt>
                <c:pt idx="147">
                  <c:v>-3.08</c:v>
                </c:pt>
                <c:pt idx="148">
                  <c:v>-3</c:v>
                </c:pt>
                <c:pt idx="149">
                  <c:v>-2.9302</c:v>
                </c:pt>
                <c:pt idx="150">
                  <c:v>-2.9302</c:v>
                </c:pt>
                <c:pt idx="151">
                  <c:v>-2.9302</c:v>
                </c:pt>
                <c:pt idx="152">
                  <c:v>-2.92</c:v>
                </c:pt>
                <c:pt idx="153">
                  <c:v>-2.84</c:v>
                </c:pt>
                <c:pt idx="154">
                  <c:v>-2.76</c:v>
                </c:pt>
                <c:pt idx="155">
                  <c:v>-2.6825</c:v>
                </c:pt>
                <c:pt idx="156">
                  <c:v>-2.68</c:v>
                </c:pt>
                <c:pt idx="157">
                  <c:v>-2.6</c:v>
                </c:pt>
                <c:pt idx="158">
                  <c:v>-2.52</c:v>
                </c:pt>
                <c:pt idx="159">
                  <c:v>-2.5159</c:v>
                </c:pt>
                <c:pt idx="160">
                  <c:v>-2.44</c:v>
                </c:pt>
                <c:pt idx="161">
                  <c:v>-2.36</c:v>
                </c:pt>
                <c:pt idx="162">
                  <c:v>-2.28</c:v>
                </c:pt>
                <c:pt idx="163">
                  <c:v>-2.2317</c:v>
                </c:pt>
                <c:pt idx="164">
                  <c:v>-2.2317</c:v>
                </c:pt>
                <c:pt idx="165">
                  <c:v>-2.2317</c:v>
                </c:pt>
                <c:pt idx="166">
                  <c:v>-2.2317</c:v>
                </c:pt>
                <c:pt idx="167">
                  <c:v>-2.2317</c:v>
                </c:pt>
                <c:pt idx="168">
                  <c:v>-2.2314</c:v>
                </c:pt>
                <c:pt idx="169">
                  <c:v>-2.2314</c:v>
                </c:pt>
                <c:pt idx="170">
                  <c:v>-2.2055</c:v>
                </c:pt>
                <c:pt idx="171">
                  <c:v>-2.2</c:v>
                </c:pt>
                <c:pt idx="172">
                  <c:v>-2.1275</c:v>
                </c:pt>
                <c:pt idx="173">
                  <c:v>-2.12</c:v>
                </c:pt>
                <c:pt idx="174">
                  <c:v>-2.0551</c:v>
                </c:pt>
                <c:pt idx="175">
                  <c:v>-2.0551</c:v>
                </c:pt>
                <c:pt idx="176">
                  <c:v>-2.0432</c:v>
                </c:pt>
                <c:pt idx="177">
                  <c:v>-2.0432</c:v>
                </c:pt>
                <c:pt idx="178">
                  <c:v>-2.04</c:v>
                </c:pt>
                <c:pt idx="179">
                  <c:v>-1.9828</c:v>
                </c:pt>
                <c:pt idx="180">
                  <c:v>-1.9828</c:v>
                </c:pt>
                <c:pt idx="181">
                  <c:v>-1.9687</c:v>
                </c:pt>
                <c:pt idx="182">
                  <c:v>-1.9687</c:v>
                </c:pt>
                <c:pt idx="183">
                  <c:v>-1.9687</c:v>
                </c:pt>
                <c:pt idx="184">
                  <c:v>-1.96</c:v>
                </c:pt>
                <c:pt idx="185">
                  <c:v>-1.88</c:v>
                </c:pt>
                <c:pt idx="186">
                  <c:v>-1.8</c:v>
                </c:pt>
                <c:pt idx="187">
                  <c:v>-1.72</c:v>
                </c:pt>
                <c:pt idx="188">
                  <c:v>-1.64</c:v>
                </c:pt>
                <c:pt idx="189">
                  <c:v>-1.5789</c:v>
                </c:pt>
                <c:pt idx="190">
                  <c:v>-1.5628</c:v>
                </c:pt>
                <c:pt idx="191">
                  <c:v>-1.56</c:v>
                </c:pt>
                <c:pt idx="192">
                  <c:v>-1.5042</c:v>
                </c:pt>
                <c:pt idx="193">
                  <c:v>-1.48</c:v>
                </c:pt>
                <c:pt idx="194">
                  <c:v>-1.4</c:v>
                </c:pt>
                <c:pt idx="195">
                  <c:v>-1.32</c:v>
                </c:pt>
                <c:pt idx="196">
                  <c:v>-1.3005</c:v>
                </c:pt>
                <c:pt idx="197">
                  <c:v>-1.3005</c:v>
                </c:pt>
                <c:pt idx="198">
                  <c:v>-1.2817</c:v>
                </c:pt>
                <c:pt idx="199">
                  <c:v>-1.2817</c:v>
                </c:pt>
                <c:pt idx="200">
                  <c:v>-1.2817</c:v>
                </c:pt>
                <c:pt idx="201">
                  <c:v>-1.2817</c:v>
                </c:pt>
                <c:pt idx="202">
                  <c:v>-1.2817</c:v>
                </c:pt>
                <c:pt idx="203">
                  <c:v>-1.2757</c:v>
                </c:pt>
                <c:pt idx="204">
                  <c:v>-1.24</c:v>
                </c:pt>
                <c:pt idx="205">
                  <c:v>-1.1629</c:v>
                </c:pt>
                <c:pt idx="206">
                  <c:v>-1.1629</c:v>
                </c:pt>
                <c:pt idx="207">
                  <c:v>-1.16</c:v>
                </c:pt>
                <c:pt idx="208">
                  <c:v>-1.1304</c:v>
                </c:pt>
                <c:pt idx="209">
                  <c:v>-1.1304</c:v>
                </c:pt>
                <c:pt idx="210">
                  <c:v>-1.1304</c:v>
                </c:pt>
                <c:pt idx="211">
                  <c:v>-1.1304</c:v>
                </c:pt>
                <c:pt idx="212">
                  <c:v>-1.1304</c:v>
                </c:pt>
                <c:pt idx="213">
                  <c:v>-1.1243</c:v>
                </c:pt>
                <c:pt idx="214">
                  <c:v>-1.1243</c:v>
                </c:pt>
                <c:pt idx="215">
                  <c:v>-1.08</c:v>
                </c:pt>
                <c:pt idx="216">
                  <c:v>-1.0002</c:v>
                </c:pt>
                <c:pt idx="217">
                  <c:v>-1</c:v>
                </c:pt>
                <c:pt idx="218">
                  <c:v>-0.92</c:v>
                </c:pt>
                <c:pt idx="219">
                  <c:v>-0.899</c:v>
                </c:pt>
                <c:pt idx="220">
                  <c:v>-0.899</c:v>
                </c:pt>
                <c:pt idx="221">
                  <c:v>-0.899</c:v>
                </c:pt>
                <c:pt idx="222">
                  <c:v>-0.8955</c:v>
                </c:pt>
                <c:pt idx="223">
                  <c:v>-0.84</c:v>
                </c:pt>
                <c:pt idx="224">
                  <c:v>-0.7646</c:v>
                </c:pt>
                <c:pt idx="225">
                  <c:v>-0.7646</c:v>
                </c:pt>
                <c:pt idx="226">
                  <c:v>-0.7646</c:v>
                </c:pt>
                <c:pt idx="227">
                  <c:v>-0.7646</c:v>
                </c:pt>
                <c:pt idx="228">
                  <c:v>-0.7646</c:v>
                </c:pt>
                <c:pt idx="229">
                  <c:v>-0.76</c:v>
                </c:pt>
                <c:pt idx="230">
                  <c:v>-0.696</c:v>
                </c:pt>
                <c:pt idx="231">
                  <c:v>-0.696</c:v>
                </c:pt>
                <c:pt idx="232">
                  <c:v>-0.68</c:v>
                </c:pt>
                <c:pt idx="233">
                  <c:v>-0.6</c:v>
                </c:pt>
                <c:pt idx="234">
                  <c:v>-0.564</c:v>
                </c:pt>
                <c:pt idx="235">
                  <c:v>-0.536</c:v>
                </c:pt>
                <c:pt idx="236">
                  <c:v>-0.52</c:v>
                </c:pt>
                <c:pt idx="237">
                  <c:v>-0.44</c:v>
                </c:pt>
                <c:pt idx="238">
                  <c:v>-0.36</c:v>
                </c:pt>
                <c:pt idx="239">
                  <c:v>-0.28</c:v>
                </c:pt>
                <c:pt idx="240">
                  <c:v>-0.2589</c:v>
                </c:pt>
                <c:pt idx="241">
                  <c:v>-0.2</c:v>
                </c:pt>
                <c:pt idx="242">
                  <c:v>-0.12</c:v>
                </c:pt>
                <c:pt idx="243">
                  <c:v>-0.1095</c:v>
                </c:pt>
                <c:pt idx="244">
                  <c:v>-0.1095</c:v>
                </c:pt>
                <c:pt idx="245">
                  <c:v>-0.0792</c:v>
                </c:pt>
                <c:pt idx="246">
                  <c:v>-0.0693</c:v>
                </c:pt>
                <c:pt idx="247">
                  <c:v>-0.0644</c:v>
                </c:pt>
                <c:pt idx="248">
                  <c:v>-0.0644</c:v>
                </c:pt>
                <c:pt idx="249">
                  <c:v>-0.0644</c:v>
                </c:pt>
                <c:pt idx="250">
                  <c:v>-0.04</c:v>
                </c:pt>
                <c:pt idx="251">
                  <c:v>-0.0304</c:v>
                </c:pt>
                <c:pt idx="252">
                  <c:v>0.0394</c:v>
                </c:pt>
                <c:pt idx="253">
                  <c:v>0.0394</c:v>
                </c:pt>
                <c:pt idx="254">
                  <c:v>0.04</c:v>
                </c:pt>
                <c:pt idx="255">
                  <c:v>0.12</c:v>
                </c:pt>
                <c:pt idx="256">
                  <c:v>0.1429</c:v>
                </c:pt>
                <c:pt idx="257">
                  <c:v>0.1429</c:v>
                </c:pt>
                <c:pt idx="258">
                  <c:v>0.2</c:v>
                </c:pt>
                <c:pt idx="259">
                  <c:v>0.2386</c:v>
                </c:pt>
                <c:pt idx="260">
                  <c:v>0.28</c:v>
                </c:pt>
                <c:pt idx="261">
                  <c:v>0.3016</c:v>
                </c:pt>
                <c:pt idx="262">
                  <c:v>0.3016</c:v>
                </c:pt>
                <c:pt idx="263">
                  <c:v>0.3346</c:v>
                </c:pt>
                <c:pt idx="264">
                  <c:v>0.3346</c:v>
                </c:pt>
                <c:pt idx="265">
                  <c:v>0.36</c:v>
                </c:pt>
                <c:pt idx="266">
                  <c:v>0.3833</c:v>
                </c:pt>
                <c:pt idx="267">
                  <c:v>0.44</c:v>
                </c:pt>
                <c:pt idx="268">
                  <c:v>0.52</c:v>
                </c:pt>
                <c:pt idx="269">
                  <c:v>0.6</c:v>
                </c:pt>
                <c:pt idx="270">
                  <c:v>0.6243</c:v>
                </c:pt>
                <c:pt idx="271">
                  <c:v>0.6243</c:v>
                </c:pt>
                <c:pt idx="272">
                  <c:v>0.6475</c:v>
                </c:pt>
                <c:pt idx="273">
                  <c:v>0.6475</c:v>
                </c:pt>
                <c:pt idx="274">
                  <c:v>0.6675</c:v>
                </c:pt>
                <c:pt idx="275">
                  <c:v>0.68</c:v>
                </c:pt>
                <c:pt idx="276">
                  <c:v>0.76</c:v>
                </c:pt>
                <c:pt idx="277">
                  <c:v>0.84</c:v>
                </c:pt>
                <c:pt idx="278">
                  <c:v>0.92</c:v>
                </c:pt>
                <c:pt idx="279">
                  <c:v>1</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
          <c:min val="-9"/>
        </c:scaling>
        <c:delete val="0"/>
        <c:axPos val="b"/>
        <c:majorGridlines>
          <c:spPr>
            <a:ln w="6350" cap="flat">
              <a:solidFill>
                <a:srgbClr val="ECECF0"/>
              </a:solidFill>
              <a:prstDash val="solid"/>
              <a:round/>
            </a:ln>
          </c:spPr>
        </c:majorGridlines>
        <c:title>
          <c:tx>
            <c:rich>
              <a:bodyPr/>
              <a:lstStyle/>
              <a:p>
                <a:pPr>
                  <a:defRPr sz="1100" b="0" i="0" u="none" strike="noStrike">
                    <a:solidFill>
                      <a:srgbClr val="6E7079"/>
                    </a:solidFill>
                    <a:latin typeface="Arial"/>
                  </a:defRPr>
                </a:pPr>
                <a:r>
                  <a:rPr sz="1100" b="0" i="0" u="none" strike="noStrike">
                    <a:solidFill>
                      <a:srgbClr val="6E7079"/>
                    </a:solidFill>
                    <a:latin typeface="Arial"/>
                  </a:rPr>
                  <a:t>log10 certified bound</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6E7079"/>
                </a:solidFill>
                <a:latin typeface="+mn-lt"/>
              </a:defRPr>
            </a:pPr>
            <a:endParaRPr lang="en-US"/>
          </a:p>
        </c:txPr>
        <c:crossAx val="2094734552"/>
        <c:crossesAt val="-9"/>
        <c:auto val="1"/>
        <c:lblAlgn val="ctr"/>
        <c:noMultiLvlLbl val="1"/>
        <c:majorUnit val="1"/>
      </c:valAx>
      <c:valAx>
        <c:axId val="2094734552"/>
        <c:scaling>
          <c:orientation val="minMax"/>
          <c:max val="1"/>
          <c:min val="-9"/>
        </c:scaling>
        <c:delete val="0"/>
        <c:axPos val="l"/>
        <c:majorGridlines>
          <c:spPr>
            <a:ln w="6350" cap="flat">
              <a:solidFill>
                <a:srgbClr val="ECECF0"/>
              </a:solidFill>
              <a:prstDash val="solid"/>
              <a:round/>
            </a:ln>
          </c:spPr>
        </c:majorGridlines>
        <c:title>
          <c:tx>
            <c:rich>
              <a:bodyPr/>
              <a:lstStyle/>
              <a:p>
                <a:pPr>
                  <a:defRPr sz="1100" b="0" i="0" u="none" strike="noStrike">
                    <a:solidFill>
                      <a:srgbClr val="6E7079"/>
                    </a:solidFill>
                    <a:latin typeface="Arial"/>
                  </a:defRPr>
                </a:pPr>
                <a:r>
                  <a:rPr sz="1100" b="0" i="0" u="none" strike="noStrike">
                    <a:solidFill>
                      <a:srgbClr val="6E7079"/>
                    </a:solidFill>
                    <a:latin typeface="Arial"/>
                  </a:rPr>
                  <a:t>log10 measured max error</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6E7079"/>
                </a:solidFill>
                <a:latin typeface="+mn-lt"/>
              </a:defRPr>
            </a:pPr>
            <a:endParaRPr lang="en-US"/>
          </a:p>
        </c:txPr>
        <c:crossAx val="2094734554"/>
        <c:crossesAt val="-9"/>
        <c:crossBetween val="midCat"/>
        <c:majorUnit val="1"/>
      </c:valAx>
      <c:spPr>
        <a:noFill/>
        <a:ln>
          <a:noFill/>
        </a:ln>
        <a:effectLst/>
      </c:spPr>
    </c:plotArea>
    <c:legend>
      <c:legendPos val="b"/>
      <c:overlay val="0"/>
      <c:txPr>
        <a:bodyPr/>
        <a:lstStyle/>
        <a:p>
          <a:pPr>
            <a:defRPr sz="1100">
              <a:solidFill>
                <a:srgbClr val="6E7079"/>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All four levers</c:v>
                </c:pt>
              </c:strCache>
            </c:strRef>
          </c:tx>
          <c:spPr>
            <a:solidFill>
              <a:srgbClr val="E05263"/>
            </a:solidFill>
            <a:ln w="31750" cap="flat">
              <a:solidFill>
                <a:srgbClr val="E05263"/>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E05263"/>
              </a:solidFill>
              <a:ln w="9525" cap="flat">
                <a:solidFill>
                  <a:srgbClr val="E05263"/>
                </a:solidFill>
                <a:prstDash val="solid"/>
                <a:round/>
              </a:ln>
              <a:effectLst/>
            </c:spPr>
          </c:marker>
          <c:cat>
            <c:multiLvlStrRef>
              <c:f>Sheet1!$A$2:$A$14</c:f>
              <c:multiLvlStrCache>
                <c:ptCount val="13"/>
                <c:lvl>
                  <c:pt idx="0">
                    <c:v>1e-5</c:v>
                  </c:pt>
                  <c:pt idx="1">
                    <c:v>3e-5</c:v>
                  </c:pt>
                  <c:pt idx="2">
                    <c:v>1e-4</c:v>
                  </c:pt>
                  <c:pt idx="3">
                    <c:v>3e-4</c:v>
                  </c:pt>
                  <c:pt idx="4">
                    <c:v>1e-3</c:v>
                  </c:pt>
                  <c:pt idx="5">
                    <c:v>3e-3</c:v>
                  </c:pt>
                  <c:pt idx="6">
                    <c:v>0.01</c:v>
                  </c:pt>
                  <c:pt idx="7">
                    <c:v>0.03</c:v>
                  </c:pt>
                  <c:pt idx="8">
                    <c:v>0.1</c:v>
                  </c:pt>
                  <c:pt idx="9">
                    <c:v>0.3</c:v>
                  </c:pt>
                  <c:pt idx="10">
                    <c:v>1</c:v>
                  </c:pt>
                  <c:pt idx="11">
                    <c:v>3</c:v>
                  </c:pt>
                  <c:pt idx="12">
                    <c:v>10</c:v>
                  </c:pt>
                </c:lvl>
              </c:multiLvlStrCache>
            </c:multiLvlStrRef>
          </c:cat>
          <c:val>
            <c:numRef>
              <c:f>Sheet1!$B$2:$B$14</c:f>
              <c:numCache>
                <c:formatCode>General</c:formatCode>
                <c:ptCount val="13"/>
                <c:pt idx="0">
                  <c:v>4.46</c:v>
                </c:pt>
                <c:pt idx="1">
                  <c:v>4.46</c:v>
                </c:pt>
                <c:pt idx="2">
                  <c:v>4.46</c:v>
                </c:pt>
                <c:pt idx="3">
                  <c:v>4.46</c:v>
                </c:pt>
                <c:pt idx="4">
                  <c:v>4.46</c:v>
                </c:pt>
                <c:pt idx="5">
                  <c:v>4.55</c:v>
                </c:pt>
                <c:pt idx="6">
                  <c:v>6.09</c:v>
                </c:pt>
                <c:pt idx="7">
                  <c:v>7.05</c:v>
                </c:pt>
                <c:pt idx="8">
                  <c:v>7.16</c:v>
                </c:pt>
                <c:pt idx="9">
                  <c:v>7.16</c:v>
                </c:pt>
                <c:pt idx="10">
                  <c:v>7.16</c:v>
                </c:pt>
                <c:pt idx="11">
                  <c:v>7.16</c:v>
                </c:pt>
                <c:pt idx="12">
                  <c:v>7.16</c:v>
                </c:pt>
              </c:numCache>
            </c:numRef>
          </c:val>
          <c:smooth val="0"/>
        </c:ser>
        <c:ser>
          <c:idx val="1"/>
          <c:order val="1"/>
          <c:tx>
            <c:strRef>
              <c:f>Sheet1!$C$1</c:f>
              <c:strCache>
                <c:ptCount val="1"/>
                <c:pt idx="0">
                  <c:v>Precision only</c:v>
                </c:pt>
              </c:strCache>
            </c:strRef>
          </c:tx>
          <c:spPr>
            <a:solidFill>
              <a:srgbClr val="2F3C7E"/>
            </a:solidFill>
            <a:ln w="31750" cap="flat">
              <a:solidFill>
                <a:srgbClr val="2F3C7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2F3C7E"/>
              </a:solidFill>
              <a:ln w="9525" cap="flat">
                <a:solidFill>
                  <a:srgbClr val="2F3C7E"/>
                </a:solidFill>
                <a:prstDash val="solid"/>
                <a:round/>
              </a:ln>
              <a:effectLst/>
            </c:spPr>
          </c:marker>
          <c:cat>
            <c:multiLvlStrRef>
              <c:f>Sheet1!$A$2:$A$14</c:f>
              <c:multiLvlStrCache>
                <c:ptCount val="13"/>
                <c:lvl>
                  <c:pt idx="0">
                    <c:v>1e-5</c:v>
                  </c:pt>
                  <c:pt idx="1">
                    <c:v>3e-5</c:v>
                  </c:pt>
                  <c:pt idx="2">
                    <c:v>1e-4</c:v>
                  </c:pt>
                  <c:pt idx="3">
                    <c:v>3e-4</c:v>
                  </c:pt>
                  <c:pt idx="4">
                    <c:v>1e-3</c:v>
                  </c:pt>
                  <c:pt idx="5">
                    <c:v>3e-3</c:v>
                  </c:pt>
                  <c:pt idx="6">
                    <c:v>0.01</c:v>
                  </c:pt>
                  <c:pt idx="7">
                    <c:v>0.03</c:v>
                  </c:pt>
                  <c:pt idx="8">
                    <c:v>0.1</c:v>
                  </c:pt>
                  <c:pt idx="9">
                    <c:v>0.3</c:v>
                  </c:pt>
                  <c:pt idx="10">
                    <c:v>1</c:v>
                  </c:pt>
                  <c:pt idx="11">
                    <c:v>3</c:v>
                  </c:pt>
                  <c:pt idx="12">
                    <c:v>10</c:v>
                  </c:pt>
                </c:lvl>
              </c:multiLvlStrCache>
            </c:multiLvlStrRef>
          </c:cat>
          <c:val>
            <c:numRef>
              <c:f>Sheet1!$C$2:$C$14</c:f>
              <c:numCache>
                <c:formatCode>General</c:formatCode>
                <c:ptCount val="13"/>
                <c:pt idx="0">
                  <c:v>1</c:v>
                </c:pt>
                <c:pt idx="1">
                  <c:v>1</c:v>
                </c:pt>
                <c:pt idx="2">
                  <c:v>1</c:v>
                </c:pt>
                <c:pt idx="3">
                  <c:v>1</c:v>
                </c:pt>
                <c:pt idx="4">
                  <c:v>1</c:v>
                </c:pt>
                <c:pt idx="5">
                  <c:v>1.67</c:v>
                </c:pt>
                <c:pt idx="6">
                  <c:v>1.78</c:v>
                </c:pt>
                <c:pt idx="7">
                  <c:v>1.93</c:v>
                </c:pt>
                <c:pt idx="8">
                  <c:v>1.93</c:v>
                </c:pt>
                <c:pt idx="9">
                  <c:v>1.95</c:v>
                </c:pt>
                <c:pt idx="10">
                  <c:v>1.97</c:v>
                </c:pt>
                <c:pt idx="11">
                  <c:v>2.02</c:v>
                </c:pt>
                <c:pt idx="12">
                  <c:v>2.02</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E7079"/>
                    </a:solidFill>
                    <a:latin typeface="Arial"/>
                  </a:defRPr>
                </a:pPr>
                <a:r>
                  <a:rPr sz="1100" b="0" i="0" u="none" strike="noStrike">
                    <a:solidFill>
                      <a:srgbClr val="6E7079"/>
                    </a:solidFill>
                    <a:latin typeface="Arial"/>
                  </a:rPr>
                  <a:t>budget β</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7079"/>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CEC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079"/>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6E707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All four levers</c:v>
                </c:pt>
              </c:strCache>
            </c:strRef>
          </c:tx>
          <c:spPr>
            <a:solidFill>
              <a:srgbClr val="E05263"/>
            </a:solidFill>
            <a:ln w="31750" cap="flat">
              <a:solidFill>
                <a:srgbClr val="E05263"/>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E05263"/>
              </a:solidFill>
              <a:ln w="9525" cap="flat">
                <a:solidFill>
                  <a:srgbClr val="E05263"/>
                </a:solidFill>
                <a:prstDash val="solid"/>
                <a:round/>
              </a:ln>
              <a:effectLst/>
            </c:spPr>
          </c:marker>
          <c:cat>
            <c:multiLvlStrRef>
              <c:f>Sheet1!$A$2:$A$14</c:f>
              <c:multiLvlStrCache>
                <c:ptCount val="13"/>
                <c:lvl>
                  <c:pt idx="0">
                    <c:v>2e-5</c:v>
                  </c:pt>
                  <c:pt idx="1">
                    <c:v>6e-5</c:v>
                  </c:pt>
                  <c:pt idx="2">
                    <c:v>2e-4</c:v>
                  </c:pt>
                  <c:pt idx="3">
                    <c:v>6e-4</c:v>
                  </c:pt>
                  <c:pt idx="4">
                    <c:v>2e-3</c:v>
                  </c:pt>
                  <c:pt idx="5">
                    <c:v>6e-3</c:v>
                  </c:pt>
                  <c:pt idx="6">
                    <c:v>0.02</c:v>
                  </c:pt>
                  <c:pt idx="7">
                    <c:v>0.06</c:v>
                  </c:pt>
                  <c:pt idx="8">
                    <c:v>0.2</c:v>
                  </c:pt>
                  <c:pt idx="9">
                    <c:v>0.6</c:v>
                  </c:pt>
                  <c:pt idx="10">
                    <c:v>2</c:v>
                  </c:pt>
                  <c:pt idx="11">
                    <c:v>6</c:v>
                  </c:pt>
                  <c:pt idx="12">
                    <c:v>20</c:v>
                  </c:pt>
                </c:lvl>
              </c:multiLvlStrCache>
            </c:multiLvlStrRef>
          </c:cat>
          <c:val>
            <c:numRef>
              <c:f>Sheet1!$B$2:$B$14</c:f>
              <c:numCache>
                <c:formatCode>General</c:formatCode>
                <c:ptCount val="13"/>
                <c:pt idx="0">
                  <c:v>1</c:v>
                </c:pt>
                <c:pt idx="1">
                  <c:v>1</c:v>
                </c:pt>
                <c:pt idx="2">
                  <c:v>1</c:v>
                </c:pt>
                <c:pt idx="3">
                  <c:v>1</c:v>
                </c:pt>
                <c:pt idx="4">
                  <c:v>1.6</c:v>
                </c:pt>
                <c:pt idx="5">
                  <c:v>2.89</c:v>
                </c:pt>
                <c:pt idx="6">
                  <c:v>3.27</c:v>
                </c:pt>
                <c:pt idx="7">
                  <c:v>3.27</c:v>
                </c:pt>
                <c:pt idx="8">
                  <c:v>3.28</c:v>
                </c:pt>
                <c:pt idx="9">
                  <c:v>3.28</c:v>
                </c:pt>
                <c:pt idx="10">
                  <c:v>3.38</c:v>
                </c:pt>
                <c:pt idx="11">
                  <c:v>3.38</c:v>
                </c:pt>
                <c:pt idx="12">
                  <c:v>3.38</c:v>
                </c:pt>
              </c:numCache>
            </c:numRef>
          </c:val>
          <c:smooth val="0"/>
        </c:ser>
        <c:ser>
          <c:idx val="1"/>
          <c:order val="1"/>
          <c:tx>
            <c:strRef>
              <c:f>Sheet1!$C$1</c:f>
              <c:strCache>
                <c:ptCount val="1"/>
                <c:pt idx="0">
                  <c:v>Precision only</c:v>
                </c:pt>
              </c:strCache>
            </c:strRef>
          </c:tx>
          <c:spPr>
            <a:solidFill>
              <a:srgbClr val="2F3C7E"/>
            </a:solidFill>
            <a:ln w="31750" cap="flat">
              <a:solidFill>
                <a:srgbClr val="2F3C7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2F3C7E"/>
              </a:solidFill>
              <a:ln w="9525" cap="flat">
                <a:solidFill>
                  <a:srgbClr val="2F3C7E"/>
                </a:solidFill>
                <a:prstDash val="solid"/>
                <a:round/>
              </a:ln>
              <a:effectLst/>
            </c:spPr>
          </c:marker>
          <c:cat>
            <c:multiLvlStrRef>
              <c:f>Sheet1!$A$2:$A$14</c:f>
              <c:multiLvlStrCache>
                <c:ptCount val="13"/>
                <c:lvl>
                  <c:pt idx="0">
                    <c:v>2e-5</c:v>
                  </c:pt>
                  <c:pt idx="1">
                    <c:v>6e-5</c:v>
                  </c:pt>
                  <c:pt idx="2">
                    <c:v>2e-4</c:v>
                  </c:pt>
                  <c:pt idx="3">
                    <c:v>6e-4</c:v>
                  </c:pt>
                  <c:pt idx="4">
                    <c:v>2e-3</c:v>
                  </c:pt>
                  <c:pt idx="5">
                    <c:v>6e-3</c:v>
                  </c:pt>
                  <c:pt idx="6">
                    <c:v>0.02</c:v>
                  </c:pt>
                  <c:pt idx="7">
                    <c:v>0.06</c:v>
                  </c:pt>
                  <c:pt idx="8">
                    <c:v>0.2</c:v>
                  </c:pt>
                  <c:pt idx="9">
                    <c:v>0.6</c:v>
                  </c:pt>
                  <c:pt idx="10">
                    <c:v>2</c:v>
                  </c:pt>
                  <c:pt idx="11">
                    <c:v>6</c:v>
                  </c:pt>
                  <c:pt idx="12">
                    <c:v>20</c:v>
                  </c:pt>
                </c:lvl>
              </c:multiLvlStrCache>
            </c:multiLvlStrRef>
          </c:cat>
          <c:val>
            <c:numRef>
              <c:f>Sheet1!$C$2:$C$14</c:f>
              <c:numCache>
                <c:formatCode>General</c:formatCode>
                <c:ptCount val="13"/>
                <c:pt idx="0">
                  <c:v>1</c:v>
                </c:pt>
                <c:pt idx="1">
                  <c:v>1</c:v>
                </c:pt>
                <c:pt idx="2">
                  <c:v>1</c:v>
                </c:pt>
                <c:pt idx="3">
                  <c:v>1</c:v>
                </c:pt>
                <c:pt idx="4">
                  <c:v>1.6</c:v>
                </c:pt>
                <c:pt idx="5">
                  <c:v>1.6</c:v>
                </c:pt>
                <c:pt idx="6">
                  <c:v>1.83</c:v>
                </c:pt>
                <c:pt idx="7">
                  <c:v>1.83</c:v>
                </c:pt>
                <c:pt idx="8">
                  <c:v>1.83</c:v>
                </c:pt>
                <c:pt idx="9">
                  <c:v>1.83</c:v>
                </c:pt>
                <c:pt idx="10">
                  <c:v>1.83</c:v>
                </c:pt>
                <c:pt idx="11">
                  <c:v>1.9</c:v>
                </c:pt>
                <c:pt idx="12">
                  <c:v>1.9</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E7079"/>
                    </a:solidFill>
                    <a:latin typeface="Arial"/>
                  </a:defRPr>
                </a:pPr>
                <a:r>
                  <a:rPr sz="1100" b="0" i="0" u="none" strike="noStrike">
                    <a:solidFill>
                      <a:srgbClr val="6E7079"/>
                    </a:solidFill>
                    <a:latin typeface="Arial"/>
                  </a:rPr>
                  <a:t>budget β</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7079"/>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CEC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079"/>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6E707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Modeled (all levers)</c:v>
                </c:pt>
              </c:strCache>
            </c:strRef>
          </c:tx>
          <c:spPr>
            <a:solidFill>
              <a:srgbClr val="E05263"/>
            </a:solidFill>
            <a:effectLst/>
          </c:spPr>
          <c:invertIfNegative val="0"/>
          <c:dLbls>
            <c:numFmt formatCode="0.0&quot;×&quot;" sourceLinked="0"/>
            <c:txPr>
              <a:bodyPr/>
              <a:lstStyle/>
              <a:p>
                <a:pPr>
                  <a:defRPr b="0" i="0" strike="noStrike" sz="900" u="none">
                    <a:solidFill>
                      <a:srgbClr val="6E7079"/>
                    </a:solidFill>
                    <a:latin typeface="+mn-lt"/>
                  </a:defRPr>
                </a:pPr>
              </a:p>
            </c:txPr>
            <c:showLegendKey val="0"/>
            <c:showVal val="1"/>
            <c:showCatName val="0"/>
            <c:showSerName val="0"/>
            <c:showPercent val="0"/>
            <c:showBubbleSize val="0"/>
            <c:showLeaderLines val="0"/>
          </c:dLbls>
          <c:cat>
            <c:multiLvlStrRef>
              <c:f>Sheet1!$A$2:$A$7</c:f>
              <c:multiLvlStrCache>
                <c:ptCount val="6"/>
                <c:lvl>
                  <c:pt idx="0">
                    <c:v>FIR filter</c:v>
                  </c:pt>
                  <c:pt idx="1">
                    <c:v>k-means distance</c:v>
                  </c:pt>
                  <c:pt idx="2">
                    <c:v>Dense layer</c:v>
                  </c:pt>
                  <c:pt idx="3">
                    <c:v>Newton iteration</c:v>
                  </c:pt>
                  <c:pt idx="4">
                    <c:v>Image kernel</c:v>
                  </c:pt>
                  <c:pt idx="5">
                    <c:v>Decaying impulse</c:v>
                  </c:pt>
                </c:lvl>
              </c:multiLvlStrCache>
            </c:multiLvlStrRef>
          </c:cat>
          <c:val>
            <c:numRef>
              <c:f>Sheet1!$B$2:$B$7</c:f>
              <c:numCache>
                <c:formatCode>General</c:formatCode>
                <c:ptCount val="6"/>
                <c:pt idx="0">
                  <c:v>1.21</c:v>
                </c:pt>
                <c:pt idx="1">
                  <c:v>3.09</c:v>
                </c:pt>
                <c:pt idx="2">
                  <c:v>1.65</c:v>
                </c:pt>
                <c:pt idx="3">
                  <c:v>1</c:v>
                </c:pt>
                <c:pt idx="4">
                  <c:v>6.09</c:v>
                </c:pt>
                <c:pt idx="5">
                  <c:v>3.27</c:v>
                </c:pt>
              </c:numCache>
            </c:numRef>
          </c:val>
        </c:ser>
        <c:ser>
          <c:idx val="1"/>
          <c:order val="1"/>
          <c:tx>
            <c:strRef>
              <c:f>Sheet1!$C$1</c:f>
              <c:strCache>
                <c:ptCount val="1"/>
                <c:pt idx="0">
                  <c:v>Measured natively</c:v>
                </c:pt>
              </c:strCache>
            </c:strRef>
          </c:tx>
          <c:spPr>
            <a:solidFill>
              <a:srgbClr val="990011"/>
            </a:solidFill>
            <a:effectLst/>
          </c:spPr>
          <c:invertIfNegative val="0"/>
          <c:dLbls>
            <c:numFmt formatCode="0.0&quot;×&quot;" sourceLinked="0"/>
            <c:txPr>
              <a:bodyPr/>
              <a:lstStyle/>
              <a:p>
                <a:pPr>
                  <a:defRPr b="0" i="0" strike="noStrike" sz="900" u="none">
                    <a:solidFill>
                      <a:srgbClr val="6E7079"/>
                    </a:solidFill>
                    <a:latin typeface="+mn-lt"/>
                  </a:defRPr>
                </a:pPr>
              </a:p>
            </c:txPr>
            <c:showLegendKey val="0"/>
            <c:showVal val="1"/>
            <c:showCatName val="0"/>
            <c:showSerName val="0"/>
            <c:showPercent val="0"/>
            <c:showBubbleSize val="0"/>
            <c:showLeaderLines val="0"/>
          </c:dLbls>
          <c:cat>
            <c:multiLvlStrRef>
              <c:f>Sheet1!$A$2:$A$7</c:f>
              <c:multiLvlStrCache>
                <c:ptCount val="6"/>
                <c:lvl>
                  <c:pt idx="0">
                    <c:v>FIR filter</c:v>
                  </c:pt>
                  <c:pt idx="1">
                    <c:v>k-means distance</c:v>
                  </c:pt>
                  <c:pt idx="2">
                    <c:v>Dense layer</c:v>
                  </c:pt>
                  <c:pt idx="3">
                    <c:v>Newton iteration</c:v>
                  </c:pt>
                  <c:pt idx="4">
                    <c:v>Image kernel</c:v>
                  </c:pt>
                  <c:pt idx="5">
                    <c:v>Decaying impulse</c:v>
                  </c:pt>
                </c:lvl>
              </c:multiLvlStrCache>
            </c:multiLvlStrRef>
          </c:cat>
          <c:val>
            <c:numRef>
              <c:f>Sheet1!$C$2:$C$7</c:f>
              <c:numCache>
                <c:formatCode>General</c:formatCode>
                <c:ptCount val="6"/>
                <c:pt idx="0">
                  <c:v>1.01</c:v>
                </c:pt>
                <c:pt idx="1">
                  <c:v>9.79</c:v>
                </c:pt>
                <c:pt idx="2">
                  <c:v>1.03</c:v>
                </c:pt>
                <c:pt idx="3">
                  <c:v>1</c:v>
                </c:pt>
                <c:pt idx="4">
                  <c:v>7.49</c:v>
                </c:pt>
                <c:pt idx="5">
                  <c:v>1.83</c:v>
                </c:pt>
              </c:numCache>
            </c:numRef>
          </c:val>
        </c:ser>
        <c:ser>
          <c:idx val="2"/>
          <c:order val="2"/>
          <c:tx>
            <c:strRef>
              <c:f>Sheet1!$D$1</c:f>
              <c:strCache>
                <c:ptCount val="1"/>
                <c:pt idx="0">
                  <c:v>Precision only (modeled)</c:v>
                </c:pt>
              </c:strCache>
            </c:strRef>
          </c:tx>
          <c:spPr>
            <a:solidFill>
              <a:srgbClr val="2F3C7E"/>
            </a:solidFill>
            <a:effectLst/>
          </c:spPr>
          <c:invertIfNegative val="0"/>
          <c:dLbls>
            <c:numFmt formatCode="0.0&quot;×&quot;" sourceLinked="0"/>
            <c:txPr>
              <a:bodyPr/>
              <a:lstStyle/>
              <a:p>
                <a:pPr>
                  <a:defRPr b="0" i="0" strike="noStrike" sz="900" u="none">
                    <a:solidFill>
                      <a:srgbClr val="6E7079"/>
                    </a:solidFill>
                    <a:latin typeface="+mn-lt"/>
                  </a:defRPr>
                </a:pPr>
              </a:p>
            </c:txPr>
            <c:showLegendKey val="0"/>
            <c:showVal val="1"/>
            <c:showCatName val="0"/>
            <c:showSerName val="0"/>
            <c:showPercent val="0"/>
            <c:showBubbleSize val="0"/>
            <c:showLeaderLines val="0"/>
          </c:dLbls>
          <c:cat>
            <c:multiLvlStrRef>
              <c:f>Sheet1!$A$2:$A$7</c:f>
              <c:multiLvlStrCache>
                <c:ptCount val="6"/>
                <c:lvl>
                  <c:pt idx="0">
                    <c:v>FIR filter</c:v>
                  </c:pt>
                  <c:pt idx="1">
                    <c:v>k-means distance</c:v>
                  </c:pt>
                  <c:pt idx="2">
                    <c:v>Dense layer</c:v>
                  </c:pt>
                  <c:pt idx="3">
                    <c:v>Newton iteration</c:v>
                  </c:pt>
                  <c:pt idx="4">
                    <c:v>Image kernel</c:v>
                  </c:pt>
                  <c:pt idx="5">
                    <c:v>Decaying impulse</c:v>
                  </c:pt>
                </c:lvl>
              </c:multiLvlStrCache>
            </c:multiLvlStrRef>
          </c:cat>
          <c:val>
            <c:numRef>
              <c:f>Sheet1!$D$2:$D$7</c:f>
              <c:numCache>
                <c:formatCode>General</c:formatCode>
                <c:ptCount val="6"/>
                <c:pt idx="0">
                  <c:v>1.21</c:v>
                </c:pt>
                <c:pt idx="1">
                  <c:v>1</c:v>
                </c:pt>
                <c:pt idx="2">
                  <c:v>1.37</c:v>
                </c:pt>
                <c:pt idx="3">
                  <c:v>1</c:v>
                </c:pt>
                <c:pt idx="4">
                  <c:v>1.78</c:v>
                </c:pt>
                <c:pt idx="5">
                  <c:v>1.83</c:v>
                </c:pt>
              </c:numCache>
            </c:numRef>
          </c:val>
        </c:ser>
        <c:dLbls>
          <c:numFmt formatCode="0.0&quot;×&quot;" sourceLinked="0"/>
          <c:txPr>
            <a:bodyPr/>
            <a:lstStyle/>
            <a:p>
              <a:pPr>
                <a:defRPr b="0" i="0" strike="noStrike" sz="900" u="none">
                  <a:solidFill>
                    <a:srgbClr val="6E707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707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CEC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07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E707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Rounding (precision)</c:v>
                </c:pt>
              </c:strCache>
            </c:strRef>
          </c:tx>
          <c:spPr>
            <a:solidFill>
              <a:srgbClr val="2F3C7E"/>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Sheet1!$A$2:$A$7</c:f>
              <c:multiLvlStrCache>
                <c:ptCount val="6"/>
                <c:lvl>
                  <c:pt idx="0">
                    <c:v>FIR filter</c:v>
                  </c:pt>
                  <c:pt idx="1">
                    <c:v>k-means distance</c:v>
                  </c:pt>
                  <c:pt idx="2">
                    <c:v>Dense layer</c:v>
                  </c:pt>
                  <c:pt idx="3">
                    <c:v>Newton iteration</c:v>
                  </c:pt>
                  <c:pt idx="4">
                    <c:v>Image kernel</c:v>
                  </c:pt>
                  <c:pt idx="5">
                    <c:v>Decaying impulse</c:v>
                  </c:pt>
                </c:lvl>
              </c:multiLvlStrCache>
            </c:multiLvlStrRef>
          </c:cat>
          <c:val>
            <c:numRef>
              <c:f>Sheet1!$B$2:$B$7</c:f>
              <c:numCache>
                <c:formatCode>General</c:formatCode>
                <c:ptCount val="6"/>
                <c:pt idx="0">
                  <c:v>33.4</c:v>
                </c:pt>
                <c:pt idx="1">
                  <c:v>26.6</c:v>
                </c:pt>
                <c:pt idx="2">
                  <c:v>16.7</c:v>
                </c:pt>
                <c:pt idx="3">
                  <c:v>0.8</c:v>
                </c:pt>
                <c:pt idx="4">
                  <c:v>43.8</c:v>
                </c:pt>
                <c:pt idx="5">
                  <c:v>52.9</c:v>
                </c:pt>
              </c:numCache>
            </c:numRef>
          </c:val>
        </c:ser>
        <c:ser>
          <c:idx val="1"/>
          <c:order val="1"/>
          <c:tx>
            <c:strRef>
              <c:f>Sheet1!$C$1</c:f>
              <c:strCache>
                <c:ptCount val="1"/>
                <c:pt idx="0">
                  <c:v>Skipped iterations</c:v>
                </c:pt>
              </c:strCache>
            </c:strRef>
          </c:tx>
          <c:spPr>
            <a:solidFill>
              <a:srgbClr val="990011"/>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Sheet1!$A$2:$A$7</c:f>
              <c:multiLvlStrCache>
                <c:ptCount val="6"/>
                <c:lvl>
                  <c:pt idx="0">
                    <c:v>FIR filter</c:v>
                  </c:pt>
                  <c:pt idx="1">
                    <c:v>k-means distance</c:v>
                  </c:pt>
                  <c:pt idx="2">
                    <c:v>Dense layer</c:v>
                  </c:pt>
                  <c:pt idx="3">
                    <c:v>Newton iteration</c:v>
                  </c:pt>
                  <c:pt idx="4">
                    <c:v>Image kernel</c:v>
                  </c:pt>
                  <c:pt idx="5">
                    <c:v>Decaying impulse</c:v>
                  </c:pt>
                </c:lvl>
              </c:multiLvlStrCache>
            </c:multiLvlStrRef>
          </c:cat>
          <c:val>
            <c:numRef>
              <c:f>Sheet1!$C$2:$C$7</c:f>
              <c:numCache>
                <c:formatCode>General</c:formatCode>
                <c:ptCount val="6"/>
                <c:pt idx="0">
                  <c:v>0</c:v>
                </c:pt>
                <c:pt idx="1">
                  <c:v>0</c:v>
                </c:pt>
                <c:pt idx="2">
                  <c:v>0</c:v>
                </c:pt>
                <c:pt idx="3">
                  <c:v>0</c:v>
                </c:pt>
                <c:pt idx="4">
                  <c:v>0</c:v>
                </c:pt>
                <c:pt idx="5">
                  <c:v>47.1</c:v>
                </c:pt>
              </c:numCache>
            </c:numRef>
          </c:val>
        </c:ser>
        <c:ser>
          <c:idx val="2"/>
          <c:order val="2"/>
          <c:tx>
            <c:strRef>
              <c:f>Sheet1!$D$1</c:f>
              <c:strCache>
                <c:ptCount val="1"/>
                <c:pt idx="0">
                  <c:v>Table interpolation</c:v>
                </c:pt>
              </c:strCache>
            </c:strRef>
          </c:tx>
          <c:spPr>
            <a:solidFill>
              <a:srgbClr val="1D7F78"/>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Sheet1!$A$2:$A$7</c:f>
              <c:multiLvlStrCache>
                <c:ptCount val="6"/>
                <c:lvl>
                  <c:pt idx="0">
                    <c:v>FIR filter</c:v>
                  </c:pt>
                  <c:pt idx="1">
                    <c:v>k-means distance</c:v>
                  </c:pt>
                  <c:pt idx="2">
                    <c:v>Dense layer</c:v>
                  </c:pt>
                  <c:pt idx="3">
                    <c:v>Newton iteration</c:v>
                  </c:pt>
                  <c:pt idx="4">
                    <c:v>Image kernel</c:v>
                  </c:pt>
                  <c:pt idx="5">
                    <c:v>Decaying impulse</c:v>
                  </c:pt>
                </c:lvl>
              </c:multiLvlStrCache>
            </c:multiLvlStrRef>
          </c:cat>
          <c:val>
            <c:numRef>
              <c:f>Sheet1!$D$2:$D$7</c:f>
              <c:numCache>
                <c:formatCode>General</c:formatCode>
                <c:ptCount val="6"/>
                <c:pt idx="0">
                  <c:v>0</c:v>
                </c:pt>
                <c:pt idx="1">
                  <c:v>18.3</c:v>
                </c:pt>
                <c:pt idx="2">
                  <c:v>0</c:v>
                </c:pt>
                <c:pt idx="3">
                  <c:v>0</c:v>
                </c:pt>
                <c:pt idx="4">
                  <c:v>0</c:v>
                </c:pt>
                <c:pt idx="5">
                  <c:v>0</c:v>
                </c:pt>
              </c:numCache>
            </c:numRef>
          </c:val>
        </c:ser>
        <c:ser>
          <c:idx val="3"/>
          <c:order val="3"/>
          <c:tx>
            <c:strRef>
              <c:f>Sheet1!$E$1</c:f>
              <c:strCache>
                <c:ptCount val="1"/>
                <c:pt idx="0">
                  <c:v>Sign-uncertain remainder</c:v>
                </c:pt>
              </c:strCache>
            </c:strRef>
          </c:tx>
          <c:spPr>
            <a:solidFill>
              <a:srgbClr val="9A9CA6"/>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Sheet1!$A$2:$A$7</c:f>
              <c:multiLvlStrCache>
                <c:ptCount val="6"/>
                <c:lvl>
                  <c:pt idx="0">
                    <c:v>FIR filter</c:v>
                  </c:pt>
                  <c:pt idx="1">
                    <c:v>k-means distance</c:v>
                  </c:pt>
                  <c:pt idx="2">
                    <c:v>Dense layer</c:v>
                  </c:pt>
                  <c:pt idx="3">
                    <c:v>Newton iteration</c:v>
                  </c:pt>
                  <c:pt idx="4">
                    <c:v>Image kernel</c:v>
                  </c:pt>
                  <c:pt idx="5">
                    <c:v>Decaying impulse</c:v>
                  </c:pt>
                </c:lvl>
              </c:multiLvlStrCache>
            </c:multiLvlStrRef>
          </c:cat>
          <c:val>
            <c:numRef>
              <c:f>Sheet1!$E$2:$E$7</c:f>
              <c:numCache>
                <c:formatCode>General</c:formatCode>
                <c:ptCount val="6"/>
                <c:pt idx="0">
                  <c:v>66.6</c:v>
                </c:pt>
                <c:pt idx="1">
                  <c:v>55.1</c:v>
                </c:pt>
                <c:pt idx="2">
                  <c:v>83.3</c:v>
                </c:pt>
                <c:pt idx="3">
                  <c:v>99.2</c:v>
                </c:pt>
                <c:pt idx="4">
                  <c:v>56.2</c:v>
                </c:pt>
                <c:pt idx="5">
                  <c:v>0</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E7079"/>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CECF0"/>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E707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E707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review. At Review 1 we promised a compiler that takes one accuracy budget and spends it across four kinds of approximation with a single sound bound. This deck shows the built system, its guarantee, and the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promise and the scorecard, the system as built, results, risks, and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sentence as Review 1, with one word changed: 'provably' is now backed by a certifier. Across 46,080 Monte Carlo executions (6,144 at the headline budgets, 39,936 across the budget sweeps) no measured error exceeded its certified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quadrant from Review 1. Precision tuners proved bounds but only swapped formats; perforation and ACCEPT were fast with no guarantee. The top right was empty. Our compiler sits there: broad set of levers, one sound bound, and it beats the precision-only tuner on every benchmark where a structural lever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objectives are closed. The point to emphasise is objective five and six together: an exact solver whose every answer is re-certified, then checked by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phases. The first five are classic front end work. Range analysis, error models and the allocate-certify loop are the contribution. Code generation emits real C, and verification runs both a Monte Carlo harness and gcc.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language from Review 1, now implemented. Note the user function kern and the budget line. On the right the SSA IR with a phi for the accumulator; the compiler recognises the k loop as a reduction, so perforation is offered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ranges use affine arithmetic with one noise symbol per input element. Error forms ride along: each local error event is a fresh symbol with a known magnitude. Linear operations keep exact coefficients. Nonlinear ones use mean value forms over the approximate range, which is what makes the final number a sound bound. The remainder r is where sign-uncertain contributions go; it is the main source of looseness, as we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from Review 1 is fully implemented. Precision covers six formats including fp8 and block floating point. Perforation drops reduction iterations and bounds the omission. Memoization and tables both target scalar function calls, including user-defined functions, whose derivatives we bound by interval Taylor-mode differentiation.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1 flagged that the error constraint is not truly linear. Our resolution: use the linear model only to search. Each candidate is re-certified by the full error-form propagation, and the effective budget beta-prime is bisected. Worst case we leave some speed on the table; we never return an unsound configuration. The ILP is tiny at these sizes and solves in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emitted C is the artefact we certify. Built with ACC_EMULATE it reproduces the interpreter bit for bit on all six kernels, so the Monte Carlo evidence applies to the emitted program. The native build times what x86 can actually accelerate: tables and perforation. Precision lowering runs as fp32 here, so FIR and Newton show no native change, as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speedup column against the precision-only column. FIR has no transcendental and no decaying tail, so only precision applies and the two tie. Newton is the honest failure case: its bound is too loose to approximate anything at this budget; slide 17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figure Review 1 said would decide the project. Every point is a configuration the compiler certified during the budget sweeps across all six kernels, plotted as measured error against its certified bound on log scales. All 154 points lie below the diagonal. Points far below the line are where the bound is conservative, mostly the Newton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sweeps of thirteen budgets each. On the image kernel the table makes the sigmoid almost free even at very tight budgets, so the full system starts above 4x where the precision tuner is stuck at 1x. On decay, perforation only becomes affordable around beta 6e-3, and then the curves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which numbers are measured. The native timings use plain scalar fp32 for every precision choice, so only perforation, tables and memoization can show up. Where they apply, the measured speedup meets or exceeds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decomposes each certified bound. It tells us where future precision in the analysis would pay off: the sign-uncertain remainder, not the levers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named these before anyone asked. The high risk did materialise on the Newton kernel: Newton's method contracts errors, but interval partials cannot see the contraction, so amplification is overestimated hundreds of times. Soundness is untouched; speed is lost. Block formats behaved as designed. ILP scaling was never a problem at these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surprised us: memoization never wins against tables under a calibrated cost model, and the dominant looseness is in the analysis remainder rather than in any lever. The limits are mostly the scope restrictions we chose at Review 1 so the guarantee could be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order: pick image, show the allocation and the sigmoid table; drag the budget down and watch the table survive while fp16 disappears; open Soundness; run the Pareto sweep; then C code and the gcc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figures as slides 13 and 14, produced live by the tool for any kernel typed into the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milestone from the Review 1 timeline is complete. Close on the claim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98448" y="420624"/>
            <a:ext cx="10058400" cy="566928"/>
          </a:xfrm>
          <a:prstGeom prst="rect">
            <a:avLst/>
          </a:prstGeom>
          <a:noFill/>
          <a:ln/>
        </p:spPr>
        <p:txBody>
          <a:bodyPr wrap="square" rtlCol="0"/>
          <a:lstStyle>
            <a:lvl1pPr algn="l" indent="0" marL="0">
              <a:buNone/>
              <a:defRPr lang="en-US" sz="2800" b="1" dirty="0">
                <a:solidFill>
                  <a:srgbClr val="1C1C22"/>
                </a:solidFill>
                <a:latin typeface="Cambria" pitchFamily="34" charset="0"/>
                <a:ea typeface="Cambria" pitchFamily="34" charset="-122"/>
                <a:cs typeface="Cambria" pitchFamily="34" charset="-120"/>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C1C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98448" y="420624"/>
            <a:ext cx="10058400" cy="566928"/>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C1C2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566928"/>
            <a:ext cx="4572000" cy="237744"/>
          </a:xfrm>
          <a:prstGeom prst="rect">
            <a:avLst/>
          </a:prstGeom>
          <a:noFill/>
          <a:ln/>
        </p:spPr>
        <p:txBody>
          <a:bodyPr wrap="square" lIns="0" tIns="0" rIns="0" bIns="0" rtlCol="0" anchor="ctr"/>
          <a:lstStyle/>
          <a:p>
            <a:pPr indent="0" marL="0">
              <a:buNone/>
            </a:pPr>
            <a:r>
              <a:rPr lang="en-US" sz="1100" b="1" spc="200" kern="0" dirty="0">
                <a:solidFill>
                  <a:srgbClr val="E05263"/>
                </a:solidFill>
              </a:rPr>
              <a:t>COMPILER DESIGN LAB</a:t>
            </a:r>
            <a:endParaRPr lang="en-US" sz="1100" dirty="0"/>
          </a:p>
        </p:txBody>
      </p:sp>
      <p:sp>
        <p:nvSpPr>
          <p:cNvPr id="3" name="Text 1"/>
          <p:cNvSpPr txBox="1"/>
          <p:nvPr/>
        </p:nvSpPr>
        <p:spPr>
          <a:xfrm>
            <a:off x="8595360" y="566928"/>
            <a:ext cx="2770632" cy="237744"/>
          </a:xfrm>
          <a:prstGeom prst="rect">
            <a:avLst/>
          </a:prstGeom>
          <a:noFill/>
          <a:ln/>
        </p:spPr>
        <p:txBody>
          <a:bodyPr wrap="square" lIns="0" tIns="0" rIns="0" bIns="0" rtlCol="0" anchor="ctr"/>
          <a:lstStyle/>
          <a:p>
            <a:pPr algn="r" indent="0" marL="0">
              <a:buNone/>
            </a:pPr>
            <a:r>
              <a:rPr lang="en-US" sz="1100" b="1" spc="200" kern="0" dirty="0">
                <a:solidFill>
                  <a:srgbClr val="6E7079"/>
                </a:solidFill>
              </a:rPr>
              <a:t>FINAL REVIEW</a:t>
            </a:r>
            <a:endParaRPr lang="en-US" sz="1100" dirty="0"/>
          </a:p>
        </p:txBody>
      </p:sp>
      <p:sp>
        <p:nvSpPr>
          <p:cNvPr id="4" name="Text 2"/>
          <p:cNvSpPr txBox="1"/>
          <p:nvPr/>
        </p:nvSpPr>
        <p:spPr>
          <a:xfrm>
            <a:off x="822960" y="1325880"/>
            <a:ext cx="6309360" cy="283464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Accuracy</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Constrained</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Compilation</a:t>
            </a:r>
            <a:endParaRPr lang="en-US" sz="5000" dirty="0"/>
          </a:p>
        </p:txBody>
      </p:sp>
      <p:sp>
        <p:nvSpPr>
          <p:cNvPr id="5" name="Text 3"/>
          <p:cNvSpPr txBox="1"/>
          <p:nvPr/>
        </p:nvSpPr>
        <p:spPr>
          <a:xfrm>
            <a:off x="822960" y="4297680"/>
            <a:ext cx="6035040" cy="640080"/>
          </a:xfrm>
          <a:prstGeom prst="rect">
            <a:avLst/>
          </a:prstGeom>
          <a:noFill/>
          <a:ln/>
        </p:spPr>
        <p:txBody>
          <a:bodyPr wrap="square" lIns="0" tIns="0" rIns="0" bIns="0" rtlCol="0" anchor="ctr"/>
          <a:lstStyle/>
          <a:p>
            <a:pPr indent="0" marL="0">
              <a:buNone/>
            </a:pPr>
            <a:r>
              <a:rPr lang="en-US" sz="1400" i="1" dirty="0">
                <a:solidFill>
                  <a:srgbClr val="9A9CA6"/>
                </a:solidFill>
              </a:rPr>
              <a:t>Built, certified and measured: one sound error budget</a:t>
            </a:r>
            <a:endParaRPr lang="en-US" sz="1400" dirty="0"/>
          </a:p>
          <a:p>
            <a:pPr indent="0" marL="0">
              <a:buNone/>
            </a:pPr>
            <a:r>
              <a:rPr lang="en-US" sz="1400" i="1" dirty="0">
                <a:solidFill>
                  <a:srgbClr val="9A9CA6"/>
                </a:solidFill>
              </a:rPr>
              <a:t>spent across four kinds of approximation</a:t>
            </a:r>
            <a:endParaRPr lang="en-US" sz="1400" dirty="0"/>
          </a:p>
        </p:txBody>
      </p:sp>
      <p:sp>
        <p:nvSpPr>
          <p:cNvPr id="6" name="Shape 4"/>
          <p:cNvSpPr/>
          <p:nvPr/>
        </p:nvSpPr>
        <p:spPr>
          <a:xfrm>
            <a:off x="7452360" y="1325880"/>
            <a:ext cx="3913632" cy="2743200"/>
          </a:xfrm>
          <a:prstGeom prst="rect">
            <a:avLst/>
          </a:prstGeom>
          <a:solidFill>
            <a:srgbClr val="2A2D35"/>
          </a:solidFill>
          <a:ln w="12700">
            <a:solidFill>
              <a:srgbClr val="2A2D35"/>
            </a:solidFill>
            <a:prstDash val="solid"/>
          </a:ln>
        </p:spPr>
      </p:sp>
      <p:sp>
        <p:nvSpPr>
          <p:cNvPr id="7" name="Text 5"/>
          <p:cNvSpPr txBox="1"/>
          <p:nvPr/>
        </p:nvSpPr>
        <p:spPr>
          <a:xfrm>
            <a:off x="7726680" y="1572768"/>
            <a:ext cx="3200400" cy="237744"/>
          </a:xfrm>
          <a:prstGeom prst="rect">
            <a:avLst/>
          </a:prstGeom>
          <a:noFill/>
          <a:ln/>
        </p:spPr>
        <p:txBody>
          <a:bodyPr wrap="square" lIns="0" tIns="0" rIns="0" bIns="0" rtlCol="0" anchor="ctr"/>
          <a:lstStyle/>
          <a:p>
            <a:pPr indent="0" marL="0">
              <a:buNone/>
            </a:pPr>
            <a:r>
              <a:rPr lang="en-US" sz="1000" b="1" spc="200" kern="0" dirty="0">
                <a:solidFill>
                  <a:srgbClr val="E05263"/>
                </a:solidFill>
              </a:rPr>
              <a:t>THE RESULT</a:t>
            </a:r>
            <a:endParaRPr lang="en-US" sz="1000" dirty="0"/>
          </a:p>
        </p:txBody>
      </p:sp>
      <p:sp>
        <p:nvSpPr>
          <p:cNvPr id="8" name="Text 6"/>
          <p:cNvSpPr txBox="1"/>
          <p:nvPr/>
        </p:nvSpPr>
        <p:spPr>
          <a:xfrm>
            <a:off x="7726680" y="1874520"/>
            <a:ext cx="338328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6.1×</a:t>
            </a:r>
            <a:endParaRPr lang="en-US" sz="6000" dirty="0"/>
          </a:p>
        </p:txBody>
      </p:sp>
      <p:sp>
        <p:nvSpPr>
          <p:cNvPr id="9" name="Text 7"/>
          <p:cNvSpPr txBox="1"/>
          <p:nvPr/>
        </p:nvSpPr>
        <p:spPr>
          <a:xfrm>
            <a:off x="7726680" y="2834640"/>
            <a:ext cx="3429000" cy="1005840"/>
          </a:xfrm>
          <a:prstGeom prst="rect">
            <a:avLst/>
          </a:prstGeom>
          <a:noFill/>
          <a:ln/>
        </p:spPr>
        <p:txBody>
          <a:bodyPr wrap="square" lIns="0" tIns="0" rIns="0" bIns="0" rtlCol="0" anchor="ctr"/>
          <a:lstStyle/>
          <a:p>
            <a:pPr indent="0" marL="0">
              <a:spcAft>
                <a:spcPts val="600"/>
              </a:spcAft>
              <a:buNone/>
            </a:pPr>
            <a:r>
              <a:rPr lang="en-US" sz="1250" dirty="0">
                <a:solidFill>
                  <a:srgbClr val="C9CBD4"/>
                </a:solidFill>
              </a:rPr>
              <a:t>Image kernel at β = 0.01, against 1.8× for the precision-only tuner.</a:t>
            </a:r>
            <a:endParaRPr lang="en-US" sz="1250" dirty="0"/>
          </a:p>
          <a:p>
            <a:pPr indent="0" marL="0">
              <a:spcAft>
                <a:spcPts val="600"/>
              </a:spcAft>
              <a:buNone/>
            </a:pPr>
            <a:r>
              <a:rPr lang="en-US" sz="1250" dirty="0">
                <a:solidFill>
                  <a:srgbClr val="C9CBD4"/>
                </a:solidFill>
              </a:rPr>
              <a:t>0 of 46,080 sampled runs exceeded their certified bound.</a:t>
            </a:r>
            <a:endParaRPr lang="en-US" sz="1250" dirty="0"/>
          </a:p>
        </p:txBody>
      </p:sp>
      <p:sp>
        <p:nvSpPr>
          <p:cNvPr id="10" name="Shape 8"/>
          <p:cNvSpPr/>
          <p:nvPr/>
        </p:nvSpPr>
        <p:spPr>
          <a:xfrm>
            <a:off x="822960" y="5440680"/>
            <a:ext cx="10543032" cy="0"/>
          </a:xfrm>
          <a:prstGeom prst="line">
            <a:avLst/>
          </a:prstGeom>
          <a:noFill/>
          <a:ln w="12700">
            <a:solidFill>
              <a:srgbClr val="3A3D46"/>
            </a:solidFill>
            <a:prstDash val="solid"/>
          </a:ln>
        </p:spPr>
      </p:sp>
      <p:sp>
        <p:nvSpPr>
          <p:cNvPr id="11" name="Text 9"/>
          <p:cNvSpPr txBox="1"/>
          <p:nvPr/>
        </p:nvSpPr>
        <p:spPr>
          <a:xfrm>
            <a:off x="822960" y="5623560"/>
            <a:ext cx="3383280" cy="274320"/>
          </a:xfrm>
          <a:prstGeom prst="rect">
            <a:avLst/>
          </a:prstGeom>
          <a:noFill/>
          <a:ln/>
        </p:spPr>
        <p:txBody>
          <a:bodyPr wrap="square" lIns="0" tIns="0" rIns="0" bIns="0" rtlCol="0" anchor="ctr"/>
          <a:lstStyle/>
          <a:p>
            <a:pPr indent="0" marL="0">
              <a:buNone/>
            </a:pPr>
            <a:r>
              <a:rPr lang="en-US" sz="1300" b="1" dirty="0">
                <a:solidFill>
                  <a:srgbClr val="FFFFFF"/>
                </a:solidFill>
              </a:rPr>
              <a:t>Anand B</a:t>
            </a:r>
            <a:endParaRPr lang="en-US" sz="1300" dirty="0"/>
          </a:p>
        </p:txBody>
      </p:sp>
      <p:sp>
        <p:nvSpPr>
          <p:cNvPr id="12" name="Text 10"/>
          <p:cNvSpPr txBox="1"/>
          <p:nvPr/>
        </p:nvSpPr>
        <p:spPr>
          <a:xfrm>
            <a:off x="822960" y="5897880"/>
            <a:ext cx="3383280" cy="256032"/>
          </a:xfrm>
          <a:prstGeom prst="rect">
            <a:avLst/>
          </a:prstGeom>
          <a:noFill/>
          <a:ln/>
        </p:spPr>
        <p:txBody>
          <a:bodyPr wrap="square" lIns="0" tIns="0" rIns="0" bIns="0" rtlCol="0" anchor="ctr"/>
          <a:lstStyle/>
          <a:p>
            <a:pPr indent="0" marL="0">
              <a:buNone/>
            </a:pPr>
            <a:r>
              <a:rPr lang="en-US" sz="1100" dirty="0">
                <a:solidFill>
                  <a:srgbClr val="E05263"/>
                </a:solidFill>
              </a:rPr>
              <a:t>24BCE2199</a:t>
            </a:r>
            <a:endParaRPr lang="en-US" sz="1100" dirty="0"/>
          </a:p>
        </p:txBody>
      </p:sp>
      <p:sp>
        <p:nvSpPr>
          <p:cNvPr id="13" name="Text 11"/>
          <p:cNvSpPr txBox="1"/>
          <p:nvPr/>
        </p:nvSpPr>
        <p:spPr>
          <a:xfrm>
            <a:off x="4389120" y="5623560"/>
            <a:ext cx="3383280" cy="274320"/>
          </a:xfrm>
          <a:prstGeom prst="rect">
            <a:avLst/>
          </a:prstGeom>
          <a:noFill/>
          <a:ln/>
        </p:spPr>
        <p:txBody>
          <a:bodyPr wrap="square" lIns="0" tIns="0" rIns="0" bIns="0" rtlCol="0" anchor="ctr"/>
          <a:lstStyle/>
          <a:p>
            <a:pPr indent="0" marL="0">
              <a:buNone/>
            </a:pPr>
            <a:r>
              <a:rPr lang="en-US" sz="1300" b="1" dirty="0">
                <a:solidFill>
                  <a:srgbClr val="FFFFFF"/>
                </a:solidFill>
              </a:rPr>
              <a:t>Sathguruvasan Arunothayan</a:t>
            </a:r>
            <a:endParaRPr lang="en-US" sz="1300" dirty="0"/>
          </a:p>
        </p:txBody>
      </p:sp>
      <p:sp>
        <p:nvSpPr>
          <p:cNvPr id="14" name="Text 12"/>
          <p:cNvSpPr txBox="1"/>
          <p:nvPr/>
        </p:nvSpPr>
        <p:spPr>
          <a:xfrm>
            <a:off x="4389120" y="5897880"/>
            <a:ext cx="3383280" cy="256032"/>
          </a:xfrm>
          <a:prstGeom prst="rect">
            <a:avLst/>
          </a:prstGeom>
          <a:noFill/>
          <a:ln/>
        </p:spPr>
        <p:txBody>
          <a:bodyPr wrap="square" lIns="0" tIns="0" rIns="0" bIns="0" rtlCol="0" anchor="ctr"/>
          <a:lstStyle/>
          <a:p>
            <a:pPr indent="0" marL="0">
              <a:buNone/>
            </a:pPr>
            <a:r>
              <a:rPr lang="en-US" sz="1100" dirty="0">
                <a:solidFill>
                  <a:srgbClr val="E05263"/>
                </a:solidFill>
              </a:rPr>
              <a:t>24BCE2231</a:t>
            </a:r>
            <a:endParaRPr lang="en-US" sz="1100" dirty="0"/>
          </a:p>
        </p:txBody>
      </p:sp>
      <p:sp>
        <p:nvSpPr>
          <p:cNvPr id="15" name="Text 13"/>
          <p:cNvSpPr txBox="1"/>
          <p:nvPr/>
        </p:nvSpPr>
        <p:spPr>
          <a:xfrm>
            <a:off x="7955280" y="5623560"/>
            <a:ext cx="3383280" cy="274320"/>
          </a:xfrm>
          <a:prstGeom prst="rect">
            <a:avLst/>
          </a:prstGeom>
          <a:noFill/>
          <a:ln/>
        </p:spPr>
        <p:txBody>
          <a:bodyPr wrap="square" lIns="0" tIns="0" rIns="0" bIns="0" rtlCol="0" anchor="ctr"/>
          <a:lstStyle/>
          <a:p>
            <a:pPr indent="0" marL="0">
              <a:buNone/>
            </a:pPr>
            <a:r>
              <a:rPr lang="en-US" sz="1300" b="1" dirty="0">
                <a:solidFill>
                  <a:srgbClr val="FFFFFF"/>
                </a:solidFill>
              </a:rPr>
              <a:t>Karthik Senthilkumar</a:t>
            </a:r>
            <a:endParaRPr lang="en-US" sz="1300" dirty="0"/>
          </a:p>
        </p:txBody>
      </p:sp>
      <p:sp>
        <p:nvSpPr>
          <p:cNvPr id="16" name="Text 14"/>
          <p:cNvSpPr txBox="1"/>
          <p:nvPr/>
        </p:nvSpPr>
        <p:spPr>
          <a:xfrm>
            <a:off x="7955280" y="5897880"/>
            <a:ext cx="3383280" cy="256032"/>
          </a:xfrm>
          <a:prstGeom prst="rect">
            <a:avLst/>
          </a:prstGeom>
          <a:noFill/>
          <a:ln/>
        </p:spPr>
        <p:txBody>
          <a:bodyPr wrap="square" lIns="0" tIns="0" rIns="0" bIns="0" rtlCol="0" anchor="ctr"/>
          <a:lstStyle/>
          <a:p>
            <a:pPr indent="0" marL="0">
              <a:buNone/>
            </a:pPr>
            <a:r>
              <a:rPr lang="en-US" sz="1100" dirty="0">
                <a:solidFill>
                  <a:srgbClr val="E05263"/>
                </a:solidFill>
              </a:rPr>
              <a:t>24BCE2205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02</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Agenda</a:t>
            </a:r>
            <a:endParaRPr lang="en-US" sz="2800" dirty="0"/>
          </a:p>
        </p:txBody>
      </p:sp>
      <p:sp>
        <p:nvSpPr>
          <p:cNvPr id="5" name="Text 3"/>
          <p:cNvSpPr txBox="1"/>
          <p:nvPr/>
        </p:nvSpPr>
        <p:spPr>
          <a:xfrm>
            <a:off x="822960" y="1417320"/>
            <a:ext cx="1463040" cy="457200"/>
          </a:xfrm>
          <a:prstGeom prst="rect">
            <a:avLst/>
          </a:prstGeom>
          <a:noFill/>
          <a:ln/>
        </p:spPr>
        <p:txBody>
          <a:bodyPr wrap="square" lIns="0" tIns="0" rIns="0" bIns="0" rtlCol="0" anchor="ctr"/>
          <a:lstStyle/>
          <a:p>
            <a:pPr indent="0" marL="0">
              <a:buNone/>
            </a:pPr>
            <a:r>
              <a:rPr lang="en-US" sz="2200" b="1" dirty="0">
                <a:solidFill>
                  <a:srgbClr val="990011"/>
                </a:solidFill>
                <a:latin typeface="Cambria" pitchFamily="34" charset="0"/>
                <a:ea typeface="Cambria" pitchFamily="34" charset="-122"/>
                <a:cs typeface="Cambria" pitchFamily="34" charset="-120"/>
              </a:rPr>
              <a:t>03 – 05</a:t>
            </a:r>
            <a:endParaRPr lang="en-US" sz="2200" dirty="0"/>
          </a:p>
        </p:txBody>
      </p:sp>
      <p:sp>
        <p:nvSpPr>
          <p:cNvPr id="6" name="Text 4"/>
          <p:cNvSpPr txBox="1"/>
          <p:nvPr/>
        </p:nvSpPr>
        <p:spPr>
          <a:xfrm>
            <a:off x="2560320" y="1417320"/>
            <a:ext cx="3840480" cy="457200"/>
          </a:xfrm>
          <a:prstGeom prst="rect">
            <a:avLst/>
          </a:prstGeom>
          <a:noFill/>
          <a:ln/>
        </p:spPr>
        <p:txBody>
          <a:bodyPr wrap="square" lIns="0" tIns="0" rIns="0" bIns="0" rtlCol="0" anchor="ctr"/>
          <a:lstStyle/>
          <a:p>
            <a:pPr indent="0" marL="0">
              <a:buNone/>
            </a:pPr>
            <a:r>
              <a:rPr lang="en-US" sz="2000" b="1" dirty="0">
                <a:solidFill>
                  <a:srgbClr val="1C1C22"/>
                </a:solidFill>
                <a:latin typeface="Cambria" pitchFamily="34" charset="0"/>
                <a:ea typeface="Cambria" pitchFamily="34" charset="-122"/>
                <a:cs typeface="Cambria" pitchFamily="34" charset="-120"/>
              </a:rPr>
              <a:t>The Promise, Kept</a:t>
            </a:r>
            <a:endParaRPr lang="en-US" sz="2000" dirty="0"/>
          </a:p>
        </p:txBody>
      </p:sp>
      <p:sp>
        <p:nvSpPr>
          <p:cNvPr id="7" name="Text 5"/>
          <p:cNvSpPr txBox="1"/>
          <p:nvPr/>
        </p:nvSpPr>
        <p:spPr>
          <a:xfrm>
            <a:off x="6492240" y="1453896"/>
            <a:ext cx="4846320" cy="457200"/>
          </a:xfrm>
          <a:prstGeom prst="rect">
            <a:avLst/>
          </a:prstGeom>
          <a:noFill/>
          <a:ln/>
        </p:spPr>
        <p:txBody>
          <a:bodyPr wrap="square" lIns="0" tIns="0" rIns="0" bIns="0" rtlCol="0" anchor="ctr"/>
          <a:lstStyle/>
          <a:p>
            <a:pPr indent="0" marL="0">
              <a:buNone/>
            </a:pPr>
            <a:r>
              <a:rPr lang="en-US" sz="1400" dirty="0">
                <a:solidFill>
                  <a:srgbClr val="6E7079"/>
                </a:solidFill>
              </a:rPr>
              <a:t>What Review 1 asked for and how each objective closed</a:t>
            </a:r>
            <a:endParaRPr lang="en-US" sz="1400" dirty="0"/>
          </a:p>
        </p:txBody>
      </p:sp>
      <p:sp>
        <p:nvSpPr>
          <p:cNvPr id="8" name="Shape 6"/>
          <p:cNvSpPr/>
          <p:nvPr/>
        </p:nvSpPr>
        <p:spPr>
          <a:xfrm>
            <a:off x="822960" y="2130552"/>
            <a:ext cx="10543032" cy="0"/>
          </a:xfrm>
          <a:prstGeom prst="line">
            <a:avLst/>
          </a:prstGeom>
          <a:noFill/>
          <a:ln w="9525">
            <a:solidFill>
              <a:srgbClr val="DCDCE2"/>
            </a:solidFill>
            <a:prstDash val="solid"/>
          </a:ln>
        </p:spPr>
      </p:sp>
      <p:sp>
        <p:nvSpPr>
          <p:cNvPr id="9" name="Text 7"/>
          <p:cNvSpPr txBox="1"/>
          <p:nvPr/>
        </p:nvSpPr>
        <p:spPr>
          <a:xfrm>
            <a:off x="822960" y="2331720"/>
            <a:ext cx="1463040" cy="457200"/>
          </a:xfrm>
          <a:prstGeom prst="rect">
            <a:avLst/>
          </a:prstGeom>
          <a:noFill/>
          <a:ln/>
        </p:spPr>
        <p:txBody>
          <a:bodyPr wrap="square" lIns="0" tIns="0" rIns="0" bIns="0" rtlCol="0" anchor="ctr"/>
          <a:lstStyle/>
          <a:p>
            <a:pPr indent="0" marL="0">
              <a:buNone/>
            </a:pPr>
            <a:r>
              <a:rPr lang="en-US" sz="2200" b="1" dirty="0">
                <a:solidFill>
                  <a:srgbClr val="990011"/>
                </a:solidFill>
                <a:latin typeface="Cambria" pitchFamily="34" charset="0"/>
                <a:ea typeface="Cambria" pitchFamily="34" charset="-122"/>
                <a:cs typeface="Cambria" pitchFamily="34" charset="-120"/>
              </a:rPr>
              <a:t>06 – 11</a:t>
            </a:r>
            <a:endParaRPr lang="en-US" sz="2200" dirty="0"/>
          </a:p>
        </p:txBody>
      </p:sp>
      <p:sp>
        <p:nvSpPr>
          <p:cNvPr id="10" name="Text 8"/>
          <p:cNvSpPr txBox="1"/>
          <p:nvPr/>
        </p:nvSpPr>
        <p:spPr>
          <a:xfrm>
            <a:off x="2560320" y="2331720"/>
            <a:ext cx="3840480" cy="457200"/>
          </a:xfrm>
          <a:prstGeom prst="rect">
            <a:avLst/>
          </a:prstGeom>
          <a:noFill/>
          <a:ln/>
        </p:spPr>
        <p:txBody>
          <a:bodyPr wrap="square" lIns="0" tIns="0" rIns="0" bIns="0" rtlCol="0" anchor="ctr"/>
          <a:lstStyle/>
          <a:p>
            <a:pPr indent="0" marL="0">
              <a:buNone/>
            </a:pPr>
            <a:r>
              <a:rPr lang="en-US" sz="2000" b="1" dirty="0">
                <a:solidFill>
                  <a:srgbClr val="1C1C22"/>
                </a:solidFill>
                <a:latin typeface="Cambria" pitchFamily="34" charset="0"/>
                <a:ea typeface="Cambria" pitchFamily="34" charset="-122"/>
                <a:cs typeface="Cambria" pitchFamily="34" charset="-120"/>
              </a:rPr>
              <a:t>The System as Built</a:t>
            </a:r>
            <a:endParaRPr lang="en-US" sz="2000" dirty="0"/>
          </a:p>
        </p:txBody>
      </p:sp>
      <p:sp>
        <p:nvSpPr>
          <p:cNvPr id="11" name="Text 9"/>
          <p:cNvSpPr txBox="1"/>
          <p:nvPr/>
        </p:nvSpPr>
        <p:spPr>
          <a:xfrm>
            <a:off x="6492240" y="2368296"/>
            <a:ext cx="4846320" cy="457200"/>
          </a:xfrm>
          <a:prstGeom prst="rect">
            <a:avLst/>
          </a:prstGeom>
          <a:noFill/>
          <a:ln/>
        </p:spPr>
        <p:txBody>
          <a:bodyPr wrap="square" lIns="0" tIns="0" rIns="0" bIns="0" rtlCol="0" anchor="ctr"/>
          <a:lstStyle/>
          <a:p>
            <a:pPr indent="0" marL="0">
              <a:buNone/>
            </a:pPr>
            <a:r>
              <a:rPr lang="en-US" sz="1400" dirty="0">
                <a:solidFill>
                  <a:srgbClr val="6E7079"/>
                </a:solidFill>
              </a:rPr>
              <a:t>Language, SSA IR, error engine, four levers, allocator, code generation</a:t>
            </a:r>
            <a:endParaRPr lang="en-US" sz="1400" dirty="0"/>
          </a:p>
        </p:txBody>
      </p:sp>
      <p:sp>
        <p:nvSpPr>
          <p:cNvPr id="12" name="Shape 10"/>
          <p:cNvSpPr/>
          <p:nvPr/>
        </p:nvSpPr>
        <p:spPr>
          <a:xfrm>
            <a:off x="822960" y="3044952"/>
            <a:ext cx="10543032" cy="0"/>
          </a:xfrm>
          <a:prstGeom prst="line">
            <a:avLst/>
          </a:prstGeom>
          <a:noFill/>
          <a:ln w="9525">
            <a:solidFill>
              <a:srgbClr val="DCDCE2"/>
            </a:solidFill>
            <a:prstDash val="solid"/>
          </a:ln>
        </p:spPr>
      </p:sp>
      <p:sp>
        <p:nvSpPr>
          <p:cNvPr id="13" name="Text 11"/>
          <p:cNvSpPr txBox="1"/>
          <p:nvPr/>
        </p:nvSpPr>
        <p:spPr>
          <a:xfrm>
            <a:off x="822960" y="3246120"/>
            <a:ext cx="1463040" cy="457200"/>
          </a:xfrm>
          <a:prstGeom prst="rect">
            <a:avLst/>
          </a:prstGeom>
          <a:noFill/>
          <a:ln/>
        </p:spPr>
        <p:txBody>
          <a:bodyPr wrap="square" lIns="0" tIns="0" rIns="0" bIns="0" rtlCol="0" anchor="ctr"/>
          <a:lstStyle/>
          <a:p>
            <a:pPr indent="0" marL="0">
              <a:buNone/>
            </a:pPr>
            <a:r>
              <a:rPr lang="en-US" sz="2200" b="1" dirty="0">
                <a:solidFill>
                  <a:srgbClr val="990011"/>
                </a:solidFill>
                <a:latin typeface="Cambria" pitchFamily="34" charset="0"/>
                <a:ea typeface="Cambria" pitchFamily="34" charset="-122"/>
                <a:cs typeface="Cambria" pitchFamily="34" charset="-120"/>
              </a:rPr>
              <a:t>12 – 16</a:t>
            </a:r>
            <a:endParaRPr lang="en-US" sz="2200" dirty="0"/>
          </a:p>
        </p:txBody>
      </p:sp>
      <p:sp>
        <p:nvSpPr>
          <p:cNvPr id="14" name="Text 12"/>
          <p:cNvSpPr txBox="1"/>
          <p:nvPr/>
        </p:nvSpPr>
        <p:spPr>
          <a:xfrm>
            <a:off x="2560320" y="3246120"/>
            <a:ext cx="3840480" cy="457200"/>
          </a:xfrm>
          <a:prstGeom prst="rect">
            <a:avLst/>
          </a:prstGeom>
          <a:noFill/>
          <a:ln/>
        </p:spPr>
        <p:txBody>
          <a:bodyPr wrap="square" lIns="0" tIns="0" rIns="0" bIns="0" rtlCol="0" anchor="ctr"/>
          <a:lstStyle/>
          <a:p>
            <a:pPr indent="0" marL="0">
              <a:buNone/>
            </a:pPr>
            <a:r>
              <a:rPr lang="en-US" sz="2000" b="1" dirty="0">
                <a:solidFill>
                  <a:srgbClr val="1C1C22"/>
                </a:solidFill>
                <a:latin typeface="Cambria" pitchFamily="34" charset="0"/>
                <a:ea typeface="Cambria" pitchFamily="34" charset="-122"/>
                <a:cs typeface="Cambria" pitchFamily="34" charset="-120"/>
              </a:rPr>
              <a:t>The Results</a:t>
            </a:r>
            <a:endParaRPr lang="en-US" sz="2000" dirty="0"/>
          </a:p>
        </p:txBody>
      </p:sp>
      <p:sp>
        <p:nvSpPr>
          <p:cNvPr id="15" name="Text 13"/>
          <p:cNvSpPr txBox="1"/>
          <p:nvPr/>
        </p:nvSpPr>
        <p:spPr>
          <a:xfrm>
            <a:off x="6492240" y="3282696"/>
            <a:ext cx="4846320" cy="457200"/>
          </a:xfrm>
          <a:prstGeom prst="rect">
            <a:avLst/>
          </a:prstGeom>
          <a:noFill/>
          <a:ln/>
        </p:spPr>
        <p:txBody>
          <a:bodyPr wrap="square" lIns="0" tIns="0" rIns="0" bIns="0" rtlCol="0" anchor="ctr"/>
          <a:lstStyle/>
          <a:p>
            <a:pPr indent="0" marL="0">
              <a:buNone/>
            </a:pPr>
            <a:r>
              <a:rPr lang="en-US" sz="1400" dirty="0">
                <a:solidFill>
                  <a:srgbClr val="6E7079"/>
                </a:solidFill>
              </a:rPr>
              <a:t>Six benchmarks, the soundness figure, Pareto curves, native timings</a:t>
            </a:r>
            <a:endParaRPr lang="en-US" sz="1400" dirty="0"/>
          </a:p>
        </p:txBody>
      </p:sp>
      <p:sp>
        <p:nvSpPr>
          <p:cNvPr id="16" name="Shape 14"/>
          <p:cNvSpPr/>
          <p:nvPr/>
        </p:nvSpPr>
        <p:spPr>
          <a:xfrm>
            <a:off x="822960" y="3959352"/>
            <a:ext cx="10543032" cy="0"/>
          </a:xfrm>
          <a:prstGeom prst="line">
            <a:avLst/>
          </a:prstGeom>
          <a:noFill/>
          <a:ln w="9525">
            <a:solidFill>
              <a:srgbClr val="DCDCE2"/>
            </a:solidFill>
            <a:prstDash val="solid"/>
          </a:ln>
        </p:spPr>
      </p:sp>
      <p:sp>
        <p:nvSpPr>
          <p:cNvPr id="17" name="Text 15"/>
          <p:cNvSpPr txBox="1"/>
          <p:nvPr/>
        </p:nvSpPr>
        <p:spPr>
          <a:xfrm>
            <a:off x="822960" y="4160520"/>
            <a:ext cx="1463040" cy="457200"/>
          </a:xfrm>
          <a:prstGeom prst="rect">
            <a:avLst/>
          </a:prstGeom>
          <a:noFill/>
          <a:ln/>
        </p:spPr>
        <p:txBody>
          <a:bodyPr wrap="square" lIns="0" tIns="0" rIns="0" bIns="0" rtlCol="0" anchor="ctr"/>
          <a:lstStyle/>
          <a:p>
            <a:pPr indent="0" marL="0">
              <a:buNone/>
            </a:pPr>
            <a:r>
              <a:rPr lang="en-US" sz="2200" b="1" dirty="0">
                <a:solidFill>
                  <a:srgbClr val="990011"/>
                </a:solidFill>
                <a:latin typeface="Cambria" pitchFamily="34" charset="0"/>
                <a:ea typeface="Cambria" pitchFamily="34" charset="-122"/>
                <a:cs typeface="Cambria" pitchFamily="34" charset="-120"/>
              </a:rPr>
              <a:t>17 – 18</a:t>
            </a:r>
            <a:endParaRPr lang="en-US" sz="2200" dirty="0"/>
          </a:p>
        </p:txBody>
      </p:sp>
      <p:sp>
        <p:nvSpPr>
          <p:cNvPr id="18" name="Text 16"/>
          <p:cNvSpPr txBox="1"/>
          <p:nvPr/>
        </p:nvSpPr>
        <p:spPr>
          <a:xfrm>
            <a:off x="2560320" y="4160520"/>
            <a:ext cx="3840480" cy="457200"/>
          </a:xfrm>
          <a:prstGeom prst="rect">
            <a:avLst/>
          </a:prstGeom>
          <a:noFill/>
          <a:ln/>
        </p:spPr>
        <p:txBody>
          <a:bodyPr wrap="square" lIns="0" tIns="0" rIns="0" bIns="0" rtlCol="0" anchor="ctr"/>
          <a:lstStyle/>
          <a:p>
            <a:pPr indent="0" marL="0">
              <a:buNone/>
            </a:pPr>
            <a:r>
              <a:rPr lang="en-US" sz="2000" b="1" dirty="0">
                <a:solidFill>
                  <a:srgbClr val="1C1C22"/>
                </a:solidFill>
                <a:latin typeface="Cambria" pitchFamily="34" charset="0"/>
                <a:ea typeface="Cambria" pitchFamily="34" charset="-122"/>
                <a:cs typeface="Cambria" pitchFamily="34" charset="-120"/>
              </a:rPr>
              <a:t>Risks and Limits</a:t>
            </a:r>
            <a:endParaRPr lang="en-US" sz="2000" dirty="0"/>
          </a:p>
        </p:txBody>
      </p:sp>
      <p:sp>
        <p:nvSpPr>
          <p:cNvPr id="19" name="Text 17"/>
          <p:cNvSpPr txBox="1"/>
          <p:nvPr/>
        </p:nvSpPr>
        <p:spPr>
          <a:xfrm>
            <a:off x="6492240" y="4197096"/>
            <a:ext cx="4846320" cy="457200"/>
          </a:xfrm>
          <a:prstGeom prst="rect">
            <a:avLst/>
          </a:prstGeom>
          <a:noFill/>
          <a:ln/>
        </p:spPr>
        <p:txBody>
          <a:bodyPr wrap="square" lIns="0" tIns="0" rIns="0" bIns="0" rtlCol="0" anchor="ctr"/>
          <a:lstStyle/>
          <a:p>
            <a:pPr indent="0" marL="0">
              <a:buNone/>
            </a:pPr>
            <a:r>
              <a:rPr lang="en-US" sz="1400" dirty="0">
                <a:solidFill>
                  <a:srgbClr val="6E7079"/>
                </a:solidFill>
              </a:rPr>
              <a:t>Which predicted risks materialised, and what we learned</a:t>
            </a:r>
            <a:endParaRPr lang="en-US" sz="1400" dirty="0"/>
          </a:p>
        </p:txBody>
      </p:sp>
      <p:sp>
        <p:nvSpPr>
          <p:cNvPr id="20" name="Shape 18"/>
          <p:cNvSpPr/>
          <p:nvPr/>
        </p:nvSpPr>
        <p:spPr>
          <a:xfrm>
            <a:off x="822960" y="4873752"/>
            <a:ext cx="10543032" cy="0"/>
          </a:xfrm>
          <a:prstGeom prst="line">
            <a:avLst/>
          </a:prstGeom>
          <a:noFill/>
          <a:ln w="9525">
            <a:solidFill>
              <a:srgbClr val="DCDCE2"/>
            </a:solidFill>
            <a:prstDash val="solid"/>
          </a:ln>
        </p:spPr>
      </p:sp>
      <p:sp>
        <p:nvSpPr>
          <p:cNvPr id="21" name="Text 19"/>
          <p:cNvSpPr txBox="1"/>
          <p:nvPr/>
        </p:nvSpPr>
        <p:spPr>
          <a:xfrm>
            <a:off x="822960" y="5074920"/>
            <a:ext cx="1463040" cy="457200"/>
          </a:xfrm>
          <a:prstGeom prst="rect">
            <a:avLst/>
          </a:prstGeom>
          <a:noFill/>
          <a:ln/>
        </p:spPr>
        <p:txBody>
          <a:bodyPr wrap="square" lIns="0" tIns="0" rIns="0" bIns="0" rtlCol="0" anchor="ctr"/>
          <a:lstStyle/>
          <a:p>
            <a:pPr indent="0" marL="0">
              <a:buNone/>
            </a:pPr>
            <a:r>
              <a:rPr lang="en-US" sz="2200" b="1" dirty="0">
                <a:solidFill>
                  <a:srgbClr val="990011"/>
                </a:solidFill>
                <a:latin typeface="Cambria" pitchFamily="34" charset="0"/>
                <a:ea typeface="Cambria" pitchFamily="34" charset="-122"/>
                <a:cs typeface="Cambria" pitchFamily="34" charset="-120"/>
              </a:rPr>
              <a:t>19 – 21</a:t>
            </a:r>
            <a:endParaRPr lang="en-US" sz="2200" dirty="0"/>
          </a:p>
        </p:txBody>
      </p:sp>
      <p:sp>
        <p:nvSpPr>
          <p:cNvPr id="22" name="Text 20"/>
          <p:cNvSpPr txBox="1"/>
          <p:nvPr/>
        </p:nvSpPr>
        <p:spPr>
          <a:xfrm>
            <a:off x="2560320" y="5074920"/>
            <a:ext cx="3840480" cy="457200"/>
          </a:xfrm>
          <a:prstGeom prst="rect">
            <a:avLst/>
          </a:prstGeom>
          <a:noFill/>
          <a:ln/>
        </p:spPr>
        <p:txBody>
          <a:bodyPr wrap="square" lIns="0" tIns="0" rIns="0" bIns="0" rtlCol="0" anchor="ctr"/>
          <a:lstStyle/>
          <a:p>
            <a:pPr indent="0" marL="0">
              <a:buNone/>
            </a:pPr>
            <a:r>
              <a:rPr lang="en-US" sz="2000" b="1" dirty="0">
                <a:solidFill>
                  <a:srgbClr val="1C1C22"/>
                </a:solidFill>
                <a:latin typeface="Cambria" pitchFamily="34" charset="0"/>
                <a:ea typeface="Cambria" pitchFamily="34" charset="-122"/>
                <a:cs typeface="Cambria" pitchFamily="34" charset="-120"/>
              </a:rPr>
              <a:t>Demo and Close</a:t>
            </a:r>
            <a:endParaRPr lang="en-US" sz="2000" dirty="0"/>
          </a:p>
        </p:txBody>
      </p:sp>
      <p:sp>
        <p:nvSpPr>
          <p:cNvPr id="23" name="Text 21"/>
          <p:cNvSpPr txBox="1"/>
          <p:nvPr/>
        </p:nvSpPr>
        <p:spPr>
          <a:xfrm>
            <a:off x="6492240" y="5111496"/>
            <a:ext cx="4846320" cy="457200"/>
          </a:xfrm>
          <a:prstGeom prst="rect">
            <a:avLst/>
          </a:prstGeom>
          <a:noFill/>
          <a:ln/>
        </p:spPr>
        <p:txBody>
          <a:bodyPr wrap="square" lIns="0" tIns="0" rIns="0" bIns="0" rtlCol="0" anchor="ctr"/>
          <a:lstStyle/>
          <a:p>
            <a:pPr indent="0" marL="0">
              <a:buNone/>
            </a:pPr>
            <a:r>
              <a:rPr lang="en-US" sz="1400" dirty="0">
                <a:solidFill>
                  <a:srgbClr val="6E7079"/>
                </a:solidFill>
              </a:rPr>
              <a:t>The working frontend, how to run it, conclusion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03</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In One Sentence</a:t>
            </a:r>
            <a:endParaRPr lang="en-US" sz="2800" dirty="0"/>
          </a:p>
        </p:txBody>
      </p:sp>
      <p:sp>
        <p:nvSpPr>
          <p:cNvPr id="5" name="Text 3"/>
          <p:cNvSpPr txBox="1"/>
          <p:nvPr/>
        </p:nvSpPr>
        <p:spPr>
          <a:xfrm>
            <a:off x="1298448" y="1600200"/>
            <a:ext cx="9601200" cy="1920240"/>
          </a:xfrm>
          <a:prstGeom prst="rect">
            <a:avLst/>
          </a:prstGeom>
          <a:noFill/>
          <a:ln/>
        </p:spPr>
        <p:txBody>
          <a:bodyPr wrap="square" lIns="0" tIns="0" rIns="0" bIns="0" rtlCol="0" anchor="ctr"/>
          <a:lstStyle/>
          <a:p>
            <a:pPr indent="0" marL="0">
              <a:lnSpc>
                <a:spcPts val="4600"/>
              </a:lnSpc>
              <a:buNone/>
            </a:pPr>
            <a:r>
              <a:rPr lang="en-US" sz="3200" b="1" dirty="0">
                <a:solidFill>
                  <a:srgbClr val="FFFFFF"/>
                </a:solidFill>
                <a:latin typeface="Cambria" pitchFamily="34" charset="0"/>
                <a:ea typeface="Cambria" pitchFamily="34" charset="-122"/>
                <a:cs typeface="Cambria" pitchFamily="34" charset="-120"/>
              </a:rPr>
              <a:t>Declare how wrong the answer may be.</a:t>
            </a:r>
            <a:endParaRPr lang="en-US" sz="3200" dirty="0"/>
          </a:p>
          <a:p>
            <a:pPr indent="0" marL="0">
              <a:lnSpc>
                <a:spcPts val="4600"/>
              </a:lnSpc>
              <a:buNone/>
            </a:pPr>
            <a:r>
              <a:rPr lang="en-US" sz="3200" b="1" dirty="0">
                <a:solidFill>
                  <a:srgbClr val="FFFFFF"/>
                </a:solidFill>
                <a:latin typeface="Cambria" pitchFamily="34" charset="0"/>
                <a:ea typeface="Cambria" pitchFamily="34" charset="-122"/>
                <a:cs typeface="Cambria" pitchFamily="34" charset="-120"/>
              </a:rPr>
              <a:t>The compiler returns the fastest program</a:t>
            </a:r>
            <a:endParaRPr lang="en-US" sz="3200" dirty="0"/>
          </a:p>
          <a:p>
            <a:pPr indent="0" marL="0">
              <a:lnSpc>
                <a:spcPts val="4600"/>
              </a:lnSpc>
              <a:buNone/>
            </a:pPr>
            <a:r>
              <a:rPr lang="en-US" sz="3200" b="1" dirty="0">
                <a:solidFill>
                  <a:srgbClr val="FFFFFF"/>
                </a:solidFill>
                <a:latin typeface="Cambria" pitchFamily="34" charset="0"/>
                <a:ea typeface="Cambria" pitchFamily="34" charset="-122"/>
                <a:cs typeface="Cambria" pitchFamily="34" charset="-120"/>
              </a:rPr>
              <a:t>it can prove stays inside that limit.</a:t>
            </a:r>
            <a:endParaRPr lang="en-US" sz="3200" dirty="0"/>
          </a:p>
        </p:txBody>
      </p:sp>
      <p:sp>
        <p:nvSpPr>
          <p:cNvPr id="6" name="Text 4"/>
          <p:cNvSpPr txBox="1"/>
          <p:nvPr/>
        </p:nvSpPr>
        <p:spPr>
          <a:xfrm>
            <a:off x="1298448" y="4069080"/>
            <a:ext cx="3108960" cy="685800"/>
          </a:xfrm>
          <a:prstGeom prst="rect">
            <a:avLst/>
          </a:prstGeom>
          <a:noFill/>
          <a:ln/>
        </p:spPr>
        <p:txBody>
          <a:bodyPr wrap="square" lIns="0" tIns="0" rIns="0" bIns="0" rtlCol="0" anchor="ctr"/>
          <a:lstStyle/>
          <a:p>
            <a:pPr indent="0" marL="0">
              <a:buNone/>
            </a:pPr>
            <a:r>
              <a:rPr lang="en-US" sz="3600" b="1" dirty="0">
                <a:solidFill>
                  <a:srgbClr val="E05263"/>
                </a:solidFill>
                <a:latin typeface="Cambria" pitchFamily="34" charset="0"/>
                <a:ea typeface="Cambria" pitchFamily="34" charset="-122"/>
                <a:cs typeface="Cambria" pitchFamily="34" charset="-120"/>
              </a:rPr>
              <a:t>46,080</a:t>
            </a:r>
            <a:endParaRPr lang="en-US" sz="3600" dirty="0"/>
          </a:p>
        </p:txBody>
      </p:sp>
      <p:sp>
        <p:nvSpPr>
          <p:cNvPr id="7" name="Text 5"/>
          <p:cNvSpPr txBox="1"/>
          <p:nvPr/>
        </p:nvSpPr>
        <p:spPr>
          <a:xfrm>
            <a:off x="1298448" y="4754880"/>
            <a:ext cx="3017520" cy="640080"/>
          </a:xfrm>
          <a:prstGeom prst="rect">
            <a:avLst/>
          </a:prstGeom>
          <a:noFill/>
          <a:ln/>
        </p:spPr>
        <p:txBody>
          <a:bodyPr wrap="square" lIns="0" tIns="0" rIns="0" bIns="0" rtlCol="0" anchor="ctr"/>
          <a:lstStyle/>
          <a:p>
            <a:pPr indent="0" marL="0">
              <a:buNone/>
            </a:pPr>
            <a:r>
              <a:rPr lang="en-US" sz="1300" dirty="0">
                <a:solidFill>
                  <a:srgbClr val="C9CBD4"/>
                </a:solidFill>
              </a:rPr>
              <a:t>sampled executions checked against their certified bound</a:t>
            </a:r>
            <a:endParaRPr lang="en-US" sz="1300" dirty="0"/>
          </a:p>
        </p:txBody>
      </p:sp>
      <p:sp>
        <p:nvSpPr>
          <p:cNvPr id="8" name="Text 6"/>
          <p:cNvSpPr txBox="1"/>
          <p:nvPr/>
        </p:nvSpPr>
        <p:spPr>
          <a:xfrm>
            <a:off x="4727448" y="4069080"/>
            <a:ext cx="3108960" cy="685800"/>
          </a:xfrm>
          <a:prstGeom prst="rect">
            <a:avLst/>
          </a:prstGeom>
          <a:noFill/>
          <a:ln/>
        </p:spPr>
        <p:txBody>
          <a:bodyPr wrap="square" lIns="0" tIns="0" rIns="0" bIns="0" rtlCol="0" anchor="ctr"/>
          <a:lstStyle/>
          <a:p>
            <a:pPr indent="0" marL="0">
              <a:buNone/>
            </a:pPr>
            <a:r>
              <a:rPr lang="en-US" sz="3600" b="1" dirty="0">
                <a:solidFill>
                  <a:srgbClr val="E05263"/>
                </a:solidFill>
                <a:latin typeface="Cambria" pitchFamily="34" charset="0"/>
                <a:ea typeface="Cambria" pitchFamily="34" charset="-122"/>
                <a:cs typeface="Cambria" pitchFamily="34" charset="-120"/>
              </a:rPr>
              <a:t>0</a:t>
            </a:r>
            <a:endParaRPr lang="en-US" sz="3600" dirty="0"/>
          </a:p>
        </p:txBody>
      </p:sp>
      <p:sp>
        <p:nvSpPr>
          <p:cNvPr id="9" name="Text 7"/>
          <p:cNvSpPr txBox="1"/>
          <p:nvPr/>
        </p:nvSpPr>
        <p:spPr>
          <a:xfrm>
            <a:off x="4727448" y="4754880"/>
            <a:ext cx="3017520" cy="640080"/>
          </a:xfrm>
          <a:prstGeom prst="rect">
            <a:avLst/>
          </a:prstGeom>
          <a:noFill/>
          <a:ln/>
        </p:spPr>
        <p:txBody>
          <a:bodyPr wrap="square" lIns="0" tIns="0" rIns="0" bIns="0" rtlCol="0" anchor="ctr"/>
          <a:lstStyle/>
          <a:p>
            <a:pPr indent="0" marL="0">
              <a:buNone/>
            </a:pPr>
            <a:r>
              <a:rPr lang="en-US" sz="1300" dirty="0">
                <a:solidFill>
                  <a:srgbClr val="C9CBD4"/>
                </a:solidFill>
              </a:rPr>
              <a:t>violations: no measured error ever exceeded its proof</a:t>
            </a:r>
            <a:endParaRPr lang="en-US" sz="1300" dirty="0"/>
          </a:p>
        </p:txBody>
      </p:sp>
      <p:sp>
        <p:nvSpPr>
          <p:cNvPr id="10" name="Text 8"/>
          <p:cNvSpPr txBox="1"/>
          <p:nvPr/>
        </p:nvSpPr>
        <p:spPr>
          <a:xfrm>
            <a:off x="8156448" y="4069080"/>
            <a:ext cx="3108960" cy="685800"/>
          </a:xfrm>
          <a:prstGeom prst="rect">
            <a:avLst/>
          </a:prstGeom>
          <a:noFill/>
          <a:ln/>
        </p:spPr>
        <p:txBody>
          <a:bodyPr wrap="square" lIns="0" tIns="0" rIns="0" bIns="0" rtlCol="0" anchor="ctr"/>
          <a:lstStyle/>
          <a:p>
            <a:pPr indent="0" marL="0">
              <a:buNone/>
            </a:pPr>
            <a:r>
              <a:rPr lang="en-US" sz="3600" b="1" dirty="0">
                <a:solidFill>
                  <a:srgbClr val="E05263"/>
                </a:solidFill>
                <a:latin typeface="Cambria" pitchFamily="34" charset="0"/>
                <a:ea typeface="Cambria" pitchFamily="34" charset="-122"/>
                <a:cs typeface="Cambria" pitchFamily="34" charset="-120"/>
              </a:rPr>
              <a:t>6 / 6</a:t>
            </a:r>
            <a:endParaRPr lang="en-US" sz="3600" dirty="0"/>
          </a:p>
        </p:txBody>
      </p:sp>
      <p:sp>
        <p:nvSpPr>
          <p:cNvPr id="11" name="Text 9"/>
          <p:cNvSpPr txBox="1"/>
          <p:nvPr/>
        </p:nvSpPr>
        <p:spPr>
          <a:xfrm>
            <a:off x="8156448" y="4754880"/>
            <a:ext cx="3017520" cy="640080"/>
          </a:xfrm>
          <a:prstGeom prst="rect">
            <a:avLst/>
          </a:prstGeom>
          <a:noFill/>
          <a:ln/>
        </p:spPr>
        <p:txBody>
          <a:bodyPr wrap="square" lIns="0" tIns="0" rIns="0" bIns="0" rtlCol="0" anchor="ctr"/>
          <a:lstStyle/>
          <a:p>
            <a:pPr indent="0" marL="0">
              <a:buNone/>
            </a:pPr>
            <a:r>
              <a:rPr lang="en-US" sz="1300" dirty="0">
                <a:solidFill>
                  <a:srgbClr val="C9CBD4"/>
                </a:solidFill>
              </a:rPr>
              <a:t>kernels whose emitted C reproduces the interpreter bit for bit</a:t>
            </a:r>
            <a:endParaRPr lang="en-US" sz="1300" dirty="0"/>
          </a:p>
        </p:txBody>
      </p:sp>
      <p:sp>
        <p:nvSpPr>
          <p:cNvPr id="12" name="Text 10"/>
          <p:cNvSpPr txBox="1"/>
          <p:nvPr/>
        </p:nvSpPr>
        <p:spPr>
          <a:xfrm>
            <a:off x="1298448" y="5897880"/>
            <a:ext cx="9601200" cy="365760"/>
          </a:xfrm>
          <a:prstGeom prst="rect">
            <a:avLst/>
          </a:prstGeom>
          <a:noFill/>
          <a:ln/>
        </p:spPr>
        <p:txBody>
          <a:bodyPr wrap="square" lIns="0" tIns="0" rIns="0" bIns="0" rtlCol="0" anchor="ctr"/>
          <a:lstStyle/>
          <a:p>
            <a:pPr indent="0" marL="0">
              <a:buNone/>
            </a:pPr>
            <a:r>
              <a:rPr lang="en-US" sz="1300" i="1" dirty="0">
                <a:solidFill>
                  <a:srgbClr val="9A9CA6"/>
                </a:solidFill>
              </a:rPr>
              <a:t>At Review 1 this was a promise. It is now a working compiler with a frontend.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04</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The Empty Corner, Filled</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Review 1 placed every prior system on two axes. Here is where the built compiler lands.</a:t>
            </a:r>
            <a:endParaRPr lang="en-US" sz="1300" dirty="0"/>
          </a:p>
        </p:txBody>
      </p:sp>
      <p:sp>
        <p:nvSpPr>
          <p:cNvPr id="6" name="Shape 4"/>
          <p:cNvSpPr/>
          <p:nvPr/>
        </p:nvSpPr>
        <p:spPr>
          <a:xfrm>
            <a:off x="1463040" y="1920240"/>
            <a:ext cx="0" cy="3794760"/>
          </a:xfrm>
          <a:prstGeom prst="line">
            <a:avLst/>
          </a:prstGeom>
          <a:noFill/>
          <a:ln w="15875">
            <a:solidFill>
              <a:srgbClr val="9A9CA6"/>
            </a:solidFill>
            <a:prstDash val="solid"/>
          </a:ln>
        </p:spPr>
      </p:sp>
      <p:sp>
        <p:nvSpPr>
          <p:cNvPr id="7" name="Shape 5"/>
          <p:cNvSpPr/>
          <p:nvPr/>
        </p:nvSpPr>
        <p:spPr>
          <a:xfrm>
            <a:off x="1463040" y="5715000"/>
            <a:ext cx="5852160" cy="0"/>
          </a:xfrm>
          <a:prstGeom prst="line">
            <a:avLst/>
          </a:prstGeom>
          <a:noFill/>
          <a:ln w="15875">
            <a:solidFill>
              <a:srgbClr val="9A9CA6"/>
            </a:solidFill>
            <a:prstDash val="solid"/>
          </a:ln>
        </p:spPr>
      </p:sp>
      <p:sp>
        <p:nvSpPr>
          <p:cNvPr id="8" name="Text 6"/>
          <p:cNvSpPr txBox="1"/>
          <p:nvPr/>
        </p:nvSpPr>
        <p:spPr>
          <a:xfrm>
            <a:off x="1371600" y="1554480"/>
            <a:ext cx="1828800" cy="237744"/>
          </a:xfrm>
          <a:prstGeom prst="rect">
            <a:avLst/>
          </a:prstGeom>
          <a:noFill/>
          <a:ln/>
        </p:spPr>
        <p:txBody>
          <a:bodyPr wrap="square" lIns="0" tIns="0" rIns="0" bIns="0" rtlCol="0" anchor="ctr"/>
          <a:lstStyle/>
          <a:p>
            <a:pPr indent="0" marL="0">
              <a:buNone/>
            </a:pPr>
            <a:r>
              <a:rPr lang="en-US" sz="900" b="1" spc="200" kern="0" dirty="0">
                <a:solidFill>
                  <a:srgbClr val="6E7079"/>
                </a:solidFill>
              </a:rPr>
              <a:t>GUARANTEE</a:t>
            </a:r>
            <a:endParaRPr lang="en-US" sz="900" dirty="0"/>
          </a:p>
        </p:txBody>
      </p:sp>
      <p:sp>
        <p:nvSpPr>
          <p:cNvPr id="9" name="Text 7"/>
          <p:cNvSpPr txBox="1"/>
          <p:nvPr/>
        </p:nvSpPr>
        <p:spPr>
          <a:xfrm>
            <a:off x="6400800" y="5824728"/>
            <a:ext cx="1097280" cy="237744"/>
          </a:xfrm>
          <a:prstGeom prst="rect">
            <a:avLst/>
          </a:prstGeom>
          <a:noFill/>
          <a:ln/>
        </p:spPr>
        <p:txBody>
          <a:bodyPr wrap="square" lIns="0" tIns="0" rIns="0" bIns="0" rtlCol="0" anchor="ctr"/>
          <a:lstStyle/>
          <a:p>
            <a:pPr indent="0" marL="0">
              <a:buNone/>
            </a:pPr>
            <a:r>
              <a:rPr lang="en-US" sz="900" b="1" spc="200" kern="0" dirty="0">
                <a:solidFill>
                  <a:srgbClr val="6E7079"/>
                </a:solidFill>
              </a:rPr>
              <a:t>SPEEDUP</a:t>
            </a:r>
            <a:endParaRPr lang="en-US" sz="900" dirty="0"/>
          </a:p>
        </p:txBody>
      </p:sp>
      <p:sp>
        <p:nvSpPr>
          <p:cNvPr id="10" name="Text 8"/>
          <p:cNvSpPr txBox="1"/>
          <p:nvPr/>
        </p:nvSpPr>
        <p:spPr>
          <a:xfrm>
            <a:off x="777240" y="2011680"/>
            <a:ext cx="640080" cy="228600"/>
          </a:xfrm>
          <a:prstGeom prst="rect">
            <a:avLst/>
          </a:prstGeom>
          <a:noFill/>
          <a:ln/>
        </p:spPr>
        <p:txBody>
          <a:bodyPr wrap="square" lIns="0" tIns="0" rIns="0" bIns="0" rtlCol="0" anchor="ctr"/>
          <a:lstStyle/>
          <a:p>
            <a:pPr algn="r" indent="0" marL="0">
              <a:buNone/>
            </a:pPr>
            <a:r>
              <a:rPr lang="en-US" sz="800" b="1" dirty="0">
                <a:solidFill>
                  <a:srgbClr val="9A9CA6"/>
                </a:solidFill>
              </a:rPr>
              <a:t>PROVEN</a:t>
            </a:r>
            <a:endParaRPr lang="en-US" sz="800" dirty="0"/>
          </a:p>
        </p:txBody>
      </p:sp>
      <p:sp>
        <p:nvSpPr>
          <p:cNvPr id="11" name="Text 9"/>
          <p:cNvSpPr txBox="1"/>
          <p:nvPr/>
        </p:nvSpPr>
        <p:spPr>
          <a:xfrm>
            <a:off x="777240" y="5394960"/>
            <a:ext cx="640080" cy="228600"/>
          </a:xfrm>
          <a:prstGeom prst="rect">
            <a:avLst/>
          </a:prstGeom>
          <a:noFill/>
          <a:ln/>
        </p:spPr>
        <p:txBody>
          <a:bodyPr wrap="square" lIns="0" tIns="0" rIns="0" bIns="0" rtlCol="0" anchor="ctr"/>
          <a:lstStyle/>
          <a:p>
            <a:pPr algn="r" indent="0" marL="0">
              <a:buNone/>
            </a:pPr>
            <a:r>
              <a:rPr lang="en-US" sz="800" b="1" dirty="0">
                <a:solidFill>
                  <a:srgbClr val="9A9CA6"/>
                </a:solidFill>
              </a:rPr>
              <a:t>NONE</a:t>
            </a:r>
            <a:endParaRPr lang="en-US" sz="800" dirty="0"/>
          </a:p>
        </p:txBody>
      </p:sp>
      <p:sp>
        <p:nvSpPr>
          <p:cNvPr id="12" name="Shape 10"/>
          <p:cNvSpPr/>
          <p:nvPr/>
        </p:nvSpPr>
        <p:spPr>
          <a:xfrm>
            <a:off x="2276856" y="2368296"/>
            <a:ext cx="201168" cy="201168"/>
          </a:xfrm>
          <a:prstGeom prst="ellipse">
            <a:avLst/>
          </a:prstGeom>
          <a:solidFill>
            <a:srgbClr val="2F3C7E"/>
          </a:solidFill>
          <a:ln w="12700">
            <a:solidFill>
              <a:srgbClr val="2F3C7E"/>
            </a:solidFill>
            <a:prstDash val="solid"/>
          </a:ln>
        </p:spPr>
      </p:sp>
      <p:sp>
        <p:nvSpPr>
          <p:cNvPr id="13" name="Text 11"/>
          <p:cNvSpPr txBox="1"/>
          <p:nvPr/>
        </p:nvSpPr>
        <p:spPr>
          <a:xfrm>
            <a:off x="2606040" y="2286000"/>
            <a:ext cx="1828800" cy="365760"/>
          </a:xfrm>
          <a:prstGeom prst="rect">
            <a:avLst/>
          </a:prstGeom>
          <a:noFill/>
          <a:ln/>
        </p:spPr>
        <p:txBody>
          <a:bodyPr wrap="square" lIns="0" tIns="0" rIns="0" bIns="0" rtlCol="0" anchor="ctr"/>
          <a:lstStyle/>
          <a:p>
            <a:pPr algn="l" indent="0" marL="0">
              <a:buNone/>
            </a:pPr>
            <a:r>
              <a:rPr lang="en-US" sz="1100" b="1" dirty="0">
                <a:solidFill>
                  <a:srgbClr val="2F3C7E"/>
                </a:solidFill>
              </a:rPr>
              <a:t>FPTuner, Satire</a:t>
            </a:r>
            <a:endParaRPr lang="en-US" sz="1100" dirty="0"/>
          </a:p>
        </p:txBody>
      </p:sp>
      <p:sp>
        <p:nvSpPr>
          <p:cNvPr id="14" name="Shape 12"/>
          <p:cNvSpPr/>
          <p:nvPr/>
        </p:nvSpPr>
        <p:spPr>
          <a:xfrm>
            <a:off x="5294376" y="4882896"/>
            <a:ext cx="201168" cy="201168"/>
          </a:xfrm>
          <a:prstGeom prst="ellipse">
            <a:avLst/>
          </a:prstGeom>
          <a:solidFill>
            <a:srgbClr val="990011"/>
          </a:solidFill>
          <a:ln w="12700">
            <a:solidFill>
              <a:srgbClr val="990011"/>
            </a:solidFill>
            <a:prstDash val="solid"/>
          </a:ln>
        </p:spPr>
      </p:sp>
      <p:sp>
        <p:nvSpPr>
          <p:cNvPr id="15" name="Text 13"/>
          <p:cNvSpPr txBox="1"/>
          <p:nvPr/>
        </p:nvSpPr>
        <p:spPr>
          <a:xfrm>
            <a:off x="3200400" y="4800600"/>
            <a:ext cx="2011680" cy="365760"/>
          </a:xfrm>
          <a:prstGeom prst="rect">
            <a:avLst/>
          </a:prstGeom>
          <a:noFill/>
          <a:ln/>
        </p:spPr>
        <p:txBody>
          <a:bodyPr wrap="square" lIns="0" tIns="0" rIns="0" bIns="0" rtlCol="0" anchor="ctr"/>
          <a:lstStyle/>
          <a:p>
            <a:pPr algn="r" indent="0" marL="0">
              <a:buNone/>
            </a:pPr>
            <a:r>
              <a:rPr lang="en-US" sz="1100" b="1" dirty="0">
                <a:solidFill>
                  <a:srgbClr val="990011"/>
                </a:solidFill>
              </a:rPr>
              <a:t>Perforation, ACCEPT</a:t>
            </a:r>
            <a:endParaRPr lang="en-US" sz="1100" dirty="0"/>
          </a:p>
        </p:txBody>
      </p:sp>
      <p:sp>
        <p:nvSpPr>
          <p:cNvPr id="16" name="Shape 14"/>
          <p:cNvSpPr/>
          <p:nvPr/>
        </p:nvSpPr>
        <p:spPr>
          <a:xfrm>
            <a:off x="5943600" y="2194560"/>
            <a:ext cx="566928" cy="566928"/>
          </a:xfrm>
          <a:prstGeom prst="ellipse">
            <a:avLst/>
          </a:prstGeom>
          <a:solidFill>
            <a:srgbClr val="E05263"/>
          </a:solidFill>
          <a:ln w="12700">
            <a:solidFill>
              <a:srgbClr val="E05263"/>
            </a:solidFill>
            <a:prstDash val="solid"/>
          </a:ln>
        </p:spPr>
      </p:sp>
      <p:sp>
        <p:nvSpPr>
          <p:cNvPr id="17" name="Text 15"/>
          <p:cNvSpPr txBox="1"/>
          <p:nvPr/>
        </p:nvSpPr>
        <p:spPr>
          <a:xfrm>
            <a:off x="5943600" y="2194560"/>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rPr>
              <a:t>ACC</a:t>
            </a:r>
            <a:endParaRPr lang="en-US" sz="1100" dirty="0"/>
          </a:p>
        </p:txBody>
      </p:sp>
      <p:sp>
        <p:nvSpPr>
          <p:cNvPr id="18" name="Text 16"/>
          <p:cNvSpPr txBox="1"/>
          <p:nvPr/>
        </p:nvSpPr>
        <p:spPr>
          <a:xfrm>
            <a:off x="5623560" y="2788920"/>
            <a:ext cx="1188720" cy="274320"/>
          </a:xfrm>
          <a:prstGeom prst="rect">
            <a:avLst/>
          </a:prstGeom>
          <a:noFill/>
          <a:ln/>
        </p:spPr>
        <p:txBody>
          <a:bodyPr wrap="square" lIns="0" tIns="0" rIns="0" bIns="0" rtlCol="0" anchor="ctr"/>
          <a:lstStyle/>
          <a:p>
            <a:pPr algn="ctr" indent="0" marL="0">
              <a:buNone/>
            </a:pPr>
            <a:r>
              <a:rPr lang="en-US" sz="1100" i="1" dirty="0">
                <a:solidFill>
                  <a:srgbClr val="E05263"/>
                </a:solidFill>
              </a:rPr>
              <a:t>this work</a:t>
            </a:r>
            <a:endParaRPr lang="en-US" sz="1100" dirty="0"/>
          </a:p>
        </p:txBody>
      </p:sp>
      <p:sp>
        <p:nvSpPr>
          <p:cNvPr id="19" name="Text 17"/>
          <p:cNvSpPr txBox="1"/>
          <p:nvPr/>
        </p:nvSpPr>
        <p:spPr>
          <a:xfrm>
            <a:off x="7863840" y="1645920"/>
            <a:ext cx="347472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PROVEN</a:t>
            </a:r>
            <a:endParaRPr lang="en-US" sz="1000" dirty="0"/>
          </a:p>
        </p:txBody>
      </p:sp>
      <p:sp>
        <p:nvSpPr>
          <p:cNvPr id="20" name="Text 18"/>
          <p:cNvSpPr txBox="1"/>
          <p:nvPr/>
        </p:nvSpPr>
        <p:spPr>
          <a:xfrm>
            <a:off x="7863840" y="1920240"/>
            <a:ext cx="3520440" cy="685800"/>
          </a:xfrm>
          <a:prstGeom prst="rect">
            <a:avLst/>
          </a:prstGeom>
          <a:noFill/>
          <a:ln/>
        </p:spPr>
        <p:txBody>
          <a:bodyPr wrap="square" lIns="0" tIns="0" rIns="0" bIns="0" rtlCol="0" anchor="t"/>
          <a:lstStyle/>
          <a:p>
            <a:pPr indent="0" marL="0">
              <a:buNone/>
            </a:pPr>
            <a:r>
              <a:rPr lang="en-US" sz="1300" dirty="0">
                <a:solidFill>
                  <a:srgbClr val="1C1C22"/>
                </a:solidFill>
              </a:rPr>
              <a:t>Every returned configuration carries a certified bound; 46,080 samples, 0 violations.</a:t>
            </a:r>
            <a:endParaRPr lang="en-US" sz="1300" dirty="0"/>
          </a:p>
        </p:txBody>
      </p:sp>
      <p:sp>
        <p:nvSpPr>
          <p:cNvPr id="21" name="Text 19"/>
          <p:cNvSpPr txBox="1"/>
          <p:nvPr/>
        </p:nvSpPr>
        <p:spPr>
          <a:xfrm>
            <a:off x="7863840" y="2670048"/>
            <a:ext cx="3474720" cy="237744"/>
          </a:xfrm>
          <a:prstGeom prst="rect">
            <a:avLst/>
          </a:prstGeom>
          <a:noFill/>
          <a:ln/>
        </p:spPr>
        <p:txBody>
          <a:bodyPr wrap="square" lIns="0" tIns="0" rIns="0" bIns="0" rtlCol="0" anchor="ctr"/>
          <a:lstStyle/>
          <a:p>
            <a:pPr indent="0" marL="0">
              <a:buNone/>
            </a:pPr>
            <a:r>
              <a:rPr lang="en-US" sz="1000" b="1" spc="200" kern="0" dirty="0">
                <a:solidFill>
                  <a:srgbClr val="2F3C7E"/>
                </a:solidFill>
              </a:rPr>
              <a:t>BROAD</a:t>
            </a:r>
            <a:endParaRPr lang="en-US" sz="1000" dirty="0"/>
          </a:p>
        </p:txBody>
      </p:sp>
      <p:sp>
        <p:nvSpPr>
          <p:cNvPr id="22" name="Text 20"/>
          <p:cNvSpPr txBox="1"/>
          <p:nvPr/>
        </p:nvSpPr>
        <p:spPr>
          <a:xfrm>
            <a:off x="7863840" y="2944368"/>
            <a:ext cx="3520440" cy="685800"/>
          </a:xfrm>
          <a:prstGeom prst="rect">
            <a:avLst/>
          </a:prstGeom>
          <a:noFill/>
          <a:ln/>
        </p:spPr>
        <p:txBody>
          <a:bodyPr wrap="square" lIns="0" tIns="0" rIns="0" bIns="0" rtlCol="0" anchor="t"/>
          <a:lstStyle/>
          <a:p>
            <a:pPr indent="0" marL="0">
              <a:buNone/>
            </a:pPr>
            <a:r>
              <a:rPr lang="en-US" sz="1300" dirty="0">
                <a:solidFill>
                  <a:srgbClr val="1C1C22"/>
                </a:solidFill>
              </a:rPr>
              <a:t>Four levers in one optimisation: precision, perforation, memoization, tables.</a:t>
            </a:r>
            <a:endParaRPr lang="en-US" sz="1300" dirty="0"/>
          </a:p>
        </p:txBody>
      </p:sp>
      <p:sp>
        <p:nvSpPr>
          <p:cNvPr id="23" name="Text 21"/>
          <p:cNvSpPr txBox="1"/>
          <p:nvPr/>
        </p:nvSpPr>
        <p:spPr>
          <a:xfrm>
            <a:off x="7863840" y="3694176"/>
            <a:ext cx="3474720" cy="237744"/>
          </a:xfrm>
          <a:prstGeom prst="rect">
            <a:avLst/>
          </a:prstGeom>
          <a:noFill/>
          <a:ln/>
        </p:spPr>
        <p:txBody>
          <a:bodyPr wrap="square" lIns="0" tIns="0" rIns="0" bIns="0" rtlCol="0" anchor="ctr"/>
          <a:lstStyle/>
          <a:p>
            <a:pPr indent="0" marL="0">
              <a:buNone/>
            </a:pPr>
            <a:r>
              <a:rPr lang="en-US" sz="1000" b="1" spc="200" kern="0" dirty="0">
                <a:solidFill>
                  <a:srgbClr val="2F3C7E"/>
                </a:solidFill>
              </a:rPr>
              <a:t>FASTER</a:t>
            </a:r>
            <a:endParaRPr lang="en-US" sz="1000" dirty="0"/>
          </a:p>
        </p:txBody>
      </p:sp>
      <p:sp>
        <p:nvSpPr>
          <p:cNvPr id="24" name="Text 22"/>
          <p:cNvSpPr txBox="1"/>
          <p:nvPr/>
        </p:nvSpPr>
        <p:spPr>
          <a:xfrm>
            <a:off x="7863840" y="3968496"/>
            <a:ext cx="3520440" cy="685800"/>
          </a:xfrm>
          <a:prstGeom prst="rect">
            <a:avLst/>
          </a:prstGeom>
          <a:noFill/>
          <a:ln/>
        </p:spPr>
        <p:txBody>
          <a:bodyPr wrap="square" lIns="0" tIns="0" rIns="0" bIns="0" rtlCol="0" anchor="t"/>
          <a:lstStyle/>
          <a:p>
            <a:pPr indent="0" marL="0">
              <a:buNone/>
            </a:pPr>
            <a:r>
              <a:rPr lang="en-US" sz="1300" dirty="0">
                <a:solidFill>
                  <a:srgbClr val="1C1C22"/>
                </a:solidFill>
              </a:rPr>
              <a:t>6.1× image, 3.3× decay, 3.1× k-means (modeled); up to 9.8× measured natively.</a:t>
            </a:r>
            <a:endParaRPr lang="en-US" sz="1300" dirty="0"/>
          </a:p>
        </p:txBody>
      </p:sp>
      <p:sp>
        <p:nvSpPr>
          <p:cNvPr id="25" name="Text 23"/>
          <p:cNvSpPr txBox="1"/>
          <p:nvPr/>
        </p:nvSpPr>
        <p:spPr>
          <a:xfrm>
            <a:off x="7863840" y="4718304"/>
            <a:ext cx="3474720" cy="237744"/>
          </a:xfrm>
          <a:prstGeom prst="rect">
            <a:avLst/>
          </a:prstGeom>
          <a:noFill/>
          <a:ln/>
        </p:spPr>
        <p:txBody>
          <a:bodyPr wrap="square" lIns="0" tIns="0" rIns="0" bIns="0" rtlCol="0" anchor="ctr"/>
          <a:lstStyle/>
          <a:p>
            <a:pPr indent="0" marL="0">
              <a:buNone/>
            </a:pPr>
            <a:r>
              <a:rPr lang="en-US" sz="1000" b="1" spc="200" kern="0" dirty="0">
                <a:solidFill>
                  <a:srgbClr val="2F3C7E"/>
                </a:solidFill>
              </a:rPr>
              <a:t>BEATS THE BASELINE</a:t>
            </a:r>
            <a:endParaRPr lang="en-US" sz="1000" dirty="0"/>
          </a:p>
        </p:txBody>
      </p:sp>
      <p:sp>
        <p:nvSpPr>
          <p:cNvPr id="26" name="Text 24"/>
          <p:cNvSpPr txBox="1"/>
          <p:nvPr/>
        </p:nvSpPr>
        <p:spPr>
          <a:xfrm>
            <a:off x="7863840" y="4992624"/>
            <a:ext cx="3520440" cy="685800"/>
          </a:xfrm>
          <a:prstGeom prst="rect">
            <a:avLst/>
          </a:prstGeom>
          <a:noFill/>
          <a:ln/>
        </p:spPr>
        <p:txBody>
          <a:bodyPr wrap="square" lIns="0" tIns="0" rIns="0" bIns="0" rtlCol="0" anchor="t"/>
          <a:lstStyle/>
          <a:p>
            <a:pPr indent="0" marL="0">
              <a:buNone/>
            </a:pPr>
            <a:r>
              <a:rPr lang="en-US" sz="1300" dirty="0">
                <a:solidFill>
                  <a:srgbClr val="1C1C22"/>
                </a:solidFill>
              </a:rPr>
              <a:t>Precision-only tuner on the same budgets: 1.8×, 1.8×, 1.0×.</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05</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Objectives Scorecard</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The six objectives from Review 1, each with the evidence that closes it.</a:t>
            </a:r>
            <a:endParaRPr lang="en-US" sz="1300" dirty="0"/>
          </a:p>
        </p:txBody>
      </p:sp>
      <p:sp>
        <p:nvSpPr>
          <p:cNvPr id="6" name="Shape 4"/>
          <p:cNvSpPr/>
          <p:nvPr/>
        </p:nvSpPr>
        <p:spPr>
          <a:xfrm>
            <a:off x="822960" y="1508760"/>
            <a:ext cx="5148072" cy="1280160"/>
          </a:xfrm>
          <a:prstGeom prst="rect">
            <a:avLst/>
          </a:prstGeom>
          <a:solidFill>
            <a:srgbClr val="FCF6F5"/>
          </a:solidFill>
          <a:ln w="12700">
            <a:solidFill>
              <a:srgbClr val="FCF6F5"/>
            </a:solidFill>
            <a:prstDash val="solid"/>
          </a:ln>
        </p:spPr>
      </p:sp>
      <p:sp>
        <p:nvSpPr>
          <p:cNvPr id="7" name="Text 5"/>
          <p:cNvSpPr txBox="1"/>
          <p:nvPr/>
        </p:nvSpPr>
        <p:spPr>
          <a:xfrm>
            <a:off x="1051560" y="1691640"/>
            <a:ext cx="548640" cy="365760"/>
          </a:xfrm>
          <a:prstGeom prst="rect">
            <a:avLst/>
          </a:prstGeom>
          <a:noFill/>
          <a:ln/>
        </p:spPr>
        <p:txBody>
          <a:bodyPr wrap="square" lIns="0" tIns="0" rIns="0" bIns="0" rtlCol="0" anchor="ctr"/>
          <a:lstStyle/>
          <a:p>
            <a:pPr indent="0" marL="0">
              <a:buNone/>
            </a:pPr>
            <a:r>
              <a:rPr lang="en-US" sz="2000" b="1" dirty="0">
                <a:solidFill>
                  <a:srgbClr val="990011"/>
                </a:solidFill>
                <a:latin typeface="Cambria" pitchFamily="34" charset="0"/>
                <a:ea typeface="Cambria" pitchFamily="34" charset="-122"/>
                <a:cs typeface="Cambria" pitchFamily="34" charset="-120"/>
              </a:rPr>
              <a:t>01</a:t>
            </a:r>
            <a:endParaRPr lang="en-US" sz="2000" dirty="0"/>
          </a:p>
        </p:txBody>
      </p:sp>
      <p:sp>
        <p:nvSpPr>
          <p:cNvPr id="8" name="Text 6"/>
          <p:cNvSpPr txBox="1"/>
          <p:nvPr/>
        </p:nvSpPr>
        <p:spPr>
          <a:xfrm>
            <a:off x="1691640" y="1691640"/>
            <a:ext cx="3108960" cy="365760"/>
          </a:xfrm>
          <a:prstGeom prst="rect">
            <a:avLst/>
          </a:prstGeom>
          <a:noFill/>
          <a:ln/>
        </p:spPr>
        <p:txBody>
          <a:bodyPr wrap="square" lIns="0" tIns="0" rIns="0" bIns="0" rtlCol="0" anchor="ctr"/>
          <a:lstStyle/>
          <a:p>
            <a:pPr indent="0" marL="0">
              <a:buNone/>
            </a:pPr>
            <a:r>
              <a:rPr lang="en-US" sz="1600" b="1" dirty="0">
                <a:solidFill>
                  <a:srgbClr val="1C1C22"/>
                </a:solidFill>
                <a:latin typeface="Cambria" pitchFamily="34" charset="0"/>
                <a:ea typeface="Cambria" pitchFamily="34" charset="-122"/>
                <a:cs typeface="Cambria" pitchFamily="34" charset="-120"/>
              </a:rPr>
              <a:t>Define the language</a:t>
            </a:r>
            <a:endParaRPr lang="en-US" sz="1600" dirty="0"/>
          </a:p>
        </p:txBody>
      </p:sp>
      <p:sp>
        <p:nvSpPr>
          <p:cNvPr id="9" name="Shape 7"/>
          <p:cNvSpPr/>
          <p:nvPr/>
        </p:nvSpPr>
        <p:spPr>
          <a:xfrm>
            <a:off x="4892040" y="1709928"/>
            <a:ext cx="868680" cy="292608"/>
          </a:xfrm>
          <a:prstGeom prst="roundRect">
            <a:avLst>
              <a:gd name="adj" fmla="val 50000"/>
            </a:avLst>
          </a:prstGeom>
          <a:solidFill>
            <a:srgbClr val="1F7A4D"/>
          </a:solidFill>
          <a:ln w="12700">
            <a:solidFill>
              <a:srgbClr val="1F7A4D"/>
            </a:solidFill>
            <a:prstDash val="solid"/>
          </a:ln>
        </p:spPr>
      </p:sp>
      <p:sp>
        <p:nvSpPr>
          <p:cNvPr id="10" name="Text 8"/>
          <p:cNvSpPr txBox="1"/>
          <p:nvPr/>
        </p:nvSpPr>
        <p:spPr>
          <a:xfrm>
            <a:off x="4892040" y="1709928"/>
            <a:ext cx="868680" cy="292608"/>
          </a:xfrm>
          <a:prstGeom prst="rect">
            <a:avLst/>
          </a:prstGeom>
          <a:noFill/>
          <a:ln/>
        </p:spPr>
        <p:txBody>
          <a:bodyPr wrap="square" lIns="0" tIns="0" rIns="0" bIns="0" rtlCol="0" anchor="ctr"/>
          <a:lstStyle/>
          <a:p>
            <a:pPr algn="ctr" indent="0" marL="0">
              <a:buNone/>
            </a:pPr>
            <a:r>
              <a:rPr lang="en-US" sz="900" b="1" spc="200" kern="0" dirty="0">
                <a:solidFill>
                  <a:srgbClr val="FFFFFF"/>
                </a:solidFill>
              </a:rPr>
              <a:t>DONE</a:t>
            </a:r>
            <a:endParaRPr lang="en-US" sz="900" dirty="0"/>
          </a:p>
        </p:txBody>
      </p:sp>
      <p:sp>
        <p:nvSpPr>
          <p:cNvPr id="11" name="Text 9"/>
          <p:cNvSpPr txBox="1"/>
          <p:nvPr/>
        </p:nvSpPr>
        <p:spPr>
          <a:xfrm>
            <a:off x="1691640" y="2093976"/>
            <a:ext cx="4114800" cy="640080"/>
          </a:xfrm>
          <a:prstGeom prst="rect">
            <a:avLst/>
          </a:prstGeom>
          <a:noFill/>
          <a:ln/>
        </p:spPr>
        <p:txBody>
          <a:bodyPr wrap="square" lIns="0" tIns="0" rIns="0" bIns="0" rtlCol="0" anchor="t"/>
          <a:lstStyle/>
          <a:p>
            <a:pPr indent="0" marL="0">
              <a:buNone/>
            </a:pPr>
            <a:r>
              <a:rPr lang="en-US" sz="1200" dirty="0">
                <a:solidFill>
                  <a:srgbClr val="3A3D46"/>
                </a:solidFill>
              </a:rPr>
              <a:t>Numeric kernels: scalars, n-d arrays, counted loops, pure functions, a budget annotation. Lowered to SSA with phis.</a:t>
            </a:r>
            <a:endParaRPr lang="en-US" sz="1200" dirty="0"/>
          </a:p>
        </p:txBody>
      </p:sp>
      <p:sp>
        <p:nvSpPr>
          <p:cNvPr id="12" name="Shape 10"/>
          <p:cNvSpPr/>
          <p:nvPr/>
        </p:nvSpPr>
        <p:spPr>
          <a:xfrm>
            <a:off x="6217920" y="1508760"/>
            <a:ext cx="5148072" cy="1280160"/>
          </a:xfrm>
          <a:prstGeom prst="rect">
            <a:avLst/>
          </a:prstGeom>
          <a:solidFill>
            <a:srgbClr val="FCF6F5"/>
          </a:solidFill>
          <a:ln w="12700">
            <a:solidFill>
              <a:srgbClr val="FCF6F5"/>
            </a:solidFill>
            <a:prstDash val="solid"/>
          </a:ln>
        </p:spPr>
      </p:sp>
      <p:sp>
        <p:nvSpPr>
          <p:cNvPr id="13" name="Text 11"/>
          <p:cNvSpPr txBox="1"/>
          <p:nvPr/>
        </p:nvSpPr>
        <p:spPr>
          <a:xfrm>
            <a:off x="6446520" y="1691640"/>
            <a:ext cx="548640" cy="365760"/>
          </a:xfrm>
          <a:prstGeom prst="rect">
            <a:avLst/>
          </a:prstGeom>
          <a:noFill/>
          <a:ln/>
        </p:spPr>
        <p:txBody>
          <a:bodyPr wrap="square" lIns="0" tIns="0" rIns="0" bIns="0" rtlCol="0" anchor="ctr"/>
          <a:lstStyle/>
          <a:p>
            <a:pPr indent="0" marL="0">
              <a:buNone/>
            </a:pPr>
            <a:r>
              <a:rPr lang="en-US" sz="2000" b="1" dirty="0">
                <a:solidFill>
                  <a:srgbClr val="990011"/>
                </a:solidFill>
                <a:latin typeface="Cambria" pitchFamily="34" charset="0"/>
                <a:ea typeface="Cambria" pitchFamily="34" charset="-122"/>
                <a:cs typeface="Cambria" pitchFamily="34" charset="-120"/>
              </a:rPr>
              <a:t>02</a:t>
            </a:r>
            <a:endParaRPr lang="en-US" sz="2000" dirty="0"/>
          </a:p>
        </p:txBody>
      </p:sp>
      <p:sp>
        <p:nvSpPr>
          <p:cNvPr id="14" name="Text 12"/>
          <p:cNvSpPr txBox="1"/>
          <p:nvPr/>
        </p:nvSpPr>
        <p:spPr>
          <a:xfrm>
            <a:off x="7086600" y="1691640"/>
            <a:ext cx="3108960" cy="365760"/>
          </a:xfrm>
          <a:prstGeom prst="rect">
            <a:avLst/>
          </a:prstGeom>
          <a:noFill/>
          <a:ln/>
        </p:spPr>
        <p:txBody>
          <a:bodyPr wrap="square" lIns="0" tIns="0" rIns="0" bIns="0" rtlCol="0" anchor="ctr"/>
          <a:lstStyle/>
          <a:p>
            <a:pPr indent="0" marL="0">
              <a:buNone/>
            </a:pPr>
            <a:r>
              <a:rPr lang="en-US" sz="1600" b="1" dirty="0">
                <a:solidFill>
                  <a:srgbClr val="1C1C22"/>
                </a:solidFill>
                <a:latin typeface="Cambria" pitchFamily="34" charset="0"/>
                <a:ea typeface="Cambria" pitchFamily="34" charset="-122"/>
                <a:cs typeface="Cambria" pitchFamily="34" charset="-120"/>
              </a:rPr>
              <a:t>Build the error engine</a:t>
            </a:r>
            <a:endParaRPr lang="en-US" sz="1600" dirty="0"/>
          </a:p>
        </p:txBody>
      </p:sp>
      <p:sp>
        <p:nvSpPr>
          <p:cNvPr id="15" name="Shape 13"/>
          <p:cNvSpPr/>
          <p:nvPr/>
        </p:nvSpPr>
        <p:spPr>
          <a:xfrm>
            <a:off x="10287000" y="1709928"/>
            <a:ext cx="868680" cy="292608"/>
          </a:xfrm>
          <a:prstGeom prst="roundRect">
            <a:avLst>
              <a:gd name="adj" fmla="val 50000"/>
            </a:avLst>
          </a:prstGeom>
          <a:solidFill>
            <a:srgbClr val="1F7A4D"/>
          </a:solidFill>
          <a:ln w="12700">
            <a:solidFill>
              <a:srgbClr val="1F7A4D"/>
            </a:solidFill>
            <a:prstDash val="solid"/>
          </a:ln>
        </p:spPr>
      </p:sp>
      <p:sp>
        <p:nvSpPr>
          <p:cNvPr id="16" name="Text 14"/>
          <p:cNvSpPr txBox="1"/>
          <p:nvPr/>
        </p:nvSpPr>
        <p:spPr>
          <a:xfrm>
            <a:off x="10287000" y="1709928"/>
            <a:ext cx="868680" cy="292608"/>
          </a:xfrm>
          <a:prstGeom prst="rect">
            <a:avLst/>
          </a:prstGeom>
          <a:noFill/>
          <a:ln/>
        </p:spPr>
        <p:txBody>
          <a:bodyPr wrap="square" lIns="0" tIns="0" rIns="0" bIns="0" rtlCol="0" anchor="ctr"/>
          <a:lstStyle/>
          <a:p>
            <a:pPr algn="ctr" indent="0" marL="0">
              <a:buNone/>
            </a:pPr>
            <a:r>
              <a:rPr lang="en-US" sz="900" b="1" spc="200" kern="0" dirty="0">
                <a:solidFill>
                  <a:srgbClr val="FFFFFF"/>
                </a:solidFill>
              </a:rPr>
              <a:t>DONE</a:t>
            </a:r>
            <a:endParaRPr lang="en-US" sz="900" dirty="0"/>
          </a:p>
        </p:txBody>
      </p:sp>
      <p:sp>
        <p:nvSpPr>
          <p:cNvPr id="17" name="Text 15"/>
          <p:cNvSpPr txBox="1"/>
          <p:nvPr/>
        </p:nvSpPr>
        <p:spPr>
          <a:xfrm>
            <a:off x="7086600" y="2093976"/>
            <a:ext cx="4114800" cy="640080"/>
          </a:xfrm>
          <a:prstGeom prst="rect">
            <a:avLst/>
          </a:prstGeom>
          <a:noFill/>
          <a:ln/>
        </p:spPr>
        <p:txBody>
          <a:bodyPr wrap="square" lIns="0" tIns="0" rIns="0" bIns="0" rtlCol="0" anchor="t"/>
          <a:lstStyle/>
          <a:p>
            <a:pPr indent="0" marL="0">
              <a:buNone/>
            </a:pPr>
            <a:r>
              <a:rPr lang="en-US" sz="1200" dirty="0">
                <a:solidFill>
                  <a:srgbClr val="3A3D46"/>
                </a:solidFill>
              </a:rPr>
              <a:t>Affine ranges plus affine error forms. Four error kinds become one currency and compose by addition.</a:t>
            </a:r>
            <a:endParaRPr lang="en-US" sz="1200" dirty="0"/>
          </a:p>
        </p:txBody>
      </p:sp>
      <p:sp>
        <p:nvSpPr>
          <p:cNvPr id="18" name="Shape 16"/>
          <p:cNvSpPr/>
          <p:nvPr/>
        </p:nvSpPr>
        <p:spPr>
          <a:xfrm>
            <a:off x="822960" y="2971800"/>
            <a:ext cx="5148072" cy="1280160"/>
          </a:xfrm>
          <a:prstGeom prst="rect">
            <a:avLst/>
          </a:prstGeom>
          <a:solidFill>
            <a:srgbClr val="FCF6F5"/>
          </a:solidFill>
          <a:ln w="12700">
            <a:solidFill>
              <a:srgbClr val="FCF6F5"/>
            </a:solidFill>
            <a:prstDash val="solid"/>
          </a:ln>
        </p:spPr>
      </p:sp>
      <p:sp>
        <p:nvSpPr>
          <p:cNvPr id="19" name="Text 17"/>
          <p:cNvSpPr txBox="1"/>
          <p:nvPr/>
        </p:nvSpPr>
        <p:spPr>
          <a:xfrm>
            <a:off x="1051560" y="3154680"/>
            <a:ext cx="548640" cy="365760"/>
          </a:xfrm>
          <a:prstGeom prst="rect">
            <a:avLst/>
          </a:prstGeom>
          <a:noFill/>
          <a:ln/>
        </p:spPr>
        <p:txBody>
          <a:bodyPr wrap="square" lIns="0" tIns="0" rIns="0" bIns="0" rtlCol="0" anchor="ctr"/>
          <a:lstStyle/>
          <a:p>
            <a:pPr indent="0" marL="0">
              <a:buNone/>
            </a:pPr>
            <a:r>
              <a:rPr lang="en-US" sz="2000" b="1" dirty="0">
                <a:solidFill>
                  <a:srgbClr val="990011"/>
                </a:solidFill>
                <a:latin typeface="Cambria" pitchFamily="34" charset="0"/>
                <a:ea typeface="Cambria" pitchFamily="34" charset="-122"/>
                <a:cs typeface="Cambria" pitchFamily="34" charset="-120"/>
              </a:rPr>
              <a:t>03</a:t>
            </a:r>
            <a:endParaRPr lang="en-US" sz="2000" dirty="0"/>
          </a:p>
        </p:txBody>
      </p:sp>
      <p:sp>
        <p:nvSpPr>
          <p:cNvPr id="20" name="Text 18"/>
          <p:cNvSpPr txBox="1"/>
          <p:nvPr/>
        </p:nvSpPr>
        <p:spPr>
          <a:xfrm>
            <a:off x="1691640" y="3154680"/>
            <a:ext cx="3108960" cy="365760"/>
          </a:xfrm>
          <a:prstGeom prst="rect">
            <a:avLst/>
          </a:prstGeom>
          <a:noFill/>
          <a:ln/>
        </p:spPr>
        <p:txBody>
          <a:bodyPr wrap="square" lIns="0" tIns="0" rIns="0" bIns="0" rtlCol="0" anchor="ctr"/>
          <a:lstStyle/>
          <a:p>
            <a:pPr indent="0" marL="0">
              <a:buNone/>
            </a:pPr>
            <a:r>
              <a:rPr lang="en-US" sz="1600" b="1" dirty="0">
                <a:solidFill>
                  <a:srgbClr val="1C1C22"/>
                </a:solidFill>
                <a:latin typeface="Cambria" pitchFamily="34" charset="0"/>
                <a:ea typeface="Cambria" pitchFamily="34" charset="-122"/>
                <a:cs typeface="Cambria" pitchFamily="34" charset="-120"/>
              </a:rPr>
              <a:t>Implement the menu</a:t>
            </a:r>
            <a:endParaRPr lang="en-US" sz="1600" dirty="0"/>
          </a:p>
        </p:txBody>
      </p:sp>
      <p:sp>
        <p:nvSpPr>
          <p:cNvPr id="21" name="Shape 19"/>
          <p:cNvSpPr/>
          <p:nvPr/>
        </p:nvSpPr>
        <p:spPr>
          <a:xfrm>
            <a:off x="4892040" y="3172968"/>
            <a:ext cx="868680" cy="292608"/>
          </a:xfrm>
          <a:prstGeom prst="roundRect">
            <a:avLst>
              <a:gd name="adj" fmla="val 50000"/>
            </a:avLst>
          </a:prstGeom>
          <a:solidFill>
            <a:srgbClr val="1F7A4D"/>
          </a:solidFill>
          <a:ln w="12700">
            <a:solidFill>
              <a:srgbClr val="1F7A4D"/>
            </a:solidFill>
            <a:prstDash val="solid"/>
          </a:ln>
        </p:spPr>
      </p:sp>
      <p:sp>
        <p:nvSpPr>
          <p:cNvPr id="22" name="Text 20"/>
          <p:cNvSpPr txBox="1"/>
          <p:nvPr/>
        </p:nvSpPr>
        <p:spPr>
          <a:xfrm>
            <a:off x="4892040" y="3172968"/>
            <a:ext cx="868680" cy="292608"/>
          </a:xfrm>
          <a:prstGeom prst="rect">
            <a:avLst/>
          </a:prstGeom>
          <a:noFill/>
          <a:ln/>
        </p:spPr>
        <p:txBody>
          <a:bodyPr wrap="square" lIns="0" tIns="0" rIns="0" bIns="0" rtlCol="0" anchor="ctr"/>
          <a:lstStyle/>
          <a:p>
            <a:pPr algn="ctr" indent="0" marL="0">
              <a:buNone/>
            </a:pPr>
            <a:r>
              <a:rPr lang="en-US" sz="900" b="1" spc="200" kern="0" dirty="0">
                <a:solidFill>
                  <a:srgbClr val="FFFFFF"/>
                </a:solidFill>
              </a:rPr>
              <a:t>DONE</a:t>
            </a:r>
            <a:endParaRPr lang="en-US" sz="900" dirty="0"/>
          </a:p>
        </p:txBody>
      </p:sp>
      <p:sp>
        <p:nvSpPr>
          <p:cNvPr id="23" name="Text 21"/>
          <p:cNvSpPr txBox="1"/>
          <p:nvPr/>
        </p:nvSpPr>
        <p:spPr>
          <a:xfrm>
            <a:off x="1691640" y="3557016"/>
            <a:ext cx="4114800" cy="640080"/>
          </a:xfrm>
          <a:prstGeom prst="rect">
            <a:avLst/>
          </a:prstGeom>
          <a:noFill/>
          <a:ln/>
        </p:spPr>
        <p:txBody>
          <a:bodyPr wrap="square" lIns="0" tIns="0" rIns="0" bIns="0" rtlCol="0" anchor="t"/>
          <a:lstStyle/>
          <a:p>
            <a:pPr indent="0" marL="0">
              <a:buNone/>
            </a:pPr>
            <a:r>
              <a:rPr lang="en-US" sz="1200" dirty="0">
                <a:solidFill>
                  <a:srgbClr val="3A3D46"/>
                </a:solidFill>
              </a:rPr>
              <a:t>Precision (6 formats), perforation (3 modes), memoization (3 cell sizes), tables (5 sizes).</a:t>
            </a:r>
            <a:endParaRPr lang="en-US" sz="1200" dirty="0"/>
          </a:p>
        </p:txBody>
      </p:sp>
      <p:sp>
        <p:nvSpPr>
          <p:cNvPr id="24" name="Shape 22"/>
          <p:cNvSpPr/>
          <p:nvPr/>
        </p:nvSpPr>
        <p:spPr>
          <a:xfrm>
            <a:off x="6217920" y="2971800"/>
            <a:ext cx="5148072" cy="1280160"/>
          </a:xfrm>
          <a:prstGeom prst="rect">
            <a:avLst/>
          </a:prstGeom>
          <a:solidFill>
            <a:srgbClr val="FCF6F5"/>
          </a:solidFill>
          <a:ln w="12700">
            <a:solidFill>
              <a:srgbClr val="FCF6F5"/>
            </a:solidFill>
            <a:prstDash val="solid"/>
          </a:ln>
        </p:spPr>
      </p:sp>
      <p:sp>
        <p:nvSpPr>
          <p:cNvPr id="25" name="Text 23"/>
          <p:cNvSpPr txBox="1"/>
          <p:nvPr/>
        </p:nvSpPr>
        <p:spPr>
          <a:xfrm>
            <a:off x="6446520" y="3154680"/>
            <a:ext cx="548640" cy="365760"/>
          </a:xfrm>
          <a:prstGeom prst="rect">
            <a:avLst/>
          </a:prstGeom>
          <a:noFill/>
          <a:ln/>
        </p:spPr>
        <p:txBody>
          <a:bodyPr wrap="square" lIns="0" tIns="0" rIns="0" bIns="0" rtlCol="0" anchor="ctr"/>
          <a:lstStyle/>
          <a:p>
            <a:pPr indent="0" marL="0">
              <a:buNone/>
            </a:pPr>
            <a:r>
              <a:rPr lang="en-US" sz="2000" b="1" dirty="0">
                <a:solidFill>
                  <a:srgbClr val="990011"/>
                </a:solidFill>
                <a:latin typeface="Cambria" pitchFamily="34" charset="0"/>
                <a:ea typeface="Cambria" pitchFamily="34" charset="-122"/>
                <a:cs typeface="Cambria" pitchFamily="34" charset="-120"/>
              </a:rPr>
              <a:t>04</a:t>
            </a:r>
            <a:endParaRPr lang="en-US" sz="2000" dirty="0"/>
          </a:p>
        </p:txBody>
      </p:sp>
      <p:sp>
        <p:nvSpPr>
          <p:cNvPr id="26" name="Text 24"/>
          <p:cNvSpPr txBox="1"/>
          <p:nvPr/>
        </p:nvSpPr>
        <p:spPr>
          <a:xfrm>
            <a:off x="7086600" y="3154680"/>
            <a:ext cx="3108960" cy="365760"/>
          </a:xfrm>
          <a:prstGeom prst="rect">
            <a:avLst/>
          </a:prstGeom>
          <a:noFill/>
          <a:ln/>
        </p:spPr>
        <p:txBody>
          <a:bodyPr wrap="square" lIns="0" tIns="0" rIns="0" bIns="0" rtlCol="0" anchor="ctr"/>
          <a:lstStyle/>
          <a:p>
            <a:pPr indent="0" marL="0">
              <a:buNone/>
            </a:pPr>
            <a:r>
              <a:rPr lang="en-US" sz="1600" b="1" dirty="0">
                <a:solidFill>
                  <a:srgbClr val="1C1C22"/>
                </a:solidFill>
                <a:latin typeface="Cambria" pitchFamily="34" charset="0"/>
                <a:ea typeface="Cambria" pitchFamily="34" charset="-122"/>
                <a:cs typeface="Cambria" pitchFamily="34" charset="-120"/>
              </a:rPr>
              <a:t>Model every cost</a:t>
            </a:r>
            <a:endParaRPr lang="en-US" sz="1600" dirty="0"/>
          </a:p>
        </p:txBody>
      </p:sp>
      <p:sp>
        <p:nvSpPr>
          <p:cNvPr id="27" name="Shape 25"/>
          <p:cNvSpPr/>
          <p:nvPr/>
        </p:nvSpPr>
        <p:spPr>
          <a:xfrm>
            <a:off x="10287000" y="3172968"/>
            <a:ext cx="868680" cy="292608"/>
          </a:xfrm>
          <a:prstGeom prst="roundRect">
            <a:avLst>
              <a:gd name="adj" fmla="val 50000"/>
            </a:avLst>
          </a:prstGeom>
          <a:solidFill>
            <a:srgbClr val="1F7A4D"/>
          </a:solidFill>
          <a:ln w="12700">
            <a:solidFill>
              <a:srgbClr val="1F7A4D"/>
            </a:solidFill>
            <a:prstDash val="solid"/>
          </a:ln>
        </p:spPr>
      </p:sp>
      <p:sp>
        <p:nvSpPr>
          <p:cNvPr id="28" name="Text 26"/>
          <p:cNvSpPr txBox="1"/>
          <p:nvPr/>
        </p:nvSpPr>
        <p:spPr>
          <a:xfrm>
            <a:off x="10287000" y="3172968"/>
            <a:ext cx="868680" cy="292608"/>
          </a:xfrm>
          <a:prstGeom prst="rect">
            <a:avLst/>
          </a:prstGeom>
          <a:noFill/>
          <a:ln/>
        </p:spPr>
        <p:txBody>
          <a:bodyPr wrap="square" lIns="0" tIns="0" rIns="0" bIns="0" rtlCol="0" anchor="ctr"/>
          <a:lstStyle/>
          <a:p>
            <a:pPr algn="ctr" indent="0" marL="0">
              <a:buNone/>
            </a:pPr>
            <a:r>
              <a:rPr lang="en-US" sz="900" b="1" spc="200" kern="0" dirty="0">
                <a:solidFill>
                  <a:srgbClr val="FFFFFF"/>
                </a:solidFill>
              </a:rPr>
              <a:t>DONE</a:t>
            </a:r>
            <a:endParaRPr lang="en-US" sz="900" dirty="0"/>
          </a:p>
        </p:txBody>
      </p:sp>
      <p:sp>
        <p:nvSpPr>
          <p:cNvPr id="29" name="Text 27"/>
          <p:cNvSpPr txBox="1"/>
          <p:nvPr/>
        </p:nvSpPr>
        <p:spPr>
          <a:xfrm>
            <a:off x="7086600" y="3557016"/>
            <a:ext cx="4114800" cy="640080"/>
          </a:xfrm>
          <a:prstGeom prst="rect">
            <a:avLst/>
          </a:prstGeom>
          <a:noFill/>
          <a:ln/>
        </p:spPr>
        <p:txBody>
          <a:bodyPr wrap="square" lIns="0" tIns="0" rIns="0" bIns="0" rtlCol="0" anchor="t"/>
          <a:lstStyle/>
          <a:p>
            <a:pPr indent="0" marL="0">
              <a:buNone/>
            </a:pPr>
            <a:r>
              <a:rPr lang="en-US" sz="1200" dirty="0">
                <a:solidFill>
                  <a:srgbClr val="3A3D46"/>
                </a:solidFill>
              </a:rPr>
              <a:t>Per-op costs calibrated on this host with a gcc microbenchmark; tables, caches and conversions priced.</a:t>
            </a:r>
            <a:endParaRPr lang="en-US" sz="1200" dirty="0"/>
          </a:p>
        </p:txBody>
      </p:sp>
      <p:sp>
        <p:nvSpPr>
          <p:cNvPr id="30" name="Shape 28"/>
          <p:cNvSpPr/>
          <p:nvPr/>
        </p:nvSpPr>
        <p:spPr>
          <a:xfrm>
            <a:off x="822960" y="4434840"/>
            <a:ext cx="5148072" cy="1280160"/>
          </a:xfrm>
          <a:prstGeom prst="rect">
            <a:avLst/>
          </a:prstGeom>
          <a:solidFill>
            <a:srgbClr val="FCF6F5"/>
          </a:solidFill>
          <a:ln w="12700">
            <a:solidFill>
              <a:srgbClr val="FCF6F5"/>
            </a:solidFill>
            <a:prstDash val="solid"/>
          </a:ln>
        </p:spPr>
      </p:sp>
      <p:sp>
        <p:nvSpPr>
          <p:cNvPr id="31" name="Text 29"/>
          <p:cNvSpPr txBox="1"/>
          <p:nvPr/>
        </p:nvSpPr>
        <p:spPr>
          <a:xfrm>
            <a:off x="1051560" y="4617720"/>
            <a:ext cx="548640" cy="365760"/>
          </a:xfrm>
          <a:prstGeom prst="rect">
            <a:avLst/>
          </a:prstGeom>
          <a:noFill/>
          <a:ln/>
        </p:spPr>
        <p:txBody>
          <a:bodyPr wrap="square" lIns="0" tIns="0" rIns="0" bIns="0" rtlCol="0" anchor="ctr"/>
          <a:lstStyle/>
          <a:p>
            <a:pPr indent="0" marL="0">
              <a:buNone/>
            </a:pPr>
            <a:r>
              <a:rPr lang="en-US" sz="2000" b="1" dirty="0">
                <a:solidFill>
                  <a:srgbClr val="990011"/>
                </a:solidFill>
                <a:latin typeface="Cambria" pitchFamily="34" charset="0"/>
                <a:ea typeface="Cambria" pitchFamily="34" charset="-122"/>
                <a:cs typeface="Cambria" pitchFamily="34" charset="-120"/>
              </a:rPr>
              <a:t>05</a:t>
            </a:r>
            <a:endParaRPr lang="en-US" sz="2000" dirty="0"/>
          </a:p>
        </p:txBody>
      </p:sp>
      <p:sp>
        <p:nvSpPr>
          <p:cNvPr id="32" name="Text 30"/>
          <p:cNvSpPr txBox="1"/>
          <p:nvPr/>
        </p:nvSpPr>
        <p:spPr>
          <a:xfrm>
            <a:off x="1691640" y="4617720"/>
            <a:ext cx="3108960" cy="365760"/>
          </a:xfrm>
          <a:prstGeom prst="rect">
            <a:avLst/>
          </a:prstGeom>
          <a:noFill/>
          <a:ln/>
        </p:spPr>
        <p:txBody>
          <a:bodyPr wrap="square" lIns="0" tIns="0" rIns="0" bIns="0" rtlCol="0" anchor="ctr"/>
          <a:lstStyle/>
          <a:p>
            <a:pPr indent="0" marL="0">
              <a:buNone/>
            </a:pPr>
            <a:r>
              <a:rPr lang="en-US" sz="1600" b="1" dirty="0">
                <a:solidFill>
                  <a:srgbClr val="1C1C22"/>
                </a:solidFill>
                <a:latin typeface="Cambria" pitchFamily="34" charset="0"/>
                <a:ea typeface="Cambria" pitchFamily="34" charset="-122"/>
                <a:cs typeface="Cambria" pitchFamily="34" charset="-120"/>
              </a:rPr>
              <a:t>Solve the allocation</a:t>
            </a:r>
            <a:endParaRPr lang="en-US" sz="1600" dirty="0"/>
          </a:p>
        </p:txBody>
      </p:sp>
      <p:sp>
        <p:nvSpPr>
          <p:cNvPr id="33" name="Shape 31"/>
          <p:cNvSpPr/>
          <p:nvPr/>
        </p:nvSpPr>
        <p:spPr>
          <a:xfrm>
            <a:off x="4892040" y="4636008"/>
            <a:ext cx="868680" cy="292608"/>
          </a:xfrm>
          <a:prstGeom prst="roundRect">
            <a:avLst>
              <a:gd name="adj" fmla="val 50000"/>
            </a:avLst>
          </a:prstGeom>
          <a:solidFill>
            <a:srgbClr val="1F7A4D"/>
          </a:solidFill>
          <a:ln w="12700">
            <a:solidFill>
              <a:srgbClr val="1F7A4D"/>
            </a:solidFill>
            <a:prstDash val="solid"/>
          </a:ln>
        </p:spPr>
      </p:sp>
      <p:sp>
        <p:nvSpPr>
          <p:cNvPr id="34" name="Text 32"/>
          <p:cNvSpPr txBox="1"/>
          <p:nvPr/>
        </p:nvSpPr>
        <p:spPr>
          <a:xfrm>
            <a:off x="4892040" y="4636008"/>
            <a:ext cx="868680" cy="292608"/>
          </a:xfrm>
          <a:prstGeom prst="rect">
            <a:avLst/>
          </a:prstGeom>
          <a:noFill/>
          <a:ln/>
        </p:spPr>
        <p:txBody>
          <a:bodyPr wrap="square" lIns="0" tIns="0" rIns="0" bIns="0" rtlCol="0" anchor="ctr"/>
          <a:lstStyle/>
          <a:p>
            <a:pPr algn="ctr" indent="0" marL="0">
              <a:buNone/>
            </a:pPr>
            <a:r>
              <a:rPr lang="en-US" sz="900" b="1" spc="200" kern="0" dirty="0">
                <a:solidFill>
                  <a:srgbClr val="FFFFFF"/>
                </a:solidFill>
              </a:rPr>
              <a:t>DONE</a:t>
            </a:r>
            <a:endParaRPr lang="en-US" sz="900" dirty="0"/>
          </a:p>
        </p:txBody>
      </p:sp>
      <p:sp>
        <p:nvSpPr>
          <p:cNvPr id="35" name="Text 33"/>
          <p:cNvSpPr txBox="1"/>
          <p:nvPr/>
        </p:nvSpPr>
        <p:spPr>
          <a:xfrm>
            <a:off x="1691640" y="5020056"/>
            <a:ext cx="4114800" cy="640080"/>
          </a:xfrm>
          <a:prstGeom prst="rect">
            <a:avLst/>
          </a:prstGeom>
          <a:noFill/>
          <a:ln/>
        </p:spPr>
        <p:txBody>
          <a:bodyPr wrap="square" lIns="0" tIns="0" rIns="0" bIns="0" rtlCol="0" anchor="t"/>
          <a:lstStyle/>
          <a:p>
            <a:pPr indent="0" marL="0">
              <a:buNone/>
            </a:pPr>
            <a:r>
              <a:rPr lang="en-US" sz="1200" dirty="0">
                <a:solidFill>
                  <a:srgbClr val="3A3D46"/>
                </a:solidFill>
              </a:rPr>
              <a:t>Exact ILP (HiGHS) on the multiple choice knapsack in ≈3 ms; simulated annealing fallback.</a:t>
            </a:r>
            <a:endParaRPr lang="en-US" sz="1200" dirty="0"/>
          </a:p>
        </p:txBody>
      </p:sp>
      <p:sp>
        <p:nvSpPr>
          <p:cNvPr id="36" name="Shape 34"/>
          <p:cNvSpPr/>
          <p:nvPr/>
        </p:nvSpPr>
        <p:spPr>
          <a:xfrm>
            <a:off x="6217920" y="4434840"/>
            <a:ext cx="5148072" cy="1280160"/>
          </a:xfrm>
          <a:prstGeom prst="rect">
            <a:avLst/>
          </a:prstGeom>
          <a:solidFill>
            <a:srgbClr val="FCF6F5"/>
          </a:solidFill>
          <a:ln w="12700">
            <a:solidFill>
              <a:srgbClr val="FCF6F5"/>
            </a:solidFill>
            <a:prstDash val="solid"/>
          </a:ln>
        </p:spPr>
      </p:sp>
      <p:sp>
        <p:nvSpPr>
          <p:cNvPr id="37" name="Text 35"/>
          <p:cNvSpPr txBox="1"/>
          <p:nvPr/>
        </p:nvSpPr>
        <p:spPr>
          <a:xfrm>
            <a:off x="6446520" y="4617720"/>
            <a:ext cx="548640" cy="365760"/>
          </a:xfrm>
          <a:prstGeom prst="rect">
            <a:avLst/>
          </a:prstGeom>
          <a:noFill/>
          <a:ln/>
        </p:spPr>
        <p:txBody>
          <a:bodyPr wrap="square" lIns="0" tIns="0" rIns="0" bIns="0" rtlCol="0" anchor="ctr"/>
          <a:lstStyle/>
          <a:p>
            <a:pPr indent="0" marL="0">
              <a:buNone/>
            </a:pPr>
            <a:r>
              <a:rPr lang="en-US" sz="2000" b="1" dirty="0">
                <a:solidFill>
                  <a:srgbClr val="990011"/>
                </a:solidFill>
                <a:latin typeface="Cambria" pitchFamily="34" charset="0"/>
                <a:ea typeface="Cambria" pitchFamily="34" charset="-122"/>
                <a:cs typeface="Cambria" pitchFamily="34" charset="-120"/>
              </a:rPr>
              <a:t>06</a:t>
            </a:r>
            <a:endParaRPr lang="en-US" sz="2000" dirty="0"/>
          </a:p>
        </p:txBody>
      </p:sp>
      <p:sp>
        <p:nvSpPr>
          <p:cNvPr id="38" name="Text 36"/>
          <p:cNvSpPr txBox="1"/>
          <p:nvPr/>
        </p:nvSpPr>
        <p:spPr>
          <a:xfrm>
            <a:off x="7086600" y="4617720"/>
            <a:ext cx="3108960" cy="365760"/>
          </a:xfrm>
          <a:prstGeom prst="rect">
            <a:avLst/>
          </a:prstGeom>
          <a:noFill/>
          <a:ln/>
        </p:spPr>
        <p:txBody>
          <a:bodyPr wrap="square" lIns="0" tIns="0" rIns="0" bIns="0" rtlCol="0" anchor="ctr"/>
          <a:lstStyle/>
          <a:p>
            <a:pPr indent="0" marL="0">
              <a:buNone/>
            </a:pPr>
            <a:r>
              <a:rPr lang="en-US" sz="1600" b="1" dirty="0">
                <a:solidFill>
                  <a:srgbClr val="1C1C22"/>
                </a:solidFill>
                <a:latin typeface="Cambria" pitchFamily="34" charset="0"/>
                <a:ea typeface="Cambria" pitchFamily="34" charset="-122"/>
                <a:cs typeface="Cambria" pitchFamily="34" charset="-120"/>
              </a:rPr>
              <a:t>Prove it empirically</a:t>
            </a:r>
            <a:endParaRPr lang="en-US" sz="1600" dirty="0"/>
          </a:p>
        </p:txBody>
      </p:sp>
      <p:sp>
        <p:nvSpPr>
          <p:cNvPr id="39" name="Shape 37"/>
          <p:cNvSpPr/>
          <p:nvPr/>
        </p:nvSpPr>
        <p:spPr>
          <a:xfrm>
            <a:off x="10287000" y="4636008"/>
            <a:ext cx="868680" cy="292608"/>
          </a:xfrm>
          <a:prstGeom prst="roundRect">
            <a:avLst>
              <a:gd name="adj" fmla="val 50000"/>
            </a:avLst>
          </a:prstGeom>
          <a:solidFill>
            <a:srgbClr val="1F7A4D"/>
          </a:solidFill>
          <a:ln w="12700">
            <a:solidFill>
              <a:srgbClr val="1F7A4D"/>
            </a:solidFill>
            <a:prstDash val="solid"/>
          </a:ln>
        </p:spPr>
      </p:sp>
      <p:sp>
        <p:nvSpPr>
          <p:cNvPr id="40" name="Text 38"/>
          <p:cNvSpPr txBox="1"/>
          <p:nvPr/>
        </p:nvSpPr>
        <p:spPr>
          <a:xfrm>
            <a:off x="10287000" y="4636008"/>
            <a:ext cx="868680" cy="292608"/>
          </a:xfrm>
          <a:prstGeom prst="rect">
            <a:avLst/>
          </a:prstGeom>
          <a:noFill/>
          <a:ln/>
        </p:spPr>
        <p:txBody>
          <a:bodyPr wrap="square" lIns="0" tIns="0" rIns="0" bIns="0" rtlCol="0" anchor="ctr"/>
          <a:lstStyle/>
          <a:p>
            <a:pPr algn="ctr" indent="0" marL="0">
              <a:buNone/>
            </a:pPr>
            <a:r>
              <a:rPr lang="en-US" sz="900" b="1" spc="200" kern="0" dirty="0">
                <a:solidFill>
                  <a:srgbClr val="FFFFFF"/>
                </a:solidFill>
              </a:rPr>
              <a:t>DONE</a:t>
            </a:r>
            <a:endParaRPr lang="en-US" sz="900" dirty="0"/>
          </a:p>
        </p:txBody>
      </p:sp>
      <p:sp>
        <p:nvSpPr>
          <p:cNvPr id="41" name="Text 39"/>
          <p:cNvSpPr txBox="1"/>
          <p:nvPr/>
        </p:nvSpPr>
        <p:spPr>
          <a:xfrm>
            <a:off x="7086600" y="5020056"/>
            <a:ext cx="4114800" cy="640080"/>
          </a:xfrm>
          <a:prstGeom prst="rect">
            <a:avLst/>
          </a:prstGeom>
          <a:noFill/>
          <a:ln/>
        </p:spPr>
        <p:txBody>
          <a:bodyPr wrap="square" lIns="0" tIns="0" rIns="0" bIns="0" rtlCol="0" anchor="t"/>
          <a:lstStyle/>
          <a:p>
            <a:pPr indent="0" marL="0">
              <a:buNone/>
            </a:pPr>
            <a:r>
              <a:rPr lang="en-US" sz="1200" dirty="0">
                <a:solidFill>
                  <a:srgbClr val="3A3D46"/>
                </a:solidFill>
              </a:rPr>
              <a:t>46,080 sampled runs, 0 violations; 71 automated tests, all passing.</a:t>
            </a:r>
            <a:endParaRPr lang="en-US" sz="1200" dirty="0"/>
          </a:p>
        </p:txBody>
      </p:sp>
      <p:sp>
        <p:nvSpPr>
          <p:cNvPr id="42" name="takeaway"/>
          <p:cNvSpPr/>
          <p:nvPr/>
        </p:nvSpPr>
        <p:spPr>
          <a:xfrm>
            <a:off x="822960" y="5989320"/>
            <a:ext cx="10543032" cy="566928"/>
          </a:xfrm>
          <a:prstGeom prst="rect">
            <a:avLst/>
          </a:prstGeom>
          <a:solidFill>
            <a:srgbClr val="1C1C22"/>
          </a:solidFill>
          <a:ln w="12700">
            <a:solidFill>
              <a:srgbClr val="1C1C22"/>
            </a:solidFill>
            <a:prstDash val="solid"/>
          </a:ln>
        </p:spPr>
      </p:sp>
      <p:sp>
        <p:nvSpPr>
          <p:cNvPr id="43" name="takeaway text"/>
          <p:cNvSpPr txBox="1"/>
          <p:nvPr/>
        </p:nvSpPr>
        <p:spPr>
          <a:xfrm>
            <a:off x="1051560" y="598932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Objective five was the research. It is solved exactly, in milliseconds, at the sizes these kernels produce.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06</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Architecture: Every Phase Built</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Front to back, 3,500 lines of Python plus a C back end. The optimizer carries the contribution.</a:t>
            </a:r>
            <a:endParaRPr lang="en-US" sz="1300" dirty="0"/>
          </a:p>
        </p:txBody>
      </p:sp>
      <p:sp>
        <p:nvSpPr>
          <p:cNvPr id="6" name="Shape 4"/>
          <p:cNvSpPr/>
          <p:nvPr/>
        </p:nvSpPr>
        <p:spPr>
          <a:xfrm>
            <a:off x="822960" y="1600200"/>
            <a:ext cx="1938528" cy="960120"/>
          </a:xfrm>
          <a:prstGeom prst="rect">
            <a:avLst/>
          </a:prstGeom>
          <a:solidFill>
            <a:srgbClr val="FCF6F5"/>
          </a:solidFill>
          <a:ln w="12700">
            <a:solidFill>
              <a:srgbClr val="FCF6F5"/>
            </a:solidFill>
            <a:prstDash val="solid"/>
          </a:ln>
        </p:spPr>
      </p:sp>
      <p:sp>
        <p:nvSpPr>
          <p:cNvPr id="7" name="Text 5"/>
          <p:cNvSpPr txBox="1"/>
          <p:nvPr/>
        </p:nvSpPr>
        <p:spPr>
          <a:xfrm>
            <a:off x="960120" y="1728216"/>
            <a:ext cx="1664208" cy="457200"/>
          </a:xfrm>
          <a:prstGeom prst="rect">
            <a:avLst/>
          </a:prstGeom>
          <a:noFill/>
          <a:ln/>
        </p:spPr>
        <p:txBody>
          <a:bodyPr wrap="square" lIns="0" tIns="0" rIns="0" bIns="0" rtlCol="0" anchor="ctr"/>
          <a:lstStyle/>
          <a:p>
            <a:pPr indent="0" marL="0">
              <a:buNone/>
            </a:pPr>
            <a:r>
              <a:rPr lang="en-US" sz="1300" b="1" dirty="0">
                <a:solidFill>
                  <a:srgbClr val="1C1C22"/>
                </a:solidFill>
              </a:rPr>
              <a:t>Lexical analysis</a:t>
            </a:r>
            <a:endParaRPr lang="en-US" sz="1300" dirty="0"/>
          </a:p>
        </p:txBody>
      </p:sp>
      <p:sp>
        <p:nvSpPr>
          <p:cNvPr id="8" name="Text 6"/>
          <p:cNvSpPr txBox="1"/>
          <p:nvPr/>
        </p:nvSpPr>
        <p:spPr>
          <a:xfrm>
            <a:off x="960120" y="2203704"/>
            <a:ext cx="1664208" cy="274320"/>
          </a:xfrm>
          <a:prstGeom prst="rect">
            <a:avLst/>
          </a:prstGeom>
          <a:noFill/>
          <a:ln/>
        </p:spPr>
        <p:txBody>
          <a:bodyPr wrap="square" lIns="0" tIns="0" rIns="0" bIns="0" rtlCol="0" anchor="ctr"/>
          <a:lstStyle/>
          <a:p>
            <a:pPr indent="0" marL="0">
              <a:buNone/>
            </a:pPr>
            <a:r>
              <a:rPr lang="en-US" sz="950" dirty="0">
                <a:solidFill>
                  <a:srgbClr val="6E7079"/>
                </a:solidFill>
                <a:latin typeface="Courier New" pitchFamily="34" charset="0"/>
                <a:ea typeface="Courier New" pitchFamily="34" charset="-122"/>
                <a:cs typeface="Courier New" pitchFamily="34" charset="-120"/>
              </a:rPr>
              <a:t>lexer.py</a:t>
            </a:r>
            <a:endParaRPr lang="en-US" sz="950" dirty="0"/>
          </a:p>
        </p:txBody>
      </p:sp>
      <p:sp>
        <p:nvSpPr>
          <p:cNvPr id="9" name="Text 7"/>
          <p:cNvSpPr txBox="1"/>
          <p:nvPr/>
        </p:nvSpPr>
        <p:spPr>
          <a:xfrm>
            <a:off x="2761488" y="1828800"/>
            <a:ext cx="219456" cy="457200"/>
          </a:xfrm>
          <a:prstGeom prst="rect">
            <a:avLst/>
          </a:prstGeom>
          <a:noFill/>
          <a:ln/>
        </p:spPr>
        <p:txBody>
          <a:bodyPr wrap="square" lIns="0" tIns="0" rIns="0" bIns="0" rtlCol="0" anchor="ctr"/>
          <a:lstStyle/>
          <a:p>
            <a:pPr algn="ctr" indent="0" marL="0">
              <a:buNone/>
            </a:pPr>
            <a:r>
              <a:rPr lang="en-US" sz="2000" dirty="0">
                <a:solidFill>
                  <a:srgbClr val="9A9CA6"/>
                </a:solidFill>
              </a:rPr>
              <a:t>›</a:t>
            </a:r>
            <a:endParaRPr lang="en-US" sz="2000" dirty="0"/>
          </a:p>
        </p:txBody>
      </p:sp>
      <p:sp>
        <p:nvSpPr>
          <p:cNvPr id="10" name="Shape 8"/>
          <p:cNvSpPr/>
          <p:nvPr/>
        </p:nvSpPr>
        <p:spPr>
          <a:xfrm>
            <a:off x="2980944" y="1600200"/>
            <a:ext cx="1938528" cy="960120"/>
          </a:xfrm>
          <a:prstGeom prst="rect">
            <a:avLst/>
          </a:prstGeom>
          <a:solidFill>
            <a:srgbClr val="FCF6F5"/>
          </a:solidFill>
          <a:ln w="12700">
            <a:solidFill>
              <a:srgbClr val="FCF6F5"/>
            </a:solidFill>
            <a:prstDash val="solid"/>
          </a:ln>
        </p:spPr>
      </p:sp>
      <p:sp>
        <p:nvSpPr>
          <p:cNvPr id="11" name="Text 9"/>
          <p:cNvSpPr txBox="1"/>
          <p:nvPr/>
        </p:nvSpPr>
        <p:spPr>
          <a:xfrm>
            <a:off x="3118104" y="1728216"/>
            <a:ext cx="1664208" cy="457200"/>
          </a:xfrm>
          <a:prstGeom prst="rect">
            <a:avLst/>
          </a:prstGeom>
          <a:noFill/>
          <a:ln/>
        </p:spPr>
        <p:txBody>
          <a:bodyPr wrap="square" lIns="0" tIns="0" rIns="0" bIns="0" rtlCol="0" anchor="ctr"/>
          <a:lstStyle/>
          <a:p>
            <a:pPr indent="0" marL="0">
              <a:buNone/>
            </a:pPr>
            <a:r>
              <a:rPr lang="en-US" sz="1300" b="1" dirty="0">
                <a:solidFill>
                  <a:srgbClr val="1C1C22"/>
                </a:solidFill>
              </a:rPr>
              <a:t>Syntax analysis</a:t>
            </a:r>
            <a:endParaRPr lang="en-US" sz="1300" dirty="0"/>
          </a:p>
        </p:txBody>
      </p:sp>
      <p:sp>
        <p:nvSpPr>
          <p:cNvPr id="12" name="Text 10"/>
          <p:cNvSpPr txBox="1"/>
          <p:nvPr/>
        </p:nvSpPr>
        <p:spPr>
          <a:xfrm>
            <a:off x="3118104" y="2203704"/>
            <a:ext cx="1664208" cy="274320"/>
          </a:xfrm>
          <a:prstGeom prst="rect">
            <a:avLst/>
          </a:prstGeom>
          <a:noFill/>
          <a:ln/>
        </p:spPr>
        <p:txBody>
          <a:bodyPr wrap="square" lIns="0" tIns="0" rIns="0" bIns="0" rtlCol="0" anchor="ctr"/>
          <a:lstStyle/>
          <a:p>
            <a:pPr indent="0" marL="0">
              <a:buNone/>
            </a:pPr>
            <a:r>
              <a:rPr lang="en-US" sz="950" dirty="0">
                <a:solidFill>
                  <a:srgbClr val="6E7079"/>
                </a:solidFill>
                <a:latin typeface="Courier New" pitchFamily="34" charset="0"/>
                <a:ea typeface="Courier New" pitchFamily="34" charset="-122"/>
                <a:cs typeface="Courier New" pitchFamily="34" charset="-120"/>
              </a:rPr>
              <a:t>parser.py</a:t>
            </a:r>
            <a:endParaRPr lang="en-US" sz="950" dirty="0"/>
          </a:p>
        </p:txBody>
      </p:sp>
      <p:sp>
        <p:nvSpPr>
          <p:cNvPr id="13" name="Text 11"/>
          <p:cNvSpPr txBox="1"/>
          <p:nvPr/>
        </p:nvSpPr>
        <p:spPr>
          <a:xfrm>
            <a:off x="4919472" y="1828800"/>
            <a:ext cx="219456" cy="457200"/>
          </a:xfrm>
          <a:prstGeom prst="rect">
            <a:avLst/>
          </a:prstGeom>
          <a:noFill/>
          <a:ln/>
        </p:spPr>
        <p:txBody>
          <a:bodyPr wrap="square" lIns="0" tIns="0" rIns="0" bIns="0" rtlCol="0" anchor="ctr"/>
          <a:lstStyle/>
          <a:p>
            <a:pPr algn="ctr" indent="0" marL="0">
              <a:buNone/>
            </a:pPr>
            <a:r>
              <a:rPr lang="en-US" sz="2000" dirty="0">
                <a:solidFill>
                  <a:srgbClr val="9A9CA6"/>
                </a:solidFill>
              </a:rPr>
              <a:t>›</a:t>
            </a:r>
            <a:endParaRPr lang="en-US" sz="2000" dirty="0"/>
          </a:p>
        </p:txBody>
      </p:sp>
      <p:sp>
        <p:nvSpPr>
          <p:cNvPr id="14" name="Shape 12"/>
          <p:cNvSpPr/>
          <p:nvPr/>
        </p:nvSpPr>
        <p:spPr>
          <a:xfrm>
            <a:off x="5138928" y="1600200"/>
            <a:ext cx="1938528" cy="960120"/>
          </a:xfrm>
          <a:prstGeom prst="rect">
            <a:avLst/>
          </a:prstGeom>
          <a:solidFill>
            <a:srgbClr val="FCF6F5"/>
          </a:solidFill>
          <a:ln w="12700">
            <a:solidFill>
              <a:srgbClr val="FCF6F5"/>
            </a:solidFill>
            <a:prstDash val="solid"/>
          </a:ln>
        </p:spPr>
      </p:sp>
      <p:sp>
        <p:nvSpPr>
          <p:cNvPr id="15" name="Text 13"/>
          <p:cNvSpPr txBox="1"/>
          <p:nvPr/>
        </p:nvSpPr>
        <p:spPr>
          <a:xfrm>
            <a:off x="5276088" y="1728216"/>
            <a:ext cx="1664208" cy="457200"/>
          </a:xfrm>
          <a:prstGeom prst="rect">
            <a:avLst/>
          </a:prstGeom>
          <a:noFill/>
          <a:ln/>
        </p:spPr>
        <p:txBody>
          <a:bodyPr wrap="square" lIns="0" tIns="0" rIns="0" bIns="0" rtlCol="0" anchor="ctr"/>
          <a:lstStyle/>
          <a:p>
            <a:pPr indent="0" marL="0">
              <a:buNone/>
            </a:pPr>
            <a:r>
              <a:rPr lang="en-US" sz="1300" b="1" dirty="0">
                <a:solidFill>
                  <a:srgbClr val="1C1C22"/>
                </a:solidFill>
              </a:rPr>
              <a:t>Semantic analysis</a:t>
            </a:r>
            <a:endParaRPr lang="en-US" sz="1300" dirty="0"/>
          </a:p>
        </p:txBody>
      </p:sp>
      <p:sp>
        <p:nvSpPr>
          <p:cNvPr id="16" name="Text 14"/>
          <p:cNvSpPr txBox="1"/>
          <p:nvPr/>
        </p:nvSpPr>
        <p:spPr>
          <a:xfrm>
            <a:off x="5276088" y="2203704"/>
            <a:ext cx="1664208" cy="274320"/>
          </a:xfrm>
          <a:prstGeom prst="rect">
            <a:avLst/>
          </a:prstGeom>
          <a:noFill/>
          <a:ln/>
        </p:spPr>
        <p:txBody>
          <a:bodyPr wrap="square" lIns="0" tIns="0" rIns="0" bIns="0" rtlCol="0" anchor="ctr"/>
          <a:lstStyle/>
          <a:p>
            <a:pPr indent="0" marL="0">
              <a:buNone/>
            </a:pPr>
            <a:r>
              <a:rPr lang="en-US" sz="950" dirty="0">
                <a:solidFill>
                  <a:srgbClr val="6E7079"/>
                </a:solidFill>
                <a:latin typeface="Courier New" pitchFamily="34" charset="0"/>
                <a:ea typeface="Courier New" pitchFamily="34" charset="-122"/>
                <a:cs typeface="Courier New" pitchFamily="34" charset="-120"/>
              </a:rPr>
              <a:t>semantic.py</a:t>
            </a:r>
            <a:endParaRPr lang="en-US" sz="950" dirty="0"/>
          </a:p>
        </p:txBody>
      </p:sp>
      <p:sp>
        <p:nvSpPr>
          <p:cNvPr id="17" name="Text 15"/>
          <p:cNvSpPr txBox="1"/>
          <p:nvPr/>
        </p:nvSpPr>
        <p:spPr>
          <a:xfrm>
            <a:off x="7077456" y="1828800"/>
            <a:ext cx="219456" cy="457200"/>
          </a:xfrm>
          <a:prstGeom prst="rect">
            <a:avLst/>
          </a:prstGeom>
          <a:noFill/>
          <a:ln/>
        </p:spPr>
        <p:txBody>
          <a:bodyPr wrap="square" lIns="0" tIns="0" rIns="0" bIns="0" rtlCol="0" anchor="ctr"/>
          <a:lstStyle/>
          <a:p>
            <a:pPr algn="ctr" indent="0" marL="0">
              <a:buNone/>
            </a:pPr>
            <a:r>
              <a:rPr lang="en-US" sz="2000" dirty="0">
                <a:solidFill>
                  <a:srgbClr val="9A9CA6"/>
                </a:solidFill>
              </a:rPr>
              <a:t>›</a:t>
            </a:r>
            <a:endParaRPr lang="en-US" sz="2000" dirty="0"/>
          </a:p>
        </p:txBody>
      </p:sp>
      <p:sp>
        <p:nvSpPr>
          <p:cNvPr id="18" name="Shape 16"/>
          <p:cNvSpPr/>
          <p:nvPr/>
        </p:nvSpPr>
        <p:spPr>
          <a:xfrm>
            <a:off x="7296912" y="1600200"/>
            <a:ext cx="1938528" cy="960120"/>
          </a:xfrm>
          <a:prstGeom prst="rect">
            <a:avLst/>
          </a:prstGeom>
          <a:solidFill>
            <a:srgbClr val="FCF6F5"/>
          </a:solidFill>
          <a:ln w="12700">
            <a:solidFill>
              <a:srgbClr val="FCF6F5"/>
            </a:solidFill>
            <a:prstDash val="solid"/>
          </a:ln>
        </p:spPr>
      </p:sp>
      <p:sp>
        <p:nvSpPr>
          <p:cNvPr id="19" name="Text 17"/>
          <p:cNvSpPr txBox="1"/>
          <p:nvPr/>
        </p:nvSpPr>
        <p:spPr>
          <a:xfrm>
            <a:off x="7434072" y="1728216"/>
            <a:ext cx="1664208" cy="457200"/>
          </a:xfrm>
          <a:prstGeom prst="rect">
            <a:avLst/>
          </a:prstGeom>
          <a:noFill/>
          <a:ln/>
        </p:spPr>
        <p:txBody>
          <a:bodyPr wrap="square" lIns="0" tIns="0" rIns="0" bIns="0" rtlCol="0" anchor="ctr"/>
          <a:lstStyle/>
          <a:p>
            <a:pPr indent="0" marL="0">
              <a:buNone/>
            </a:pPr>
            <a:r>
              <a:rPr lang="en-US" sz="1300" b="1" dirty="0">
                <a:solidFill>
                  <a:srgbClr val="1C1C22"/>
                </a:solidFill>
              </a:rPr>
              <a:t>SSA IR + reductions</a:t>
            </a:r>
            <a:endParaRPr lang="en-US" sz="1300" dirty="0"/>
          </a:p>
        </p:txBody>
      </p:sp>
      <p:sp>
        <p:nvSpPr>
          <p:cNvPr id="20" name="Text 18"/>
          <p:cNvSpPr txBox="1"/>
          <p:nvPr/>
        </p:nvSpPr>
        <p:spPr>
          <a:xfrm>
            <a:off x="7434072" y="2203704"/>
            <a:ext cx="1664208" cy="274320"/>
          </a:xfrm>
          <a:prstGeom prst="rect">
            <a:avLst/>
          </a:prstGeom>
          <a:noFill/>
          <a:ln/>
        </p:spPr>
        <p:txBody>
          <a:bodyPr wrap="square" lIns="0" tIns="0" rIns="0" bIns="0" rtlCol="0" anchor="ctr"/>
          <a:lstStyle/>
          <a:p>
            <a:pPr indent="0" marL="0">
              <a:buNone/>
            </a:pPr>
            <a:r>
              <a:rPr lang="en-US" sz="950" dirty="0">
                <a:solidFill>
                  <a:srgbClr val="6E7079"/>
                </a:solidFill>
                <a:latin typeface="Courier New" pitchFamily="34" charset="0"/>
                <a:ea typeface="Courier New" pitchFamily="34" charset="-122"/>
                <a:cs typeface="Courier New" pitchFamily="34" charset="-120"/>
              </a:rPr>
              <a:t>ir.py</a:t>
            </a:r>
            <a:endParaRPr lang="en-US" sz="950" dirty="0"/>
          </a:p>
        </p:txBody>
      </p:sp>
      <p:sp>
        <p:nvSpPr>
          <p:cNvPr id="21" name="Text 19"/>
          <p:cNvSpPr txBox="1"/>
          <p:nvPr/>
        </p:nvSpPr>
        <p:spPr>
          <a:xfrm>
            <a:off x="9235440" y="1828800"/>
            <a:ext cx="219456" cy="457200"/>
          </a:xfrm>
          <a:prstGeom prst="rect">
            <a:avLst/>
          </a:prstGeom>
          <a:noFill/>
          <a:ln/>
        </p:spPr>
        <p:txBody>
          <a:bodyPr wrap="square" lIns="0" tIns="0" rIns="0" bIns="0" rtlCol="0" anchor="ctr"/>
          <a:lstStyle/>
          <a:p>
            <a:pPr algn="ctr" indent="0" marL="0">
              <a:buNone/>
            </a:pPr>
            <a:r>
              <a:rPr lang="en-US" sz="2000" dirty="0">
                <a:solidFill>
                  <a:srgbClr val="9A9CA6"/>
                </a:solidFill>
              </a:rPr>
              <a:t>›</a:t>
            </a:r>
            <a:endParaRPr lang="en-US" sz="2000" dirty="0"/>
          </a:p>
        </p:txBody>
      </p:sp>
      <p:sp>
        <p:nvSpPr>
          <p:cNvPr id="22" name="Shape 20"/>
          <p:cNvSpPr/>
          <p:nvPr/>
        </p:nvSpPr>
        <p:spPr>
          <a:xfrm>
            <a:off x="9454896" y="1600200"/>
            <a:ext cx="1938528" cy="960120"/>
          </a:xfrm>
          <a:prstGeom prst="rect">
            <a:avLst/>
          </a:prstGeom>
          <a:solidFill>
            <a:srgbClr val="FCF6F5"/>
          </a:solidFill>
          <a:ln w="12700">
            <a:solidFill>
              <a:srgbClr val="FCF6F5"/>
            </a:solidFill>
            <a:prstDash val="solid"/>
          </a:ln>
        </p:spPr>
      </p:sp>
      <p:sp>
        <p:nvSpPr>
          <p:cNvPr id="23" name="Text 21"/>
          <p:cNvSpPr txBox="1"/>
          <p:nvPr/>
        </p:nvSpPr>
        <p:spPr>
          <a:xfrm>
            <a:off x="9592056" y="1728216"/>
            <a:ext cx="1664208" cy="457200"/>
          </a:xfrm>
          <a:prstGeom prst="rect">
            <a:avLst/>
          </a:prstGeom>
          <a:noFill/>
          <a:ln/>
        </p:spPr>
        <p:txBody>
          <a:bodyPr wrap="square" lIns="0" tIns="0" rIns="0" bIns="0" rtlCol="0" anchor="ctr"/>
          <a:lstStyle/>
          <a:p>
            <a:pPr indent="0" marL="0">
              <a:buNone/>
            </a:pPr>
            <a:r>
              <a:rPr lang="en-US" sz="1300" b="1" dirty="0">
                <a:solidFill>
                  <a:srgbClr val="1C1C22"/>
                </a:solidFill>
              </a:rPr>
              <a:t>Unroll to dataflow graph</a:t>
            </a:r>
            <a:endParaRPr lang="en-US" sz="1300" dirty="0"/>
          </a:p>
        </p:txBody>
      </p:sp>
      <p:sp>
        <p:nvSpPr>
          <p:cNvPr id="24" name="Text 22"/>
          <p:cNvSpPr txBox="1"/>
          <p:nvPr/>
        </p:nvSpPr>
        <p:spPr>
          <a:xfrm>
            <a:off x="9592056" y="2203704"/>
            <a:ext cx="1664208" cy="274320"/>
          </a:xfrm>
          <a:prstGeom prst="rect">
            <a:avLst/>
          </a:prstGeom>
          <a:noFill/>
          <a:ln/>
        </p:spPr>
        <p:txBody>
          <a:bodyPr wrap="square" lIns="0" tIns="0" rIns="0" bIns="0" rtlCol="0" anchor="ctr"/>
          <a:lstStyle/>
          <a:p>
            <a:pPr indent="0" marL="0">
              <a:buNone/>
            </a:pPr>
            <a:r>
              <a:rPr lang="en-US" sz="950" dirty="0">
                <a:solidFill>
                  <a:srgbClr val="6E7079"/>
                </a:solidFill>
                <a:latin typeface="Courier New" pitchFamily="34" charset="0"/>
                <a:ea typeface="Courier New" pitchFamily="34" charset="-122"/>
                <a:cs typeface="Courier New" pitchFamily="34" charset="-120"/>
              </a:rPr>
              <a:t>ddg.py</a:t>
            </a:r>
            <a:endParaRPr lang="en-US" sz="950" dirty="0"/>
          </a:p>
        </p:txBody>
      </p:sp>
      <p:sp>
        <p:nvSpPr>
          <p:cNvPr id="25" name="Shape 23"/>
          <p:cNvSpPr/>
          <p:nvPr/>
        </p:nvSpPr>
        <p:spPr>
          <a:xfrm>
            <a:off x="822960" y="3200400"/>
            <a:ext cx="1938528" cy="960120"/>
          </a:xfrm>
          <a:prstGeom prst="rect">
            <a:avLst/>
          </a:prstGeom>
          <a:solidFill>
            <a:srgbClr val="2F3C7E"/>
          </a:solidFill>
          <a:ln w="12700">
            <a:solidFill>
              <a:srgbClr val="2F3C7E"/>
            </a:solidFill>
            <a:prstDash val="solid"/>
          </a:ln>
        </p:spPr>
      </p:sp>
      <p:sp>
        <p:nvSpPr>
          <p:cNvPr id="26" name="Text 24"/>
          <p:cNvSpPr txBox="1"/>
          <p:nvPr/>
        </p:nvSpPr>
        <p:spPr>
          <a:xfrm>
            <a:off x="960120" y="3328416"/>
            <a:ext cx="1664208" cy="457200"/>
          </a:xfrm>
          <a:prstGeom prst="rect">
            <a:avLst/>
          </a:prstGeom>
          <a:noFill/>
          <a:ln/>
        </p:spPr>
        <p:txBody>
          <a:bodyPr wrap="square" lIns="0" tIns="0" rIns="0" bIns="0" rtlCol="0" anchor="ctr"/>
          <a:lstStyle/>
          <a:p>
            <a:pPr indent="0" marL="0">
              <a:buNone/>
            </a:pPr>
            <a:r>
              <a:rPr lang="en-US" sz="1300" b="1" dirty="0">
                <a:solidFill>
                  <a:srgbClr val="FFFFFF"/>
                </a:solidFill>
              </a:rPr>
              <a:t>Affine range analysis</a:t>
            </a:r>
            <a:endParaRPr lang="en-US" sz="1300" dirty="0"/>
          </a:p>
        </p:txBody>
      </p:sp>
      <p:sp>
        <p:nvSpPr>
          <p:cNvPr id="27" name="Text 25"/>
          <p:cNvSpPr txBox="1"/>
          <p:nvPr/>
        </p:nvSpPr>
        <p:spPr>
          <a:xfrm>
            <a:off x="960120" y="3803904"/>
            <a:ext cx="1664208" cy="274320"/>
          </a:xfrm>
          <a:prstGeom prst="rect">
            <a:avLst/>
          </a:prstGeom>
          <a:noFill/>
          <a:ln/>
        </p:spPr>
        <p:txBody>
          <a:bodyPr wrap="square" lIns="0" tIns="0" rIns="0" bIns="0" rtlCol="0" anchor="ctr"/>
          <a:lstStyle/>
          <a:p>
            <a:pPr indent="0" marL="0">
              <a:buNone/>
            </a:pPr>
            <a:r>
              <a:rPr lang="en-US" sz="950" dirty="0">
                <a:solidFill>
                  <a:srgbClr val="C9CBD4"/>
                </a:solidFill>
                <a:latin typeface="Courier New" pitchFamily="34" charset="0"/>
                <a:ea typeface="Courier New" pitchFamily="34" charset="-122"/>
                <a:cs typeface="Courier New" pitchFamily="34" charset="-120"/>
              </a:rPr>
              <a:t>analysis.py</a:t>
            </a:r>
            <a:endParaRPr lang="en-US" sz="950" dirty="0"/>
          </a:p>
        </p:txBody>
      </p:sp>
      <p:sp>
        <p:nvSpPr>
          <p:cNvPr id="28" name="Text 26"/>
          <p:cNvSpPr txBox="1"/>
          <p:nvPr/>
        </p:nvSpPr>
        <p:spPr>
          <a:xfrm>
            <a:off x="2761488" y="3429000"/>
            <a:ext cx="219456" cy="457200"/>
          </a:xfrm>
          <a:prstGeom prst="rect">
            <a:avLst/>
          </a:prstGeom>
          <a:noFill/>
          <a:ln/>
        </p:spPr>
        <p:txBody>
          <a:bodyPr wrap="square" lIns="0" tIns="0" rIns="0" bIns="0" rtlCol="0" anchor="ctr"/>
          <a:lstStyle/>
          <a:p>
            <a:pPr algn="ctr" indent="0" marL="0">
              <a:buNone/>
            </a:pPr>
            <a:r>
              <a:rPr lang="en-US" sz="2000" dirty="0">
                <a:solidFill>
                  <a:srgbClr val="9A9CA6"/>
                </a:solidFill>
              </a:rPr>
              <a:t>›</a:t>
            </a:r>
            <a:endParaRPr lang="en-US" sz="2000" dirty="0"/>
          </a:p>
        </p:txBody>
      </p:sp>
      <p:sp>
        <p:nvSpPr>
          <p:cNvPr id="29" name="Shape 27"/>
          <p:cNvSpPr/>
          <p:nvPr/>
        </p:nvSpPr>
        <p:spPr>
          <a:xfrm>
            <a:off x="2980944" y="3200400"/>
            <a:ext cx="1938528" cy="960120"/>
          </a:xfrm>
          <a:prstGeom prst="rect">
            <a:avLst/>
          </a:prstGeom>
          <a:solidFill>
            <a:srgbClr val="2F3C7E"/>
          </a:solidFill>
          <a:ln w="12700">
            <a:solidFill>
              <a:srgbClr val="2F3C7E"/>
            </a:solidFill>
            <a:prstDash val="solid"/>
          </a:ln>
        </p:spPr>
      </p:sp>
      <p:sp>
        <p:nvSpPr>
          <p:cNvPr id="30" name="Text 28"/>
          <p:cNvSpPr txBox="1"/>
          <p:nvPr/>
        </p:nvSpPr>
        <p:spPr>
          <a:xfrm>
            <a:off x="3118104" y="3328416"/>
            <a:ext cx="1664208" cy="457200"/>
          </a:xfrm>
          <a:prstGeom prst="rect">
            <a:avLst/>
          </a:prstGeom>
          <a:noFill/>
          <a:ln/>
        </p:spPr>
        <p:txBody>
          <a:bodyPr wrap="square" lIns="0" tIns="0" rIns="0" bIns="0" rtlCol="0" anchor="ctr"/>
          <a:lstStyle/>
          <a:p>
            <a:pPr indent="0" marL="0">
              <a:buNone/>
            </a:pPr>
            <a:r>
              <a:rPr lang="en-US" sz="1300" b="1" dirty="0">
                <a:solidFill>
                  <a:srgbClr val="FFFFFF"/>
                </a:solidFill>
              </a:rPr>
              <a:t>Error models, 4 levers</a:t>
            </a:r>
            <a:endParaRPr lang="en-US" sz="1300" dirty="0"/>
          </a:p>
        </p:txBody>
      </p:sp>
      <p:sp>
        <p:nvSpPr>
          <p:cNvPr id="31" name="Text 29"/>
          <p:cNvSpPr txBox="1"/>
          <p:nvPr/>
        </p:nvSpPr>
        <p:spPr>
          <a:xfrm>
            <a:off x="3118104" y="3803904"/>
            <a:ext cx="1664208" cy="274320"/>
          </a:xfrm>
          <a:prstGeom prst="rect">
            <a:avLst/>
          </a:prstGeom>
          <a:noFill/>
          <a:ln/>
        </p:spPr>
        <p:txBody>
          <a:bodyPr wrap="square" lIns="0" tIns="0" rIns="0" bIns="0" rtlCol="0" anchor="ctr"/>
          <a:lstStyle/>
          <a:p>
            <a:pPr indent="0" marL="0">
              <a:buNone/>
            </a:pPr>
            <a:r>
              <a:rPr lang="en-US" sz="950" dirty="0">
                <a:solidFill>
                  <a:srgbClr val="C9CBD4"/>
                </a:solidFill>
                <a:latin typeface="Courier New" pitchFamily="34" charset="0"/>
                <a:ea typeface="Courier New" pitchFamily="34" charset="-122"/>
                <a:cs typeface="Courier New" pitchFamily="34" charset="-120"/>
              </a:rPr>
              <a:t>levers.py</a:t>
            </a:r>
            <a:endParaRPr lang="en-US" sz="950" dirty="0"/>
          </a:p>
        </p:txBody>
      </p:sp>
      <p:sp>
        <p:nvSpPr>
          <p:cNvPr id="32" name="Text 30"/>
          <p:cNvSpPr txBox="1"/>
          <p:nvPr/>
        </p:nvSpPr>
        <p:spPr>
          <a:xfrm>
            <a:off x="4919472" y="3429000"/>
            <a:ext cx="219456" cy="457200"/>
          </a:xfrm>
          <a:prstGeom prst="rect">
            <a:avLst/>
          </a:prstGeom>
          <a:noFill/>
          <a:ln/>
        </p:spPr>
        <p:txBody>
          <a:bodyPr wrap="square" lIns="0" tIns="0" rIns="0" bIns="0" rtlCol="0" anchor="ctr"/>
          <a:lstStyle/>
          <a:p>
            <a:pPr algn="ctr" indent="0" marL="0">
              <a:buNone/>
            </a:pPr>
            <a:r>
              <a:rPr lang="en-US" sz="2000" dirty="0">
                <a:solidFill>
                  <a:srgbClr val="9A9CA6"/>
                </a:solidFill>
              </a:rPr>
              <a:t>›</a:t>
            </a:r>
            <a:endParaRPr lang="en-US" sz="2000" dirty="0"/>
          </a:p>
        </p:txBody>
      </p:sp>
      <p:sp>
        <p:nvSpPr>
          <p:cNvPr id="33" name="Shape 31"/>
          <p:cNvSpPr/>
          <p:nvPr/>
        </p:nvSpPr>
        <p:spPr>
          <a:xfrm>
            <a:off x="5138928" y="3200400"/>
            <a:ext cx="1938528" cy="960120"/>
          </a:xfrm>
          <a:prstGeom prst="rect">
            <a:avLst/>
          </a:prstGeom>
          <a:solidFill>
            <a:srgbClr val="2F3C7E"/>
          </a:solidFill>
          <a:ln w="12700">
            <a:solidFill>
              <a:srgbClr val="2F3C7E"/>
            </a:solidFill>
            <a:prstDash val="solid"/>
          </a:ln>
        </p:spPr>
      </p:sp>
      <p:sp>
        <p:nvSpPr>
          <p:cNvPr id="34" name="Text 32"/>
          <p:cNvSpPr txBox="1"/>
          <p:nvPr/>
        </p:nvSpPr>
        <p:spPr>
          <a:xfrm>
            <a:off x="5276088" y="3328416"/>
            <a:ext cx="1664208" cy="457200"/>
          </a:xfrm>
          <a:prstGeom prst="rect">
            <a:avLst/>
          </a:prstGeom>
          <a:noFill/>
          <a:ln/>
        </p:spPr>
        <p:txBody>
          <a:bodyPr wrap="square" lIns="0" tIns="0" rIns="0" bIns="0" rtlCol="0" anchor="ctr"/>
          <a:lstStyle/>
          <a:p>
            <a:pPr indent="0" marL="0">
              <a:buNone/>
            </a:pPr>
            <a:r>
              <a:rPr lang="en-US" sz="1300" b="1" dirty="0">
                <a:solidFill>
                  <a:srgbClr val="FFFFFF"/>
                </a:solidFill>
              </a:rPr>
              <a:t>Allocate ⇄ certify</a:t>
            </a:r>
            <a:endParaRPr lang="en-US" sz="1300" dirty="0"/>
          </a:p>
        </p:txBody>
      </p:sp>
      <p:sp>
        <p:nvSpPr>
          <p:cNvPr id="35" name="Text 33"/>
          <p:cNvSpPr txBox="1"/>
          <p:nvPr/>
        </p:nvSpPr>
        <p:spPr>
          <a:xfrm>
            <a:off x="5276088" y="3803904"/>
            <a:ext cx="1664208" cy="274320"/>
          </a:xfrm>
          <a:prstGeom prst="rect">
            <a:avLst/>
          </a:prstGeom>
          <a:noFill/>
          <a:ln/>
        </p:spPr>
        <p:txBody>
          <a:bodyPr wrap="square" lIns="0" tIns="0" rIns="0" bIns="0" rtlCol="0" anchor="ctr"/>
          <a:lstStyle/>
          <a:p>
            <a:pPr indent="0" marL="0">
              <a:buNone/>
            </a:pPr>
            <a:r>
              <a:rPr lang="en-US" sz="950" dirty="0">
                <a:solidFill>
                  <a:srgbClr val="C9CBD4"/>
                </a:solidFill>
                <a:latin typeface="Courier New" pitchFamily="34" charset="0"/>
                <a:ea typeface="Courier New" pitchFamily="34" charset="-122"/>
                <a:cs typeface="Courier New" pitchFamily="34" charset="-120"/>
              </a:rPr>
              <a:t>allocator.py · certify.py</a:t>
            </a:r>
            <a:endParaRPr lang="en-US" sz="950" dirty="0"/>
          </a:p>
        </p:txBody>
      </p:sp>
      <p:sp>
        <p:nvSpPr>
          <p:cNvPr id="36" name="Text 34"/>
          <p:cNvSpPr txBox="1"/>
          <p:nvPr/>
        </p:nvSpPr>
        <p:spPr>
          <a:xfrm>
            <a:off x="7077456" y="3429000"/>
            <a:ext cx="219456" cy="457200"/>
          </a:xfrm>
          <a:prstGeom prst="rect">
            <a:avLst/>
          </a:prstGeom>
          <a:noFill/>
          <a:ln/>
        </p:spPr>
        <p:txBody>
          <a:bodyPr wrap="square" lIns="0" tIns="0" rIns="0" bIns="0" rtlCol="0" anchor="ctr"/>
          <a:lstStyle/>
          <a:p>
            <a:pPr algn="ctr" indent="0" marL="0">
              <a:buNone/>
            </a:pPr>
            <a:r>
              <a:rPr lang="en-US" sz="2000" dirty="0">
                <a:solidFill>
                  <a:srgbClr val="9A9CA6"/>
                </a:solidFill>
              </a:rPr>
              <a:t>›</a:t>
            </a:r>
            <a:endParaRPr lang="en-US" sz="2000" dirty="0"/>
          </a:p>
        </p:txBody>
      </p:sp>
      <p:sp>
        <p:nvSpPr>
          <p:cNvPr id="37" name="Shape 35"/>
          <p:cNvSpPr/>
          <p:nvPr/>
        </p:nvSpPr>
        <p:spPr>
          <a:xfrm>
            <a:off x="7296912" y="3200400"/>
            <a:ext cx="1938528" cy="960120"/>
          </a:xfrm>
          <a:prstGeom prst="rect">
            <a:avLst/>
          </a:prstGeom>
          <a:solidFill>
            <a:srgbClr val="FCF6F5"/>
          </a:solidFill>
          <a:ln w="12700">
            <a:solidFill>
              <a:srgbClr val="FCF6F5"/>
            </a:solidFill>
            <a:prstDash val="solid"/>
          </a:ln>
        </p:spPr>
      </p:sp>
      <p:sp>
        <p:nvSpPr>
          <p:cNvPr id="38" name="Text 36"/>
          <p:cNvSpPr txBox="1"/>
          <p:nvPr/>
        </p:nvSpPr>
        <p:spPr>
          <a:xfrm>
            <a:off x="7434072" y="3328416"/>
            <a:ext cx="1664208" cy="457200"/>
          </a:xfrm>
          <a:prstGeom prst="rect">
            <a:avLst/>
          </a:prstGeom>
          <a:noFill/>
          <a:ln/>
        </p:spPr>
        <p:txBody>
          <a:bodyPr wrap="square" lIns="0" tIns="0" rIns="0" bIns="0" rtlCol="0" anchor="ctr"/>
          <a:lstStyle/>
          <a:p>
            <a:pPr indent="0" marL="0">
              <a:buNone/>
            </a:pPr>
            <a:r>
              <a:rPr lang="en-US" sz="1300" b="1" dirty="0">
                <a:solidFill>
                  <a:srgbClr val="1C1C22"/>
                </a:solidFill>
              </a:rPr>
              <a:t>Code generation (C)</a:t>
            </a:r>
            <a:endParaRPr lang="en-US" sz="1300" dirty="0"/>
          </a:p>
        </p:txBody>
      </p:sp>
      <p:sp>
        <p:nvSpPr>
          <p:cNvPr id="39" name="Text 37"/>
          <p:cNvSpPr txBox="1"/>
          <p:nvPr/>
        </p:nvSpPr>
        <p:spPr>
          <a:xfrm>
            <a:off x="7434072" y="3803904"/>
            <a:ext cx="1664208" cy="274320"/>
          </a:xfrm>
          <a:prstGeom prst="rect">
            <a:avLst/>
          </a:prstGeom>
          <a:noFill/>
          <a:ln/>
        </p:spPr>
        <p:txBody>
          <a:bodyPr wrap="square" lIns="0" tIns="0" rIns="0" bIns="0" rtlCol="0" anchor="ctr"/>
          <a:lstStyle/>
          <a:p>
            <a:pPr indent="0" marL="0">
              <a:buNone/>
            </a:pPr>
            <a:r>
              <a:rPr lang="en-US" sz="950" dirty="0">
                <a:solidFill>
                  <a:srgbClr val="6E7079"/>
                </a:solidFill>
                <a:latin typeface="Courier New" pitchFamily="34" charset="0"/>
                <a:ea typeface="Courier New" pitchFamily="34" charset="-122"/>
                <a:cs typeface="Courier New" pitchFamily="34" charset="-120"/>
              </a:rPr>
              <a:t>codegen.py</a:t>
            </a:r>
            <a:endParaRPr lang="en-US" sz="950" dirty="0"/>
          </a:p>
        </p:txBody>
      </p:sp>
      <p:sp>
        <p:nvSpPr>
          <p:cNvPr id="40" name="Text 38"/>
          <p:cNvSpPr txBox="1"/>
          <p:nvPr/>
        </p:nvSpPr>
        <p:spPr>
          <a:xfrm>
            <a:off x="9235440" y="3429000"/>
            <a:ext cx="219456" cy="457200"/>
          </a:xfrm>
          <a:prstGeom prst="rect">
            <a:avLst/>
          </a:prstGeom>
          <a:noFill/>
          <a:ln/>
        </p:spPr>
        <p:txBody>
          <a:bodyPr wrap="square" lIns="0" tIns="0" rIns="0" bIns="0" rtlCol="0" anchor="ctr"/>
          <a:lstStyle/>
          <a:p>
            <a:pPr algn="ctr" indent="0" marL="0">
              <a:buNone/>
            </a:pPr>
            <a:r>
              <a:rPr lang="en-US" sz="2000" dirty="0">
                <a:solidFill>
                  <a:srgbClr val="9A9CA6"/>
                </a:solidFill>
              </a:rPr>
              <a:t>›</a:t>
            </a:r>
            <a:endParaRPr lang="en-US" sz="2000" dirty="0"/>
          </a:p>
        </p:txBody>
      </p:sp>
      <p:sp>
        <p:nvSpPr>
          <p:cNvPr id="41" name="Shape 39"/>
          <p:cNvSpPr/>
          <p:nvPr/>
        </p:nvSpPr>
        <p:spPr>
          <a:xfrm>
            <a:off x="9454896" y="3200400"/>
            <a:ext cx="1938528" cy="960120"/>
          </a:xfrm>
          <a:prstGeom prst="rect">
            <a:avLst/>
          </a:prstGeom>
          <a:solidFill>
            <a:srgbClr val="FCF6F5"/>
          </a:solidFill>
          <a:ln w="12700">
            <a:solidFill>
              <a:srgbClr val="FCF6F5"/>
            </a:solidFill>
            <a:prstDash val="solid"/>
          </a:ln>
        </p:spPr>
      </p:sp>
      <p:sp>
        <p:nvSpPr>
          <p:cNvPr id="42" name="Text 40"/>
          <p:cNvSpPr txBox="1"/>
          <p:nvPr/>
        </p:nvSpPr>
        <p:spPr>
          <a:xfrm>
            <a:off x="9592056" y="3328416"/>
            <a:ext cx="1664208" cy="457200"/>
          </a:xfrm>
          <a:prstGeom prst="rect">
            <a:avLst/>
          </a:prstGeom>
          <a:noFill/>
          <a:ln/>
        </p:spPr>
        <p:txBody>
          <a:bodyPr wrap="square" lIns="0" tIns="0" rIns="0" bIns="0" rtlCol="0" anchor="ctr"/>
          <a:lstStyle/>
          <a:p>
            <a:pPr indent="0" marL="0">
              <a:buNone/>
            </a:pPr>
            <a:r>
              <a:rPr lang="en-US" sz="1300" b="1" dirty="0">
                <a:solidFill>
                  <a:srgbClr val="1C1C22"/>
                </a:solidFill>
              </a:rPr>
              <a:t>Verify: Monte Carlo + gcc</a:t>
            </a:r>
            <a:endParaRPr lang="en-US" sz="1300" dirty="0"/>
          </a:p>
        </p:txBody>
      </p:sp>
      <p:sp>
        <p:nvSpPr>
          <p:cNvPr id="43" name="Text 41"/>
          <p:cNvSpPr txBox="1"/>
          <p:nvPr/>
        </p:nvSpPr>
        <p:spPr>
          <a:xfrm>
            <a:off x="9592056" y="3803904"/>
            <a:ext cx="1664208" cy="274320"/>
          </a:xfrm>
          <a:prstGeom prst="rect">
            <a:avLst/>
          </a:prstGeom>
          <a:noFill/>
          <a:ln/>
        </p:spPr>
        <p:txBody>
          <a:bodyPr wrap="square" lIns="0" tIns="0" rIns="0" bIns="0" rtlCol="0" anchor="ctr"/>
          <a:lstStyle/>
          <a:p>
            <a:pPr indent="0" marL="0">
              <a:buNone/>
            </a:pPr>
            <a:r>
              <a:rPr lang="en-US" sz="950" dirty="0">
                <a:solidFill>
                  <a:srgbClr val="6E7079"/>
                </a:solidFill>
                <a:latin typeface="Courier New" pitchFamily="34" charset="0"/>
                <a:ea typeface="Courier New" pitchFamily="34" charset="-122"/>
                <a:cs typeface="Courier New" pitchFamily="34" charset="-120"/>
              </a:rPr>
              <a:t>interp.py · cbench.py</a:t>
            </a:r>
            <a:endParaRPr lang="en-US" sz="950" dirty="0"/>
          </a:p>
        </p:txBody>
      </p:sp>
      <p:sp>
        <p:nvSpPr>
          <p:cNvPr id="44" name="Text 42"/>
          <p:cNvSpPr txBox="1"/>
          <p:nvPr/>
        </p:nvSpPr>
        <p:spPr>
          <a:xfrm>
            <a:off x="10972800" y="2578608"/>
            <a:ext cx="365760" cy="548640"/>
          </a:xfrm>
          <a:prstGeom prst="rect">
            <a:avLst/>
          </a:prstGeom>
          <a:noFill/>
          <a:ln/>
        </p:spPr>
        <p:txBody>
          <a:bodyPr wrap="square" lIns="0" tIns="0" rIns="0" bIns="0" rtlCol="0" anchor="ctr"/>
          <a:lstStyle/>
          <a:p>
            <a:pPr algn="ctr" indent="0" marL="0">
              <a:buNone/>
            </a:pPr>
            <a:r>
              <a:rPr lang="en-US" sz="1800" dirty="0">
                <a:solidFill>
                  <a:srgbClr val="9A9CA6"/>
                </a:solidFill>
              </a:rPr>
              <a:t>↓</a:t>
            </a:r>
            <a:endParaRPr lang="en-US" sz="1800" dirty="0"/>
          </a:p>
        </p:txBody>
      </p:sp>
      <p:sp>
        <p:nvSpPr>
          <p:cNvPr id="45" name="Text 43"/>
          <p:cNvSpPr txBox="1"/>
          <p:nvPr/>
        </p:nvSpPr>
        <p:spPr>
          <a:xfrm>
            <a:off x="822960" y="4983480"/>
            <a:ext cx="365760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AROUND THE COMPILER</a:t>
            </a:r>
            <a:endParaRPr lang="en-US" sz="1000" dirty="0"/>
          </a:p>
        </p:txBody>
      </p:sp>
      <p:sp>
        <p:nvSpPr>
          <p:cNvPr id="46" name="Text 44"/>
          <p:cNvSpPr txBox="1"/>
          <p:nvPr/>
        </p:nvSpPr>
        <p:spPr>
          <a:xfrm>
            <a:off x="822960" y="5257800"/>
            <a:ext cx="10515600" cy="365760"/>
          </a:xfrm>
          <a:prstGeom prst="rect">
            <a:avLst/>
          </a:prstGeom>
          <a:noFill/>
          <a:ln/>
        </p:spPr>
        <p:txBody>
          <a:bodyPr wrap="square" lIns="0" tIns="0" rIns="0" bIns="0" rtlCol="0" anchor="t"/>
          <a:lstStyle/>
          <a:p>
            <a:pPr indent="0" marL="0">
              <a:buNone/>
            </a:pPr>
            <a:r>
              <a:rPr lang="en-US" sz="1300" dirty="0">
                <a:solidFill>
                  <a:srgbClr val="6E7079"/>
                </a:solidFill>
              </a:rPr>
              <a:t>Flask JSON API  ·  browser frontend (editor, budget slider, lever toggles, six analysis views)  ·  71 pytest cases  ·  host cost calibration</a:t>
            </a:r>
            <a:endParaRPr lang="en-US" sz="1300" dirty="0"/>
          </a:p>
        </p:txBody>
      </p:sp>
      <p:sp>
        <p:nvSpPr>
          <p:cNvPr id="47" name="takeaway"/>
          <p:cNvSpPr/>
          <p:nvPr/>
        </p:nvSpPr>
        <p:spPr>
          <a:xfrm>
            <a:off x="822960" y="5897880"/>
            <a:ext cx="10543032" cy="566928"/>
          </a:xfrm>
          <a:prstGeom prst="rect">
            <a:avLst/>
          </a:prstGeom>
          <a:solidFill>
            <a:srgbClr val="1C1C22"/>
          </a:solidFill>
          <a:ln w="12700">
            <a:solidFill>
              <a:srgbClr val="1C1C22"/>
            </a:solidFill>
            <a:prstDash val="solid"/>
          </a:ln>
        </p:spPr>
      </p:sp>
      <p:sp>
        <p:nvSpPr>
          <p:cNvPr id="48" name="takeaway text"/>
          <p:cNvSpPr txBox="1"/>
          <p:nvPr/>
        </p:nvSpPr>
        <p:spPr>
          <a:xfrm>
            <a:off x="1051560" y="589788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Navy boxes are the research. White boxes are standard compiler construction, all of it built rather than borrowed.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07</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The Language and Its SSA Form</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A source kernel and the IR the compiler reasons about. Reduction loops are detected here.</a:t>
            </a:r>
            <a:endParaRPr lang="en-US" sz="1300" dirty="0"/>
          </a:p>
        </p:txBody>
      </p:sp>
      <p:sp>
        <p:nvSpPr>
          <p:cNvPr id="6" name="Text 4"/>
          <p:cNvSpPr txBox="1"/>
          <p:nvPr/>
        </p:nvSpPr>
        <p:spPr>
          <a:xfrm>
            <a:off x="822960" y="1463040"/>
            <a:ext cx="457200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SOURCE  ·  KMEANS.ACC</a:t>
            </a:r>
            <a:endParaRPr lang="en-US" sz="1000" dirty="0"/>
          </a:p>
        </p:txBody>
      </p:sp>
      <p:sp>
        <p:nvSpPr>
          <p:cNvPr id="7" name="Shape 5"/>
          <p:cNvSpPr/>
          <p:nvPr/>
        </p:nvSpPr>
        <p:spPr>
          <a:xfrm>
            <a:off x="822960" y="1755648"/>
            <a:ext cx="4937760" cy="3931920"/>
          </a:xfrm>
          <a:prstGeom prst="rect">
            <a:avLst/>
          </a:prstGeom>
          <a:solidFill>
            <a:srgbClr val="1C1C22"/>
          </a:solidFill>
          <a:ln w="12700">
            <a:solidFill>
              <a:srgbClr val="1C1C22"/>
            </a:solidFill>
            <a:prstDash val="solid"/>
          </a:ln>
        </p:spPr>
      </p:sp>
      <p:sp>
        <p:nvSpPr>
          <p:cNvPr id="8" name="Text 6"/>
          <p:cNvSpPr txBox="1"/>
          <p:nvPr/>
        </p:nvSpPr>
        <p:spPr>
          <a:xfrm>
            <a:off x="1005840" y="1874520"/>
            <a:ext cx="4663440" cy="3749040"/>
          </a:xfrm>
          <a:prstGeom prst="rect">
            <a:avLst/>
          </a:prstGeom>
          <a:noFill/>
          <a:ln/>
        </p:spPr>
        <p:txBody>
          <a:bodyPr wrap="square" lIns="0" tIns="0" rIns="0" bIns="0" rtlCol="0" anchor="t"/>
          <a:lstStyle/>
          <a:p>
            <a:pPr indent="0" marL="0">
              <a:buNone/>
            </a:pPr>
            <a:r>
              <a:rPr lang="en-US" sz="1100" dirty="0">
                <a:solidFill>
                  <a:srgbClr val="D8D9E0"/>
                </a:solidFill>
                <a:latin typeface="Courier New" pitchFamily="34" charset="0"/>
                <a:ea typeface="Courier New" pitchFamily="34" charset="-122"/>
                <a:cs typeface="Courier New" pitchFamily="34" charset="-120"/>
              </a:rPr>
              <a:t>kernel kmeans {</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budget 1e-2;</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input p[16, 8] in [0, 1];</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input c[4, 8] in [0, 1];</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output w[16, 4];</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fn kern(d) = exp(-d) * (1 + d);</a:t>
            </a:r>
            <a:endParaRPr lang="en-US" sz="1100" dirty="0"/>
          </a:p>
          <a:p>
            <a:pPr indent="0" marL="0">
              <a:buNone/>
            </a:pP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for i in 0..16 {</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for j in 0..4 {</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let d = 0;</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for k in 0..8 {</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let t = p[i, k] - c[j, k];</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d += t * t;</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w[i, j] = kern(d);</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a:t>
            </a:r>
            <a:endParaRPr lang="en-US" sz="1100" dirty="0"/>
          </a:p>
        </p:txBody>
      </p:sp>
      <p:sp>
        <p:nvSpPr>
          <p:cNvPr id="9" name="Text 7"/>
          <p:cNvSpPr txBox="1"/>
          <p:nvPr/>
        </p:nvSpPr>
        <p:spPr>
          <a:xfrm>
            <a:off x="6035040" y="1463040"/>
            <a:ext cx="457200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SSA IR (INNER LOOP)</a:t>
            </a:r>
            <a:endParaRPr lang="en-US" sz="1000" dirty="0"/>
          </a:p>
        </p:txBody>
      </p:sp>
      <p:sp>
        <p:nvSpPr>
          <p:cNvPr id="10" name="Shape 8"/>
          <p:cNvSpPr/>
          <p:nvPr/>
        </p:nvSpPr>
        <p:spPr>
          <a:xfrm>
            <a:off x="6035040" y="1755648"/>
            <a:ext cx="5330952" cy="2514600"/>
          </a:xfrm>
          <a:prstGeom prst="rect">
            <a:avLst/>
          </a:prstGeom>
          <a:solidFill>
            <a:srgbClr val="1C1C22"/>
          </a:solidFill>
          <a:ln w="12700">
            <a:solidFill>
              <a:srgbClr val="1C1C22"/>
            </a:solidFill>
            <a:prstDash val="solid"/>
          </a:ln>
        </p:spPr>
      </p:sp>
      <p:sp>
        <p:nvSpPr>
          <p:cNvPr id="11" name="Text 9"/>
          <p:cNvSpPr txBox="1"/>
          <p:nvPr/>
        </p:nvSpPr>
        <p:spPr>
          <a:xfrm>
            <a:off x="6217920" y="1874520"/>
            <a:ext cx="5029200" cy="2331720"/>
          </a:xfrm>
          <a:prstGeom prst="rect">
            <a:avLst/>
          </a:prstGeom>
          <a:noFill/>
          <a:ln/>
        </p:spPr>
        <p:txBody>
          <a:bodyPr wrap="square" lIns="0" tIns="0" rIns="0" bIns="0" rtlCol="0" anchor="t"/>
          <a:lstStyle/>
          <a:p>
            <a:pPr indent="0" marL="0">
              <a:buNone/>
            </a:pPr>
            <a:r>
              <a:rPr lang="en-US" sz="1100" dirty="0">
                <a:solidFill>
                  <a:srgbClr val="D8D9E0"/>
                </a:solidFill>
                <a:latin typeface="Courier New" pitchFamily="34" charset="0"/>
                <a:ea typeface="Courier New" pitchFamily="34" charset="-122"/>
                <a:cs typeface="Courier New" pitchFamily="34" charset="-120"/>
              </a:rPr>
              <a:t>L3: for k in 0..8 {   ; reduction (perforable)</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d.1 = phi(d.0, d.2)</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t1  = load p[i, k]</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t2  = load c[j, k]</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t.0 = sub t1, t2      ; site s4</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t3  = mul t.0, t.0    ; site s5</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  d.2 = add d.1, t3     ; site s6</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t4 = call kern(d.1)     ; site s7</a:t>
            </a:r>
            <a:endParaRPr lang="en-US" sz="1100" dirty="0"/>
          </a:p>
          <a:p>
            <a:pPr indent="0" marL="0">
              <a:buNone/>
            </a:pPr>
            <a:r>
              <a:rPr lang="en-US" sz="1100" dirty="0">
                <a:solidFill>
                  <a:srgbClr val="D8D9E0"/>
                </a:solidFill>
                <a:latin typeface="Courier New" pitchFamily="34" charset="0"/>
                <a:ea typeface="Courier New" pitchFamily="34" charset="-122"/>
                <a:cs typeface="Courier New" pitchFamily="34" charset="-120"/>
              </a:rPr>
              <a:t>store w[i, j] = t4</a:t>
            </a:r>
            <a:endParaRPr lang="en-US" sz="1100" dirty="0"/>
          </a:p>
        </p:txBody>
      </p:sp>
      <p:sp>
        <p:nvSpPr>
          <p:cNvPr id="12" name="Text 10"/>
          <p:cNvSpPr txBox="1"/>
          <p:nvPr/>
        </p:nvSpPr>
        <p:spPr>
          <a:xfrm>
            <a:off x="6035040" y="4480560"/>
            <a:ext cx="5303520" cy="237744"/>
          </a:xfrm>
          <a:prstGeom prst="rect">
            <a:avLst/>
          </a:prstGeom>
          <a:noFill/>
          <a:ln/>
        </p:spPr>
        <p:txBody>
          <a:bodyPr wrap="square" lIns="0" tIns="0" rIns="0" bIns="0" rtlCol="0" anchor="ctr"/>
          <a:lstStyle/>
          <a:p>
            <a:pPr indent="0" marL="0">
              <a:buNone/>
            </a:pPr>
            <a:r>
              <a:rPr lang="en-US" sz="950" b="1" spc="200" kern="0" dirty="0">
                <a:solidFill>
                  <a:srgbClr val="2F3C7E"/>
                </a:solidFill>
              </a:rPr>
              <a:t>ONE DEFINITION, ONE ERROR TERM</a:t>
            </a:r>
            <a:endParaRPr lang="en-US" sz="950" dirty="0"/>
          </a:p>
        </p:txBody>
      </p:sp>
      <p:sp>
        <p:nvSpPr>
          <p:cNvPr id="13" name="Text 11"/>
          <p:cNvSpPr txBox="1"/>
          <p:nvPr/>
        </p:nvSpPr>
        <p:spPr>
          <a:xfrm>
            <a:off x="6035040" y="4727448"/>
            <a:ext cx="5303520" cy="365760"/>
          </a:xfrm>
          <a:prstGeom prst="rect">
            <a:avLst/>
          </a:prstGeom>
          <a:noFill/>
          <a:ln/>
        </p:spPr>
        <p:txBody>
          <a:bodyPr wrap="square" lIns="0" tIns="0" rIns="0" bIns="0" rtlCol="0" anchor="t"/>
          <a:lstStyle/>
          <a:p>
            <a:pPr indent="0" marL="0">
              <a:buNone/>
            </a:pPr>
            <a:r>
              <a:rPr lang="en-US" sz="1200" dirty="0">
                <a:solidFill>
                  <a:srgbClr val="3A3D46"/>
                </a:solidFill>
              </a:rPr>
              <a:t>Every site is a static instruction; its dynamic instances share one choice.</a:t>
            </a:r>
            <a:endParaRPr lang="en-US" sz="1200" dirty="0"/>
          </a:p>
        </p:txBody>
      </p:sp>
      <p:sp>
        <p:nvSpPr>
          <p:cNvPr id="14" name="Text 12"/>
          <p:cNvSpPr txBox="1"/>
          <p:nvPr/>
        </p:nvSpPr>
        <p:spPr>
          <a:xfrm>
            <a:off x="6035040" y="5102352"/>
            <a:ext cx="5303520" cy="237744"/>
          </a:xfrm>
          <a:prstGeom prst="rect">
            <a:avLst/>
          </a:prstGeom>
          <a:noFill/>
          <a:ln/>
        </p:spPr>
        <p:txBody>
          <a:bodyPr wrap="square" lIns="0" tIns="0" rIns="0" bIns="0" rtlCol="0" anchor="ctr"/>
          <a:lstStyle/>
          <a:p>
            <a:pPr indent="0" marL="0">
              <a:buNone/>
            </a:pPr>
            <a:r>
              <a:rPr lang="en-US" sz="950" b="1" spc="200" kern="0" dirty="0">
                <a:solidFill>
                  <a:srgbClr val="2F3C7E"/>
                </a:solidFill>
              </a:rPr>
              <a:t>COUNTED LOOPS UNROLL EXACTLY</a:t>
            </a:r>
            <a:endParaRPr lang="en-US" sz="950" dirty="0"/>
          </a:p>
        </p:txBody>
      </p:sp>
      <p:sp>
        <p:nvSpPr>
          <p:cNvPr id="15" name="Text 13"/>
          <p:cNvSpPr txBox="1"/>
          <p:nvPr/>
        </p:nvSpPr>
        <p:spPr>
          <a:xfrm>
            <a:off x="6035040" y="5349240"/>
            <a:ext cx="5303520" cy="365760"/>
          </a:xfrm>
          <a:prstGeom prst="rect">
            <a:avLst/>
          </a:prstGeom>
          <a:noFill/>
          <a:ln/>
        </p:spPr>
        <p:txBody>
          <a:bodyPr wrap="square" lIns="0" tIns="0" rIns="0" bIns="0" rtlCol="0" anchor="t"/>
          <a:lstStyle/>
          <a:p>
            <a:pPr indent="0" marL="0">
              <a:buNone/>
            </a:pPr>
            <a:r>
              <a:rPr lang="en-US" sz="1200" dirty="0">
                <a:solidFill>
                  <a:srgbClr val="3A3D46"/>
                </a:solidFill>
              </a:rPr>
              <a:t>k-means becomes 1,761 dataflow nodes; ranges and errors are tracked per instance.</a:t>
            </a:r>
            <a:endParaRPr lang="en-US" sz="1200" dirty="0"/>
          </a:p>
        </p:txBody>
      </p:sp>
      <p:sp>
        <p:nvSpPr>
          <p:cNvPr id="16" name="takeaway"/>
          <p:cNvSpPr/>
          <p:nvPr/>
        </p:nvSpPr>
        <p:spPr>
          <a:xfrm>
            <a:off x="822960" y="5897880"/>
            <a:ext cx="10543032" cy="566928"/>
          </a:xfrm>
          <a:prstGeom prst="rect">
            <a:avLst/>
          </a:prstGeom>
          <a:solidFill>
            <a:srgbClr val="FCF6F5"/>
          </a:solidFill>
          <a:ln w="12700">
            <a:solidFill>
              <a:srgbClr val="FCF6F5"/>
            </a:solidFill>
            <a:prstDash val="solid"/>
          </a:ln>
        </p:spPr>
      </p:sp>
      <p:sp>
        <p:nvSpPr>
          <p:cNvPr id="17" name="takeaway text"/>
          <p:cNvSpPr txBox="1"/>
          <p:nvPr/>
        </p:nvSpPr>
        <p:spPr>
          <a:xfrm>
            <a:off x="1051560" y="5897880"/>
            <a:ext cx="10149840" cy="566928"/>
          </a:xfrm>
          <a:prstGeom prst="rect">
            <a:avLst/>
          </a:prstGeom>
          <a:noFill/>
          <a:ln/>
        </p:spPr>
        <p:txBody>
          <a:bodyPr wrap="square" lIns="0" tIns="0" rIns="0" bIns="0" rtlCol="0" anchor="ctr"/>
          <a:lstStyle/>
          <a:p>
            <a:pPr indent="0" marL="0">
              <a:buNone/>
            </a:pPr>
            <a:r>
              <a:rPr lang="en-US" sz="1400" dirty="0">
                <a:solidFill>
                  <a:srgbClr val="1C1C22"/>
                </a:solidFill>
              </a:rPr>
              <a:t>Semantic checks reject what cannot be bounded: out-of-range indices, possible division by zero, log of a possibly non-positive value.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08</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The Error Engine</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Two affine analyses: one for the value of every node, one for its error.</a:t>
            </a:r>
            <a:endParaRPr lang="en-US" sz="1300" dirty="0"/>
          </a:p>
        </p:txBody>
      </p:sp>
      <p:sp>
        <p:nvSpPr>
          <p:cNvPr id="6" name="Shape 4"/>
          <p:cNvSpPr/>
          <p:nvPr/>
        </p:nvSpPr>
        <p:spPr>
          <a:xfrm>
            <a:off x="822960" y="1508760"/>
            <a:ext cx="10543032" cy="868680"/>
          </a:xfrm>
          <a:prstGeom prst="rect">
            <a:avLst/>
          </a:prstGeom>
          <a:solidFill>
            <a:srgbClr val="FCF6F5"/>
          </a:solidFill>
          <a:ln w="12700">
            <a:solidFill>
              <a:srgbClr val="FCF6F5"/>
            </a:solidFill>
            <a:prstDash val="solid"/>
          </a:ln>
        </p:spPr>
      </p:sp>
      <p:sp>
        <p:nvSpPr>
          <p:cNvPr id="7" name="Text 5"/>
          <p:cNvSpPr txBox="1"/>
          <p:nvPr/>
        </p:nvSpPr>
        <p:spPr>
          <a:xfrm>
            <a:off x="1051560" y="1508760"/>
            <a:ext cx="5120640" cy="868680"/>
          </a:xfrm>
          <a:prstGeom prst="rect">
            <a:avLst/>
          </a:prstGeom>
          <a:noFill/>
          <a:ln/>
        </p:spPr>
        <p:txBody>
          <a:bodyPr wrap="square" lIns="0" tIns="0" rIns="0" bIns="0" rtlCol="0" anchor="ctr"/>
          <a:lstStyle/>
          <a:p>
            <a:pPr indent="0" marL="0">
              <a:buNone/>
            </a:pPr>
            <a:r>
              <a:rPr lang="en-US" sz="1500" dirty="0">
                <a:solidFill>
                  <a:srgbClr val="1C1C22"/>
                </a:solidFill>
                <a:latin typeface="Courier New" pitchFamily="34" charset="0"/>
                <a:ea typeface="Courier New" pitchFamily="34" charset="-122"/>
                <a:cs typeface="Courier New" pitchFamily="34" charset="-120"/>
              </a:rPr>
              <a:t>E = Σ cₖηₖ + r,   ηₖ ∈ [−1, 1],  r ≥ 0</a:t>
            </a:r>
            <a:endParaRPr lang="en-US" sz="1500" dirty="0"/>
          </a:p>
        </p:txBody>
      </p:sp>
      <p:sp>
        <p:nvSpPr>
          <p:cNvPr id="8" name="Text 6"/>
          <p:cNvSpPr txBox="1"/>
          <p:nvPr/>
        </p:nvSpPr>
        <p:spPr>
          <a:xfrm>
            <a:off x="6400800" y="1508760"/>
            <a:ext cx="4754880" cy="868680"/>
          </a:xfrm>
          <a:prstGeom prst="rect">
            <a:avLst/>
          </a:prstGeom>
          <a:noFill/>
          <a:ln/>
        </p:spPr>
        <p:txBody>
          <a:bodyPr wrap="square" lIns="0" tIns="0" rIns="0" bIns="0" rtlCol="0" anchor="ctr"/>
          <a:lstStyle/>
          <a:p>
            <a:pPr indent="0" marL="0">
              <a:buNone/>
            </a:pPr>
            <a:r>
              <a:rPr lang="en-US" sz="1500" b="1" dirty="0">
                <a:solidFill>
                  <a:srgbClr val="990011"/>
                </a:solidFill>
                <a:latin typeface="Courier New" pitchFamily="34" charset="0"/>
                <a:ea typeface="Courier New" pitchFamily="34" charset="-122"/>
                <a:cs typeface="Courier New" pitchFamily="34" charset="-120"/>
              </a:rPr>
              <a:t>bound = maxⱼ (Σ|cₖ| + r) ≤ β</a:t>
            </a:r>
            <a:endParaRPr lang="en-US" sz="1500" dirty="0"/>
          </a:p>
        </p:txBody>
      </p:sp>
      <p:sp>
        <p:nvSpPr>
          <p:cNvPr id="9" name="Text 7"/>
          <p:cNvSpPr txBox="1"/>
          <p:nvPr/>
        </p:nvSpPr>
        <p:spPr>
          <a:xfrm>
            <a:off x="822960" y="2697480"/>
            <a:ext cx="3291840" cy="237744"/>
          </a:xfrm>
          <a:prstGeom prst="rect">
            <a:avLst/>
          </a:prstGeom>
          <a:noFill/>
          <a:ln/>
        </p:spPr>
        <p:txBody>
          <a:bodyPr wrap="square" lIns="0" tIns="0" rIns="0" bIns="0" rtlCol="0" anchor="ctr"/>
          <a:lstStyle/>
          <a:p>
            <a:pPr indent="0" marL="0">
              <a:buNone/>
            </a:pPr>
            <a:r>
              <a:rPr lang="en-US" sz="1000" b="1" spc="200" kern="0" dirty="0">
                <a:solidFill>
                  <a:srgbClr val="2F3C7E"/>
                </a:solidFill>
              </a:rPr>
              <a:t>LINEAR OPERATIONS</a:t>
            </a:r>
            <a:endParaRPr lang="en-US" sz="1000" dirty="0"/>
          </a:p>
        </p:txBody>
      </p:sp>
      <p:sp>
        <p:nvSpPr>
          <p:cNvPr id="10" name="Text 8"/>
          <p:cNvSpPr txBox="1"/>
          <p:nvPr/>
        </p:nvSpPr>
        <p:spPr>
          <a:xfrm>
            <a:off x="822960" y="2990088"/>
            <a:ext cx="3291840" cy="1097280"/>
          </a:xfrm>
          <a:prstGeom prst="rect">
            <a:avLst/>
          </a:prstGeom>
          <a:noFill/>
          <a:ln/>
        </p:spPr>
        <p:txBody>
          <a:bodyPr wrap="square" lIns="0" tIns="0" rIns="0" bIns="0" rtlCol="0" anchor="t"/>
          <a:lstStyle/>
          <a:p>
            <a:pPr indent="0" marL="0">
              <a:buNone/>
            </a:pPr>
            <a:r>
              <a:rPr lang="en-US" sz="1300" dirty="0">
                <a:solidFill>
                  <a:srgbClr val="1C1C22"/>
                </a:solidFill>
              </a:rPr>
              <a:t>Coefficients stay exact. Errors with opposite signs cancel, which intervals can never do (x − x is exactly 0).</a:t>
            </a:r>
            <a:endParaRPr lang="en-US" sz="1300" dirty="0"/>
          </a:p>
        </p:txBody>
      </p:sp>
      <p:sp>
        <p:nvSpPr>
          <p:cNvPr id="11" name="Text 9"/>
          <p:cNvSpPr txBox="1"/>
          <p:nvPr/>
        </p:nvSpPr>
        <p:spPr>
          <a:xfrm>
            <a:off x="4416552" y="2697480"/>
            <a:ext cx="3291840" cy="237744"/>
          </a:xfrm>
          <a:prstGeom prst="rect">
            <a:avLst/>
          </a:prstGeom>
          <a:noFill/>
          <a:ln/>
        </p:spPr>
        <p:txBody>
          <a:bodyPr wrap="square" lIns="0" tIns="0" rIns="0" bIns="0" rtlCol="0" anchor="ctr"/>
          <a:lstStyle/>
          <a:p>
            <a:pPr indent="0" marL="0">
              <a:buNone/>
            </a:pPr>
            <a:r>
              <a:rPr lang="en-US" sz="1000" b="1" spc="200" kern="0" dirty="0">
                <a:solidFill>
                  <a:srgbClr val="2F3C7E"/>
                </a:solidFill>
              </a:rPr>
              <a:t>NONLINEAR OPERATIONS</a:t>
            </a:r>
            <a:endParaRPr lang="en-US" sz="1000" dirty="0"/>
          </a:p>
        </p:txBody>
      </p:sp>
      <p:sp>
        <p:nvSpPr>
          <p:cNvPr id="12" name="Text 10"/>
          <p:cNvSpPr txBox="1"/>
          <p:nvPr/>
        </p:nvSpPr>
        <p:spPr>
          <a:xfrm>
            <a:off x="4416552" y="2990088"/>
            <a:ext cx="3291840" cy="1097280"/>
          </a:xfrm>
          <a:prstGeom prst="rect">
            <a:avLst/>
          </a:prstGeom>
          <a:noFill/>
          <a:ln/>
        </p:spPr>
        <p:txBody>
          <a:bodyPr wrap="square" lIns="0" tIns="0" rIns="0" bIns="0" rtlCol="0" anchor="t"/>
          <a:lstStyle/>
          <a:p>
            <a:pPr indent="0" marL="0">
              <a:buNone/>
            </a:pPr>
            <a:r>
              <a:rPr lang="en-US" sz="1300" dirty="0">
                <a:solidFill>
                  <a:srgbClr val="1C1C22"/>
                </a:solidFill>
              </a:rPr>
              <a:t>Mean value forms evaluated over the approximate operand range, so the result is a bound, not a first order estimate.</a:t>
            </a:r>
            <a:endParaRPr lang="en-US" sz="1300" dirty="0"/>
          </a:p>
        </p:txBody>
      </p:sp>
      <p:sp>
        <p:nvSpPr>
          <p:cNvPr id="13" name="Text 11"/>
          <p:cNvSpPr txBox="1"/>
          <p:nvPr/>
        </p:nvSpPr>
        <p:spPr>
          <a:xfrm>
            <a:off x="8010144" y="2697480"/>
            <a:ext cx="329184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SIGN-UNCERTAIN TERMS</a:t>
            </a:r>
            <a:endParaRPr lang="en-US" sz="1000" dirty="0"/>
          </a:p>
        </p:txBody>
      </p:sp>
      <p:sp>
        <p:nvSpPr>
          <p:cNvPr id="14" name="Text 12"/>
          <p:cNvSpPr txBox="1"/>
          <p:nvPr/>
        </p:nvSpPr>
        <p:spPr>
          <a:xfrm>
            <a:off x="8010144" y="2990088"/>
            <a:ext cx="3291840" cy="1097280"/>
          </a:xfrm>
          <a:prstGeom prst="rect">
            <a:avLst/>
          </a:prstGeom>
          <a:noFill/>
          <a:ln/>
        </p:spPr>
        <p:txBody>
          <a:bodyPr wrap="square" lIns="0" tIns="0" rIns="0" bIns="0" rtlCol="0" anchor="t"/>
          <a:lstStyle/>
          <a:p>
            <a:pPr indent="0" marL="0">
              <a:buNone/>
            </a:pPr>
            <a:r>
              <a:rPr lang="en-US" sz="1300" dirty="0">
                <a:solidFill>
                  <a:srgbClr val="1C1C22"/>
                </a:solidFill>
              </a:rPr>
              <a:t>When an operand's range straddles zero the coefficient's sign is unknown; that part moves to r and can no longer cancel.</a:t>
            </a:r>
            <a:endParaRPr lang="en-US" sz="1300" dirty="0"/>
          </a:p>
        </p:txBody>
      </p:sp>
      <p:sp>
        <p:nvSpPr>
          <p:cNvPr id="15" name="Text 13"/>
          <p:cNvSpPr txBox="1"/>
          <p:nvPr/>
        </p:nvSpPr>
        <p:spPr>
          <a:xfrm>
            <a:off x="822960" y="4251960"/>
            <a:ext cx="1005840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EACH LEVER'S LOCAL ERROR ENTERS AS A FRESH SYMBOL</a:t>
            </a:r>
            <a:endParaRPr lang="en-US" sz="1000" dirty="0"/>
          </a:p>
        </p:txBody>
      </p:sp>
      <p:sp>
        <p:nvSpPr>
          <p:cNvPr id="16" name="Shape 14"/>
          <p:cNvSpPr/>
          <p:nvPr/>
        </p:nvSpPr>
        <p:spPr>
          <a:xfrm>
            <a:off x="822960" y="4544568"/>
            <a:ext cx="2514600" cy="868680"/>
          </a:xfrm>
          <a:prstGeom prst="rect">
            <a:avLst/>
          </a:prstGeom>
          <a:solidFill>
            <a:srgbClr val="2F3C7E"/>
          </a:solidFill>
          <a:ln w="12700">
            <a:solidFill>
              <a:srgbClr val="2F3C7E"/>
            </a:solidFill>
            <a:prstDash val="solid"/>
          </a:ln>
        </p:spPr>
      </p:sp>
      <p:sp>
        <p:nvSpPr>
          <p:cNvPr id="17" name="Text 15"/>
          <p:cNvSpPr txBox="1"/>
          <p:nvPr/>
        </p:nvSpPr>
        <p:spPr>
          <a:xfrm>
            <a:off x="960120" y="4590288"/>
            <a:ext cx="2240280" cy="320040"/>
          </a:xfrm>
          <a:prstGeom prst="rect">
            <a:avLst/>
          </a:prstGeom>
          <a:noFill/>
          <a:ln/>
        </p:spPr>
        <p:txBody>
          <a:bodyPr wrap="square" lIns="0" tIns="0" rIns="0" bIns="0" rtlCol="0" anchor="ctr"/>
          <a:lstStyle/>
          <a:p>
            <a:pPr indent="0" marL="0">
              <a:buNone/>
            </a:pPr>
            <a:r>
              <a:rPr lang="en-US" sz="1300" b="1" dirty="0">
                <a:solidFill>
                  <a:srgbClr val="FFFFFF"/>
                </a:solidFill>
              </a:rPr>
              <a:t>Rounding</a:t>
            </a:r>
            <a:endParaRPr lang="en-US" sz="1300" dirty="0"/>
          </a:p>
        </p:txBody>
      </p:sp>
      <p:sp>
        <p:nvSpPr>
          <p:cNvPr id="18" name="Text 16"/>
          <p:cNvSpPr txBox="1"/>
          <p:nvPr/>
        </p:nvSpPr>
        <p:spPr>
          <a:xfrm>
            <a:off x="960120" y="4937760"/>
            <a:ext cx="224028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u·|x̂| + d</a:t>
            </a:r>
            <a:endParaRPr lang="en-US" sz="1200" dirty="0"/>
          </a:p>
        </p:txBody>
      </p:sp>
      <p:sp>
        <p:nvSpPr>
          <p:cNvPr id="19" name="Shape 17"/>
          <p:cNvSpPr/>
          <p:nvPr/>
        </p:nvSpPr>
        <p:spPr>
          <a:xfrm>
            <a:off x="3502152" y="4544568"/>
            <a:ext cx="2514600" cy="868680"/>
          </a:xfrm>
          <a:prstGeom prst="rect">
            <a:avLst/>
          </a:prstGeom>
          <a:solidFill>
            <a:srgbClr val="990011"/>
          </a:solidFill>
          <a:ln w="12700">
            <a:solidFill>
              <a:srgbClr val="990011"/>
            </a:solidFill>
            <a:prstDash val="solid"/>
          </a:ln>
        </p:spPr>
      </p:sp>
      <p:sp>
        <p:nvSpPr>
          <p:cNvPr id="20" name="Text 18"/>
          <p:cNvSpPr txBox="1"/>
          <p:nvPr/>
        </p:nvSpPr>
        <p:spPr>
          <a:xfrm>
            <a:off x="3639312" y="4590288"/>
            <a:ext cx="2240280" cy="320040"/>
          </a:xfrm>
          <a:prstGeom prst="rect">
            <a:avLst/>
          </a:prstGeom>
          <a:noFill/>
          <a:ln/>
        </p:spPr>
        <p:txBody>
          <a:bodyPr wrap="square" lIns="0" tIns="0" rIns="0" bIns="0" rtlCol="0" anchor="ctr"/>
          <a:lstStyle/>
          <a:p>
            <a:pPr indent="0" marL="0">
              <a:buNone/>
            </a:pPr>
            <a:r>
              <a:rPr lang="en-US" sz="1300" b="1" dirty="0">
                <a:solidFill>
                  <a:srgbClr val="FFFFFF"/>
                </a:solidFill>
              </a:rPr>
              <a:t>Perforation</a:t>
            </a:r>
            <a:endParaRPr lang="en-US" sz="1300" dirty="0"/>
          </a:p>
        </p:txBody>
      </p:sp>
      <p:sp>
        <p:nvSpPr>
          <p:cNvPr id="21" name="Text 19"/>
          <p:cNvSpPr txBox="1"/>
          <p:nvPr/>
        </p:nvSpPr>
        <p:spPr>
          <a:xfrm>
            <a:off x="3639312" y="4937760"/>
            <a:ext cx="224028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max|skipped term|</a:t>
            </a:r>
            <a:endParaRPr lang="en-US" sz="1200" dirty="0"/>
          </a:p>
        </p:txBody>
      </p:sp>
      <p:sp>
        <p:nvSpPr>
          <p:cNvPr id="22" name="Shape 20"/>
          <p:cNvSpPr/>
          <p:nvPr/>
        </p:nvSpPr>
        <p:spPr>
          <a:xfrm>
            <a:off x="6181344" y="4544568"/>
            <a:ext cx="2514600" cy="868680"/>
          </a:xfrm>
          <a:prstGeom prst="rect">
            <a:avLst/>
          </a:prstGeom>
          <a:solidFill>
            <a:srgbClr val="B7791F"/>
          </a:solidFill>
          <a:ln w="12700">
            <a:solidFill>
              <a:srgbClr val="B7791F"/>
            </a:solidFill>
            <a:prstDash val="solid"/>
          </a:ln>
        </p:spPr>
      </p:sp>
      <p:sp>
        <p:nvSpPr>
          <p:cNvPr id="23" name="Text 21"/>
          <p:cNvSpPr txBox="1"/>
          <p:nvPr/>
        </p:nvSpPr>
        <p:spPr>
          <a:xfrm>
            <a:off x="6318504" y="4590288"/>
            <a:ext cx="2240280" cy="320040"/>
          </a:xfrm>
          <a:prstGeom prst="rect">
            <a:avLst/>
          </a:prstGeom>
          <a:noFill/>
          <a:ln/>
        </p:spPr>
        <p:txBody>
          <a:bodyPr wrap="square" lIns="0" tIns="0" rIns="0" bIns="0" rtlCol="0" anchor="ctr"/>
          <a:lstStyle/>
          <a:p>
            <a:pPr indent="0" marL="0">
              <a:buNone/>
            </a:pPr>
            <a:r>
              <a:rPr lang="en-US" sz="1300" b="1" dirty="0">
                <a:solidFill>
                  <a:srgbClr val="FFFFFF"/>
                </a:solidFill>
              </a:rPr>
              <a:t>Memo</a:t>
            </a:r>
            <a:endParaRPr lang="en-US" sz="1300" dirty="0"/>
          </a:p>
        </p:txBody>
      </p:sp>
      <p:sp>
        <p:nvSpPr>
          <p:cNvPr id="24" name="Text 22"/>
          <p:cNvSpPr txBox="1"/>
          <p:nvPr/>
        </p:nvSpPr>
        <p:spPr>
          <a:xfrm>
            <a:off x="6318504" y="4937760"/>
            <a:ext cx="224028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L·δ + own</a:t>
            </a:r>
            <a:endParaRPr lang="en-US" sz="1200" dirty="0"/>
          </a:p>
        </p:txBody>
      </p:sp>
      <p:sp>
        <p:nvSpPr>
          <p:cNvPr id="25" name="Shape 23"/>
          <p:cNvSpPr/>
          <p:nvPr/>
        </p:nvSpPr>
        <p:spPr>
          <a:xfrm>
            <a:off x="8860536" y="4544568"/>
            <a:ext cx="2514600" cy="868680"/>
          </a:xfrm>
          <a:prstGeom prst="rect">
            <a:avLst/>
          </a:prstGeom>
          <a:solidFill>
            <a:srgbClr val="1D7F78"/>
          </a:solidFill>
          <a:ln w="12700">
            <a:solidFill>
              <a:srgbClr val="1D7F78"/>
            </a:solidFill>
            <a:prstDash val="solid"/>
          </a:ln>
        </p:spPr>
      </p:sp>
      <p:sp>
        <p:nvSpPr>
          <p:cNvPr id="26" name="Text 24"/>
          <p:cNvSpPr txBox="1"/>
          <p:nvPr/>
        </p:nvSpPr>
        <p:spPr>
          <a:xfrm>
            <a:off x="8997696" y="4590288"/>
            <a:ext cx="2240280" cy="320040"/>
          </a:xfrm>
          <a:prstGeom prst="rect">
            <a:avLst/>
          </a:prstGeom>
          <a:noFill/>
          <a:ln/>
        </p:spPr>
        <p:txBody>
          <a:bodyPr wrap="square" lIns="0" tIns="0" rIns="0" bIns="0" rtlCol="0" anchor="ctr"/>
          <a:lstStyle/>
          <a:p>
            <a:pPr indent="0" marL="0">
              <a:buNone/>
            </a:pPr>
            <a:r>
              <a:rPr lang="en-US" sz="1300" b="1" dirty="0">
                <a:solidFill>
                  <a:srgbClr val="FFFFFF"/>
                </a:solidFill>
              </a:rPr>
              <a:t>Table</a:t>
            </a:r>
            <a:endParaRPr lang="en-US" sz="1300" dirty="0"/>
          </a:p>
        </p:txBody>
      </p:sp>
      <p:sp>
        <p:nvSpPr>
          <p:cNvPr id="27" name="Text 25"/>
          <p:cNvSpPr txBox="1"/>
          <p:nvPr/>
        </p:nvSpPr>
        <p:spPr>
          <a:xfrm>
            <a:off x="8997696" y="4937760"/>
            <a:ext cx="224028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h²/8·max|f″|</a:t>
            </a:r>
            <a:endParaRPr lang="en-US" sz="1200" dirty="0"/>
          </a:p>
        </p:txBody>
      </p:sp>
      <p:sp>
        <p:nvSpPr>
          <p:cNvPr id="28" name="takeaway"/>
          <p:cNvSpPr/>
          <p:nvPr/>
        </p:nvSpPr>
        <p:spPr>
          <a:xfrm>
            <a:off x="822960" y="5897880"/>
            <a:ext cx="10543032" cy="566928"/>
          </a:xfrm>
          <a:prstGeom prst="rect">
            <a:avLst/>
          </a:prstGeom>
          <a:solidFill>
            <a:srgbClr val="1C1C22"/>
          </a:solidFill>
          <a:ln w="12700">
            <a:solidFill>
              <a:srgbClr val="1C1C22"/>
            </a:solidFill>
            <a:prstDash val="solid"/>
          </a:ln>
        </p:spPr>
      </p:sp>
      <p:sp>
        <p:nvSpPr>
          <p:cNvPr id="29" name="takeaway text"/>
          <p:cNvSpPr txBox="1"/>
          <p:nvPr/>
        </p:nvSpPr>
        <p:spPr>
          <a:xfrm>
            <a:off x="1051560" y="589788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This is the common currency from Review 1, implemented: four kinds of error, one object, composed by addition.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09</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The Four Levers, As Built</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Each option carries a sound error model, a cost, and a bit-faithful emulation.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 y="1508760"/>
          <a:ext cx="10543032" cy="914400"/>
        </p:xfrm>
        <a:graphic>
          <a:graphicData uri="http://schemas.openxmlformats.org/drawingml/2006/table">
            <a:tbl>
              <a:tblPr/>
              <a:tblGrid>
                <a:gridCol w="1554480"/>
                <a:gridCol w="3017520"/>
                <a:gridCol w="3200400"/>
                <a:gridCol w="2770632"/>
              </a:tblGrid>
              <a:tr h="384048">
                <a:tc>
                  <a:txBody>
                    <a:bodyPr/>
                    <a:lstStyle/>
                    <a:p>
                      <a:pPr indent="0" marL="0">
                        <a:buNone/>
                      </a:pPr>
                      <a:r>
                        <a:rPr lang="en-US" sz="1000" b="1" spc="100" kern="0" dirty="0">
                          <a:solidFill>
                            <a:srgbClr val="6E7079"/>
                          </a:solidFill>
                          <a:latin typeface="Calibri" pitchFamily="34" charset="0"/>
                          <a:ea typeface="Calibri" pitchFamily="34" charset="-122"/>
                          <a:cs typeface="Calibri" pitchFamily="34" charset="-120"/>
                        </a:rPr>
                        <a:t>Lever</a:t>
                      </a:r>
                      <a:endParaRPr lang="en-US" sz="10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c>
                  <a:txBody>
                    <a:bodyPr/>
                    <a:lstStyle/>
                    <a:p>
                      <a:pPr indent="0" marL="0">
                        <a:buNone/>
                      </a:pPr>
                      <a:r>
                        <a:rPr lang="en-US" sz="1000" b="1" spc="100" kern="0" dirty="0">
                          <a:solidFill>
                            <a:srgbClr val="6E7079"/>
                          </a:solidFill>
                          <a:latin typeface="Calibri" pitchFamily="34" charset="0"/>
                          <a:ea typeface="Calibri" pitchFamily="34" charset="-122"/>
                          <a:cs typeface="Calibri" pitchFamily="34" charset="-120"/>
                        </a:rPr>
                        <a:t>Options offered</a:t>
                      </a:r>
                      <a:endParaRPr lang="en-US" sz="10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c>
                  <a:txBody>
                    <a:bodyPr/>
                    <a:lstStyle/>
                    <a:p>
                      <a:pPr indent="0" marL="0">
                        <a:buNone/>
                      </a:pPr>
                      <a:r>
                        <a:rPr lang="en-US" sz="1000" b="1" spc="100" kern="0" dirty="0">
                          <a:solidFill>
                            <a:srgbClr val="6E7079"/>
                          </a:solidFill>
                          <a:latin typeface="Calibri" pitchFamily="34" charset="0"/>
                          <a:ea typeface="Calibri" pitchFamily="34" charset="-122"/>
                          <a:cs typeface="Calibri" pitchFamily="34" charset="-120"/>
                        </a:rPr>
                        <a:t>Error model</a:t>
                      </a:r>
                      <a:endParaRPr lang="en-US" sz="10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c>
                  <a:txBody>
                    <a:bodyPr/>
                    <a:lstStyle/>
                    <a:p>
                      <a:pPr indent="0" marL="0">
                        <a:buNone/>
                      </a:pPr>
                      <a:r>
                        <a:rPr lang="en-US" sz="1000" b="1" spc="100" kern="0" dirty="0">
                          <a:solidFill>
                            <a:srgbClr val="6E7079"/>
                          </a:solidFill>
                          <a:latin typeface="Calibri" pitchFamily="34" charset="0"/>
                          <a:ea typeface="Calibri" pitchFamily="34" charset="-122"/>
                          <a:cs typeface="Calibri" pitchFamily="34" charset="-120"/>
                        </a:rPr>
                        <a:t>Emulated / emitted as</a:t>
                      </a:r>
                      <a:endParaRPr lang="en-US" sz="10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2F3C7E"/>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fp64 · fp32 · fp16 · bf16 · fp8 E4M3 · block FP</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u·|x̂| + subnormal floor; block FP from a static shared exponent</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Round-to-nearest-even on operands and result</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r>
              <a:tr h="777240">
                <a:tc>
                  <a:txBody>
                    <a:bodyPr/>
                    <a:lstStyle/>
                    <a:p>
                      <a:pPr indent="0" marL="0">
                        <a:buNone/>
                      </a:pPr>
                      <a:r>
                        <a:rPr lang="en-US" sz="1200" b="1" dirty="0">
                          <a:solidFill>
                            <a:srgbClr val="990011"/>
                          </a:solidFill>
                          <a:latin typeface="Calibri" pitchFamily="34" charset="0"/>
                          <a:ea typeface="Calibri" pitchFamily="34" charset="-122"/>
                          <a:cs typeface="Calibri" pitchFamily="34" charset="-120"/>
                        </a:rPr>
                        <a:t>Perforation</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skip odd iterations · drop last 25% · drop last 50%</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Σ max|skipped term| per instance, from proven ranges</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New loop bounds or stride in C</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B7791F"/>
                          </a:solidFill>
                          <a:latin typeface="Calibri" pitchFamily="34" charset="0"/>
                          <a:ea typeface="Calibri" pitchFamily="34" charset="-122"/>
                          <a:cs typeface="Calibri" pitchFamily="34" charset="-120"/>
                        </a:rPr>
                        <a:t>Memoization</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cache cells of width range/256 … /4096</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L·δ with L = max|f′| over the cell, plus fp32 call error</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Per-site cache, first input in a cell fills it</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r>
              <a:tr h="777240">
                <a:tc>
                  <a:txBody>
                    <a:bodyPr/>
                    <a:lstStyle/>
                    <a:p>
                      <a:pPr indent="0" marL="0">
                        <a:buNone/>
                      </a:pPr>
                      <a:r>
                        <a:rPr lang="en-US" sz="1200" b="1" dirty="0">
                          <a:solidFill>
                            <a:srgbClr val="1D7F78"/>
                          </a:solidFill>
                          <a:latin typeface="Calibri" pitchFamily="34" charset="0"/>
                          <a:ea typeface="Calibri" pitchFamily="34" charset="-122"/>
                          <a:cs typeface="Calibri" pitchFamily="34" charset="-120"/>
                        </a:rPr>
                        <a:t>Tables</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64 · 256 · 1024 · 4096 · 16384 entries</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h²/8 · max|f″| + fp32 rounding of entries and interpolation</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indent="0" marL="0">
                        <a:buNone/>
                      </a:pPr>
                      <a:r>
                        <a:rPr lang="en-US" sz="1200" dirty="0">
                          <a:solidFill>
                            <a:srgbClr val="1C1C22"/>
                          </a:solidFill>
                          <a:latin typeface="Calibri" pitchFamily="34" charset="0"/>
                          <a:ea typeface="Calibri" pitchFamily="34" charset="-122"/>
                          <a:cs typeface="Calibri" pitchFamily="34" charset="-120"/>
                        </a:rPr>
                        <a:t>fp32 table literal + linear interpolation</a:t>
                      </a:r>
                      <a:endParaRPr lang="en-US" sz="1200" dirty="0">
                        <a:latin typeface="Calibri" charset="0"/>
                        <a:ea typeface="Calibri" charset="0"/>
                        <a:cs typeface="Calibri" charset="0"/>
                      </a:endParaRPr>
                    </a:p>
                  </a:txBody>
                  <a:tcPr marL="91440" marR="91440" marT="54864" marB="54864"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r>
            </a:tbl>
          </a:graphicData>
        </a:graphic>
      </p:graphicFrame>
      <p:sp>
        <p:nvSpPr>
          <p:cNvPr id="7" name="takeaway"/>
          <p:cNvSpPr/>
          <p:nvPr/>
        </p:nvSpPr>
        <p:spPr>
          <a:xfrm>
            <a:off x="822960" y="5897880"/>
            <a:ext cx="10543032" cy="566928"/>
          </a:xfrm>
          <a:prstGeom prst="rect">
            <a:avLst/>
          </a:prstGeom>
          <a:solidFill>
            <a:srgbClr val="1C1C22"/>
          </a:solidFill>
          <a:ln w="12700">
            <a:solidFill>
              <a:srgbClr val="1C1C22"/>
            </a:solidFill>
            <a:prstDash val="solid"/>
          </a:ln>
        </p:spPr>
      </p:sp>
      <p:sp>
        <p:nvSpPr>
          <p:cNvPr id="8" name="takeaway text"/>
          <p:cNvSpPr txBox="1"/>
          <p:nvPr/>
        </p:nvSpPr>
        <p:spPr>
          <a:xfrm>
            <a:off x="1051560" y="589788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Options that would overflow a format, leave a table's domain or exceed a block exponent are rejected by the certifier, never shipped.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10</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Allocate, Then Certify</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The knapsack is solved on a linear model; every answer is re-proved before it is accepted.</a:t>
            </a:r>
            <a:endParaRPr lang="en-US" sz="1300" dirty="0"/>
          </a:p>
        </p:txBody>
      </p:sp>
      <p:sp>
        <p:nvSpPr>
          <p:cNvPr id="6" name="Shape 4"/>
          <p:cNvSpPr/>
          <p:nvPr/>
        </p:nvSpPr>
        <p:spPr>
          <a:xfrm>
            <a:off x="822960" y="1508760"/>
            <a:ext cx="4937760" cy="2011680"/>
          </a:xfrm>
          <a:prstGeom prst="rect">
            <a:avLst/>
          </a:prstGeom>
          <a:solidFill>
            <a:srgbClr val="FCF6F5"/>
          </a:solidFill>
          <a:ln w="12700">
            <a:solidFill>
              <a:srgbClr val="FCF6F5"/>
            </a:solidFill>
            <a:prstDash val="solid"/>
          </a:ln>
        </p:spPr>
      </p:sp>
      <p:sp>
        <p:nvSpPr>
          <p:cNvPr id="7" name="Text 5"/>
          <p:cNvSpPr txBox="1"/>
          <p:nvPr/>
        </p:nvSpPr>
        <p:spPr>
          <a:xfrm>
            <a:off x="1005840" y="1645920"/>
            <a:ext cx="4663440" cy="1737360"/>
          </a:xfrm>
          <a:prstGeom prst="rect">
            <a:avLst/>
          </a:prstGeom>
          <a:noFill/>
          <a:ln/>
        </p:spPr>
        <p:txBody>
          <a:bodyPr wrap="square" lIns="0" tIns="0" rIns="0" bIns="0" rtlCol="0" anchor="ctr"/>
          <a:lstStyle/>
          <a:p>
            <a:pPr indent="0" marL="0">
              <a:buNone/>
            </a:pPr>
            <a:r>
              <a:rPr lang="en-US" sz="1300" dirty="0">
                <a:solidFill>
                  <a:srgbClr val="1C1C22"/>
                </a:solidFill>
                <a:latin typeface="Courier New" pitchFamily="34" charset="0"/>
                <a:ea typeface="Courier New" pitchFamily="34" charset="-122"/>
                <a:cs typeface="Courier New" pitchFamily="34" charset="-120"/>
              </a:rPr>
              <a:t>minimise   Σ cost(c,t) · x(c,t)</a:t>
            </a:r>
            <a:endParaRPr lang="en-US" sz="1300" dirty="0"/>
          </a:p>
          <a:p>
            <a:pPr indent="0" marL="0">
              <a:buNone/>
            </a:pPr>
            <a:r>
              <a:rPr lang="en-US" sz="1300" dirty="0">
                <a:solidFill>
                  <a:srgbClr val="1C1C22"/>
                </a:solidFill>
                <a:latin typeface="Courier New" pitchFamily="34" charset="0"/>
                <a:ea typeface="Courier New" pitchFamily="34" charset="-122"/>
                <a:cs typeface="Courier New" pitchFamily="34" charset="-120"/>
              </a:rPr>
              <a:t>subject to Σ err(c,t) · x(c,t) ≤ β′</a:t>
            </a:r>
            <a:endParaRPr lang="en-US" sz="1300" dirty="0"/>
          </a:p>
          <a:p>
            <a:pPr indent="0" marL="0">
              <a:buNone/>
            </a:pPr>
            <a:r>
              <a:rPr lang="en-US" sz="1300" dirty="0">
                <a:solidFill>
                  <a:srgbClr val="1C1C22"/>
                </a:solidFill>
                <a:latin typeface="Courier New" pitchFamily="34" charset="0"/>
                <a:ea typeface="Courier New" pitchFamily="34" charset="-122"/>
                <a:cs typeface="Courier New" pitchFamily="34" charset="-120"/>
              </a:rPr>
              <a:t>           Σₜ x(c,t) = 1  per site c</a:t>
            </a:r>
            <a:endParaRPr lang="en-US" sz="1300" dirty="0"/>
          </a:p>
          <a:p>
            <a:pPr indent="0" marL="0">
              <a:buNone/>
            </a:pPr>
            <a:r>
              <a:rPr lang="en-US" sz="1300" dirty="0">
                <a:solidFill>
                  <a:srgbClr val="1C1C22"/>
                </a:solidFill>
                <a:latin typeface="Courier New" pitchFamily="34" charset="0"/>
                <a:ea typeface="Courier New" pitchFamily="34" charset="-122"/>
                <a:cs typeface="Courier New" pitchFamily="34" charset="-120"/>
              </a:rPr>
              <a:t>           x(c,t) ∈ {0, 1}</a:t>
            </a:r>
            <a:endParaRPr lang="en-US" sz="1300" dirty="0"/>
          </a:p>
        </p:txBody>
      </p:sp>
      <p:sp>
        <p:nvSpPr>
          <p:cNvPr id="8" name="Shape 6"/>
          <p:cNvSpPr/>
          <p:nvPr/>
        </p:nvSpPr>
        <p:spPr>
          <a:xfrm>
            <a:off x="6126480" y="1554480"/>
            <a:ext cx="365760" cy="365760"/>
          </a:xfrm>
          <a:prstGeom prst="ellipse">
            <a:avLst/>
          </a:prstGeom>
          <a:solidFill>
            <a:srgbClr val="2F3C7E"/>
          </a:solidFill>
          <a:ln w="12700">
            <a:solidFill>
              <a:srgbClr val="2F3C7E"/>
            </a:solidFill>
            <a:prstDash val="solid"/>
          </a:ln>
        </p:spPr>
      </p:sp>
      <p:sp>
        <p:nvSpPr>
          <p:cNvPr id="9" name="Text 7"/>
          <p:cNvSpPr txBox="1"/>
          <p:nvPr/>
        </p:nvSpPr>
        <p:spPr>
          <a:xfrm>
            <a:off x="6126480" y="1554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Text 8"/>
          <p:cNvSpPr txBox="1"/>
          <p:nvPr/>
        </p:nvSpPr>
        <p:spPr>
          <a:xfrm>
            <a:off x="6675120" y="1508760"/>
            <a:ext cx="4663440" cy="274320"/>
          </a:xfrm>
          <a:prstGeom prst="rect">
            <a:avLst/>
          </a:prstGeom>
          <a:noFill/>
          <a:ln/>
        </p:spPr>
        <p:txBody>
          <a:bodyPr wrap="square" lIns="0" tIns="0" rIns="0" bIns="0" rtlCol="0" anchor="ctr"/>
          <a:lstStyle/>
          <a:p>
            <a:pPr indent="0" marL="0">
              <a:buNone/>
            </a:pPr>
            <a:r>
              <a:rPr lang="en-US" sz="1400" b="1" dirty="0">
                <a:solidFill>
                  <a:srgbClr val="1C1C22"/>
                </a:solidFill>
              </a:rPr>
              <a:t>Solve</a:t>
            </a:r>
            <a:endParaRPr lang="en-US" sz="1400" dirty="0"/>
          </a:p>
        </p:txBody>
      </p:sp>
      <p:sp>
        <p:nvSpPr>
          <p:cNvPr id="11" name="Text 9"/>
          <p:cNvSpPr txBox="1"/>
          <p:nvPr/>
        </p:nvSpPr>
        <p:spPr>
          <a:xfrm>
            <a:off x="6675120" y="1783080"/>
            <a:ext cx="4663440" cy="411480"/>
          </a:xfrm>
          <a:prstGeom prst="rect">
            <a:avLst/>
          </a:prstGeom>
          <a:noFill/>
          <a:ln/>
        </p:spPr>
        <p:txBody>
          <a:bodyPr wrap="square" lIns="0" tIns="0" rIns="0" bIns="0" rtlCol="0" anchor="t"/>
          <a:lstStyle/>
          <a:p>
            <a:pPr indent="0" marL="0">
              <a:buNone/>
            </a:pPr>
            <a:r>
              <a:rPr lang="en-US" sz="1200" dirty="0">
                <a:solidFill>
                  <a:srgbClr val="3A3D46"/>
                </a:solidFill>
              </a:rPr>
              <a:t>Exact ILP via HiGHS. Simulated annealing with greedy seeding beyond 4,000 options.</a:t>
            </a:r>
            <a:endParaRPr lang="en-US" sz="1200" dirty="0"/>
          </a:p>
        </p:txBody>
      </p:sp>
      <p:sp>
        <p:nvSpPr>
          <p:cNvPr id="12" name="Shape 10"/>
          <p:cNvSpPr/>
          <p:nvPr/>
        </p:nvSpPr>
        <p:spPr>
          <a:xfrm>
            <a:off x="6126480" y="2267712"/>
            <a:ext cx="365760" cy="365760"/>
          </a:xfrm>
          <a:prstGeom prst="ellipse">
            <a:avLst/>
          </a:prstGeom>
          <a:solidFill>
            <a:srgbClr val="2F3C7E"/>
          </a:solidFill>
          <a:ln w="12700">
            <a:solidFill>
              <a:srgbClr val="2F3C7E"/>
            </a:solidFill>
            <a:prstDash val="solid"/>
          </a:ln>
        </p:spPr>
      </p:sp>
      <p:sp>
        <p:nvSpPr>
          <p:cNvPr id="13" name="Text 11"/>
          <p:cNvSpPr txBox="1"/>
          <p:nvPr/>
        </p:nvSpPr>
        <p:spPr>
          <a:xfrm>
            <a:off x="6126480" y="22677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4" name="Text 12"/>
          <p:cNvSpPr txBox="1"/>
          <p:nvPr/>
        </p:nvSpPr>
        <p:spPr>
          <a:xfrm>
            <a:off x="6675120" y="2221992"/>
            <a:ext cx="4663440" cy="274320"/>
          </a:xfrm>
          <a:prstGeom prst="rect">
            <a:avLst/>
          </a:prstGeom>
          <a:noFill/>
          <a:ln/>
        </p:spPr>
        <p:txBody>
          <a:bodyPr wrap="square" lIns="0" tIns="0" rIns="0" bIns="0" rtlCol="0" anchor="ctr"/>
          <a:lstStyle/>
          <a:p>
            <a:pPr indent="0" marL="0">
              <a:buNone/>
            </a:pPr>
            <a:r>
              <a:rPr lang="en-US" sz="1400" b="1" dirty="0">
                <a:solidFill>
                  <a:srgbClr val="1C1C22"/>
                </a:solidFill>
              </a:rPr>
              <a:t>Certify</a:t>
            </a:r>
            <a:endParaRPr lang="en-US" sz="1400" dirty="0"/>
          </a:p>
        </p:txBody>
      </p:sp>
      <p:sp>
        <p:nvSpPr>
          <p:cNvPr id="15" name="Text 13"/>
          <p:cNvSpPr txBox="1"/>
          <p:nvPr/>
        </p:nvSpPr>
        <p:spPr>
          <a:xfrm>
            <a:off x="6675120" y="2496312"/>
            <a:ext cx="4663440" cy="411480"/>
          </a:xfrm>
          <a:prstGeom prst="rect">
            <a:avLst/>
          </a:prstGeom>
          <a:noFill/>
          <a:ln/>
        </p:spPr>
        <p:txBody>
          <a:bodyPr wrap="square" lIns="0" tIns="0" rIns="0" bIns="0" rtlCol="0" anchor="t"/>
          <a:lstStyle/>
          <a:p>
            <a:pPr indent="0" marL="0">
              <a:buNone/>
            </a:pPr>
            <a:r>
              <a:rPr lang="en-US" sz="1200" dirty="0">
                <a:solidFill>
                  <a:srgbClr val="3A3D46"/>
                </a:solidFill>
              </a:rPr>
              <a:t>Propagate error forms for the chosen configuration: the true, sound bound.</a:t>
            </a:r>
            <a:endParaRPr lang="en-US" sz="1200" dirty="0"/>
          </a:p>
        </p:txBody>
      </p:sp>
      <p:sp>
        <p:nvSpPr>
          <p:cNvPr id="16" name="Shape 14"/>
          <p:cNvSpPr/>
          <p:nvPr/>
        </p:nvSpPr>
        <p:spPr>
          <a:xfrm>
            <a:off x="6126480" y="2980944"/>
            <a:ext cx="365760" cy="365760"/>
          </a:xfrm>
          <a:prstGeom prst="ellipse">
            <a:avLst/>
          </a:prstGeom>
          <a:solidFill>
            <a:srgbClr val="2F3C7E"/>
          </a:solidFill>
          <a:ln w="12700">
            <a:solidFill>
              <a:srgbClr val="2F3C7E"/>
            </a:solidFill>
            <a:prstDash val="solid"/>
          </a:ln>
        </p:spPr>
      </p:sp>
      <p:sp>
        <p:nvSpPr>
          <p:cNvPr id="17" name="Text 15"/>
          <p:cNvSpPr txBox="1"/>
          <p:nvPr/>
        </p:nvSpPr>
        <p:spPr>
          <a:xfrm>
            <a:off x="6126480" y="29809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6"/>
          <p:cNvSpPr txBox="1"/>
          <p:nvPr/>
        </p:nvSpPr>
        <p:spPr>
          <a:xfrm>
            <a:off x="6675120" y="2935224"/>
            <a:ext cx="4663440" cy="274320"/>
          </a:xfrm>
          <a:prstGeom prst="rect">
            <a:avLst/>
          </a:prstGeom>
          <a:noFill/>
          <a:ln/>
        </p:spPr>
        <p:txBody>
          <a:bodyPr wrap="square" lIns="0" tIns="0" rIns="0" bIns="0" rtlCol="0" anchor="ctr"/>
          <a:lstStyle/>
          <a:p>
            <a:pPr indent="0" marL="0">
              <a:buNone/>
            </a:pPr>
            <a:r>
              <a:rPr lang="en-US" sz="1400" b="1" dirty="0">
                <a:solidFill>
                  <a:srgbClr val="1C1C22"/>
                </a:solidFill>
              </a:rPr>
              <a:t>Adjust β′</a:t>
            </a:r>
            <a:endParaRPr lang="en-US" sz="1400" dirty="0"/>
          </a:p>
        </p:txBody>
      </p:sp>
      <p:sp>
        <p:nvSpPr>
          <p:cNvPr id="19" name="Text 17"/>
          <p:cNvSpPr txBox="1"/>
          <p:nvPr/>
        </p:nvSpPr>
        <p:spPr>
          <a:xfrm>
            <a:off x="6675120" y="3209544"/>
            <a:ext cx="4663440" cy="411480"/>
          </a:xfrm>
          <a:prstGeom prst="rect">
            <a:avLst/>
          </a:prstGeom>
          <a:noFill/>
          <a:ln/>
        </p:spPr>
        <p:txBody>
          <a:bodyPr wrap="square" lIns="0" tIns="0" rIns="0" bIns="0" rtlCol="0" anchor="t"/>
          <a:lstStyle/>
          <a:p>
            <a:pPr indent="0" marL="0">
              <a:buNone/>
            </a:pPr>
            <a:r>
              <a:rPr lang="en-US" sz="1200" dirty="0">
                <a:solidFill>
                  <a:srgbClr val="3A3D46"/>
                </a:solidFill>
              </a:rPr>
              <a:t>Bisect the budget handed to the solver until the certified bound is as close to β as possible.</a:t>
            </a:r>
            <a:endParaRPr lang="en-US" sz="1200" dirty="0"/>
          </a:p>
        </p:txBody>
      </p:sp>
      <p:sp>
        <p:nvSpPr>
          <p:cNvPr id="20" name="Text 18"/>
          <p:cNvSpPr txBox="1"/>
          <p:nvPr/>
        </p:nvSpPr>
        <p:spPr>
          <a:xfrm>
            <a:off x="822960" y="3840480"/>
            <a:ext cx="548640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MEASURED ON THE SIX BENCHMARKS</a:t>
            </a:r>
            <a:endParaRPr lang="en-US" sz="1000" dirty="0"/>
          </a:p>
        </p:txBody>
      </p:sp>
      <p:sp>
        <p:nvSpPr>
          <p:cNvPr id="21" name="Text 19"/>
          <p:cNvSpPr txBox="1"/>
          <p:nvPr/>
        </p:nvSpPr>
        <p:spPr>
          <a:xfrm>
            <a:off x="822960" y="4160520"/>
            <a:ext cx="3383280" cy="640080"/>
          </a:xfrm>
          <a:prstGeom prst="rect">
            <a:avLst/>
          </a:prstGeom>
          <a:noFill/>
          <a:ln/>
        </p:spPr>
        <p:txBody>
          <a:bodyPr wrap="square" lIns="0" tIns="0" rIns="0" bIns="0" rtlCol="0" anchor="ctr"/>
          <a:lstStyle/>
          <a:p>
            <a:pPr indent="0" marL="0">
              <a:buNone/>
            </a:pPr>
            <a:r>
              <a:rPr lang="en-US" sz="3000" b="1" dirty="0">
                <a:solidFill>
                  <a:srgbClr val="990011"/>
                </a:solidFill>
                <a:latin typeface="Cambria" pitchFamily="34" charset="0"/>
                <a:ea typeface="Cambria" pitchFamily="34" charset="-122"/>
                <a:cs typeface="Cambria" pitchFamily="34" charset="-120"/>
              </a:rPr>
              <a:t>14–40</a:t>
            </a:r>
            <a:endParaRPr lang="en-US" sz="3000" dirty="0"/>
          </a:p>
        </p:txBody>
      </p:sp>
      <p:sp>
        <p:nvSpPr>
          <p:cNvPr id="22" name="Text 20"/>
          <p:cNvSpPr txBox="1"/>
          <p:nvPr/>
        </p:nvSpPr>
        <p:spPr>
          <a:xfrm>
            <a:off x="822960" y="4800600"/>
            <a:ext cx="3291840" cy="457200"/>
          </a:xfrm>
          <a:prstGeom prst="rect">
            <a:avLst/>
          </a:prstGeom>
          <a:noFill/>
          <a:ln/>
        </p:spPr>
        <p:txBody>
          <a:bodyPr wrap="square" lIns="0" tIns="0" rIns="0" bIns="0" rtlCol="0" anchor="t"/>
          <a:lstStyle/>
          <a:p>
            <a:pPr indent="0" marL="0">
              <a:buNone/>
            </a:pPr>
            <a:r>
              <a:rPr lang="en-US" sz="1300" dirty="0">
                <a:solidFill>
                  <a:srgbClr val="6E7079"/>
                </a:solidFill>
              </a:rPr>
              <a:t>candidate options per kernel</a:t>
            </a:r>
            <a:endParaRPr lang="en-US" sz="1300" dirty="0"/>
          </a:p>
        </p:txBody>
      </p:sp>
      <p:sp>
        <p:nvSpPr>
          <p:cNvPr id="23" name="Text 21"/>
          <p:cNvSpPr txBox="1"/>
          <p:nvPr/>
        </p:nvSpPr>
        <p:spPr>
          <a:xfrm>
            <a:off x="4416552" y="4160520"/>
            <a:ext cx="3383280" cy="640080"/>
          </a:xfrm>
          <a:prstGeom prst="rect">
            <a:avLst/>
          </a:prstGeom>
          <a:noFill/>
          <a:ln/>
        </p:spPr>
        <p:txBody>
          <a:bodyPr wrap="square" lIns="0" tIns="0" rIns="0" bIns="0" rtlCol="0" anchor="ctr"/>
          <a:lstStyle/>
          <a:p>
            <a:pPr indent="0" marL="0">
              <a:buNone/>
            </a:pPr>
            <a:r>
              <a:rPr lang="en-US" sz="3000" b="1" dirty="0">
                <a:solidFill>
                  <a:srgbClr val="990011"/>
                </a:solidFill>
                <a:latin typeface="Cambria" pitchFamily="34" charset="0"/>
                <a:ea typeface="Cambria" pitchFamily="34" charset="-122"/>
                <a:cs typeface="Cambria" pitchFamily="34" charset="-120"/>
              </a:rPr>
              <a:t>2.1–2.8 ms</a:t>
            </a:r>
            <a:endParaRPr lang="en-US" sz="3000" dirty="0"/>
          </a:p>
        </p:txBody>
      </p:sp>
      <p:sp>
        <p:nvSpPr>
          <p:cNvPr id="24" name="Text 22"/>
          <p:cNvSpPr txBox="1"/>
          <p:nvPr/>
        </p:nvSpPr>
        <p:spPr>
          <a:xfrm>
            <a:off x="4416552" y="4800600"/>
            <a:ext cx="3291840" cy="457200"/>
          </a:xfrm>
          <a:prstGeom prst="rect">
            <a:avLst/>
          </a:prstGeom>
          <a:noFill/>
          <a:ln/>
        </p:spPr>
        <p:txBody>
          <a:bodyPr wrap="square" lIns="0" tIns="0" rIns="0" bIns="0" rtlCol="0" anchor="t"/>
          <a:lstStyle/>
          <a:p>
            <a:pPr indent="0" marL="0">
              <a:buNone/>
            </a:pPr>
            <a:r>
              <a:rPr lang="en-US" sz="1300" dirty="0">
                <a:solidFill>
                  <a:srgbClr val="6E7079"/>
                </a:solidFill>
              </a:rPr>
              <a:t>per ILP solve</a:t>
            </a:r>
            <a:endParaRPr lang="en-US" sz="1300" dirty="0"/>
          </a:p>
        </p:txBody>
      </p:sp>
      <p:sp>
        <p:nvSpPr>
          <p:cNvPr id="25" name="Text 23"/>
          <p:cNvSpPr txBox="1"/>
          <p:nvPr/>
        </p:nvSpPr>
        <p:spPr>
          <a:xfrm>
            <a:off x="8010144" y="4160520"/>
            <a:ext cx="3383280" cy="640080"/>
          </a:xfrm>
          <a:prstGeom prst="rect">
            <a:avLst/>
          </a:prstGeom>
          <a:noFill/>
          <a:ln/>
        </p:spPr>
        <p:txBody>
          <a:bodyPr wrap="square" lIns="0" tIns="0" rIns="0" bIns="0" rtlCol="0" anchor="ctr"/>
          <a:lstStyle/>
          <a:p>
            <a:pPr indent="0" marL="0">
              <a:buNone/>
            </a:pPr>
            <a:r>
              <a:rPr lang="en-US" sz="3000" b="1" dirty="0">
                <a:solidFill>
                  <a:srgbClr val="990011"/>
                </a:solidFill>
                <a:latin typeface="Cambria" pitchFamily="34" charset="0"/>
                <a:ea typeface="Cambria" pitchFamily="34" charset="-122"/>
                <a:cs typeface="Cambria" pitchFamily="34" charset="-120"/>
              </a:rPr>
              <a:t>0.81 s</a:t>
            </a:r>
            <a:endParaRPr lang="en-US" sz="3000" dirty="0"/>
          </a:p>
        </p:txBody>
      </p:sp>
      <p:sp>
        <p:nvSpPr>
          <p:cNvPr id="26" name="Text 24"/>
          <p:cNvSpPr txBox="1"/>
          <p:nvPr/>
        </p:nvSpPr>
        <p:spPr>
          <a:xfrm>
            <a:off x="8010144" y="4800600"/>
            <a:ext cx="3291840" cy="457200"/>
          </a:xfrm>
          <a:prstGeom prst="rect">
            <a:avLst/>
          </a:prstGeom>
          <a:noFill/>
          <a:ln/>
        </p:spPr>
        <p:txBody>
          <a:bodyPr wrap="square" lIns="0" tIns="0" rIns="0" bIns="0" rtlCol="0" anchor="t"/>
          <a:lstStyle/>
          <a:p>
            <a:pPr indent="0" marL="0">
              <a:buNone/>
            </a:pPr>
            <a:r>
              <a:rPr lang="en-US" sz="1300" dirty="0">
                <a:solidFill>
                  <a:srgbClr val="6E7079"/>
                </a:solidFill>
              </a:rPr>
              <a:t>slowest full compile, incl. 1,024-sample verification</a:t>
            </a:r>
            <a:endParaRPr lang="en-US" sz="1300" dirty="0"/>
          </a:p>
        </p:txBody>
      </p:sp>
      <p:sp>
        <p:nvSpPr>
          <p:cNvPr id="27" name="takeaway"/>
          <p:cNvSpPr/>
          <p:nvPr/>
        </p:nvSpPr>
        <p:spPr>
          <a:xfrm>
            <a:off x="822960" y="5897880"/>
            <a:ext cx="10543032" cy="566928"/>
          </a:xfrm>
          <a:prstGeom prst="rect">
            <a:avLst/>
          </a:prstGeom>
          <a:solidFill>
            <a:srgbClr val="1C1C22"/>
          </a:solidFill>
          <a:ln w="12700">
            <a:solidFill>
              <a:srgbClr val="1C1C22"/>
            </a:solidFill>
            <a:prstDash val="solid"/>
          </a:ln>
        </p:spPr>
      </p:sp>
      <p:sp>
        <p:nvSpPr>
          <p:cNvPr id="28" name="takeaway text"/>
          <p:cNvSpPr txBox="1"/>
          <p:nvPr/>
        </p:nvSpPr>
        <p:spPr>
          <a:xfrm>
            <a:off x="1051560" y="589788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The Review 1 subtlety, resolved: the linear model may be wrong, but it can only cost speed, never soundness, because nothing ships uncertified.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11</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Code Generation and Cross-Check</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One C source, two builds. The certified program is the program that is emitted.</a:t>
            </a:r>
            <a:endParaRPr lang="en-US" sz="1300" dirty="0"/>
          </a:p>
        </p:txBody>
      </p:sp>
      <p:sp>
        <p:nvSpPr>
          <p:cNvPr id="6" name="Shape 4"/>
          <p:cNvSpPr/>
          <p:nvPr/>
        </p:nvSpPr>
        <p:spPr>
          <a:xfrm>
            <a:off x="822960" y="1508760"/>
            <a:ext cx="5148072" cy="1920240"/>
          </a:xfrm>
          <a:prstGeom prst="rect">
            <a:avLst/>
          </a:prstGeom>
          <a:solidFill>
            <a:srgbClr val="FCF6F5"/>
          </a:solidFill>
          <a:ln w="12700">
            <a:solidFill>
              <a:srgbClr val="FCF6F5"/>
            </a:solidFill>
            <a:prstDash val="solid"/>
          </a:ln>
        </p:spPr>
      </p:sp>
      <p:sp>
        <p:nvSpPr>
          <p:cNvPr id="7" name="Text 5"/>
          <p:cNvSpPr txBox="1"/>
          <p:nvPr/>
        </p:nvSpPr>
        <p:spPr>
          <a:xfrm>
            <a:off x="1051560" y="1645920"/>
            <a:ext cx="4572000" cy="365760"/>
          </a:xfrm>
          <a:prstGeom prst="rect">
            <a:avLst/>
          </a:prstGeom>
          <a:noFill/>
          <a:ln/>
        </p:spPr>
        <p:txBody>
          <a:bodyPr wrap="square" lIns="0" tIns="0" rIns="0" bIns="0" rtlCol="0" anchor="ctr"/>
          <a:lstStyle/>
          <a:p>
            <a:pPr indent="0" marL="0">
              <a:buNone/>
            </a:pPr>
            <a:r>
              <a:rPr lang="en-US" sz="1500" b="1" dirty="0">
                <a:solidFill>
                  <a:srgbClr val="2F3C7E"/>
                </a:solidFill>
                <a:latin typeface="Courier New" pitchFamily="34" charset="0"/>
                <a:ea typeface="Courier New" pitchFamily="34" charset="-122"/>
                <a:cs typeface="Courier New" pitchFamily="34" charset="-120"/>
              </a:rPr>
              <a:t>-DACC_EMULATE</a:t>
            </a:r>
            <a:endParaRPr lang="en-US" sz="1500" dirty="0"/>
          </a:p>
        </p:txBody>
      </p:sp>
      <p:sp>
        <p:nvSpPr>
          <p:cNvPr id="8" name="Text 6"/>
          <p:cNvSpPr txBox="1"/>
          <p:nvPr/>
        </p:nvSpPr>
        <p:spPr>
          <a:xfrm>
            <a:off x="1051560" y="2057400"/>
            <a:ext cx="4709160" cy="640080"/>
          </a:xfrm>
          <a:prstGeom prst="rect">
            <a:avLst/>
          </a:prstGeom>
          <a:noFill/>
          <a:ln/>
        </p:spPr>
        <p:txBody>
          <a:bodyPr wrap="square" lIns="0" tIns="0" rIns="0" bIns="0" rtlCol="0" anchor="t"/>
          <a:lstStyle/>
          <a:p>
            <a:pPr indent="0" marL="0">
              <a:buNone/>
            </a:pPr>
            <a:r>
              <a:rPr lang="en-US" sz="1300" dirty="0">
                <a:solidFill>
                  <a:srgbClr val="1C1C22"/>
                </a:solidFill>
              </a:rPr>
              <a:t>Every rounding emulated in double precision: fp16, bf16, fp8, block FP, tables, caches.</a:t>
            </a:r>
            <a:endParaRPr lang="en-US" sz="1300" dirty="0"/>
          </a:p>
        </p:txBody>
      </p:sp>
      <p:sp>
        <p:nvSpPr>
          <p:cNvPr id="9" name="Text 7"/>
          <p:cNvSpPr txBox="1"/>
          <p:nvPr/>
        </p:nvSpPr>
        <p:spPr>
          <a:xfrm>
            <a:off x="1051560" y="2697480"/>
            <a:ext cx="4709160" cy="640080"/>
          </a:xfrm>
          <a:prstGeom prst="rect">
            <a:avLst/>
          </a:prstGeom>
          <a:noFill/>
          <a:ln/>
        </p:spPr>
        <p:txBody>
          <a:bodyPr wrap="square" lIns="0" tIns="0" rIns="0" bIns="0" rtlCol="0" anchor="t"/>
          <a:lstStyle/>
          <a:p>
            <a:pPr indent="0" marL="0">
              <a:buNone/>
            </a:pPr>
            <a:r>
              <a:rPr lang="en-US" sz="1300" dirty="0">
                <a:solidFill>
                  <a:srgbClr val="6E7079"/>
                </a:solidFill>
              </a:rPr>
              <a:t>Compared with the Python interpreter on the same inputs: max difference 0.0 on all 6 kernels.</a:t>
            </a:r>
            <a:endParaRPr lang="en-US" sz="1300" dirty="0"/>
          </a:p>
        </p:txBody>
      </p:sp>
      <p:sp>
        <p:nvSpPr>
          <p:cNvPr id="10" name="Shape 8"/>
          <p:cNvSpPr/>
          <p:nvPr/>
        </p:nvSpPr>
        <p:spPr>
          <a:xfrm>
            <a:off x="6217920" y="1508760"/>
            <a:ext cx="5148072" cy="1920240"/>
          </a:xfrm>
          <a:prstGeom prst="rect">
            <a:avLst/>
          </a:prstGeom>
          <a:solidFill>
            <a:srgbClr val="FCF6F5"/>
          </a:solidFill>
          <a:ln w="12700">
            <a:solidFill>
              <a:srgbClr val="FCF6F5"/>
            </a:solidFill>
            <a:prstDash val="solid"/>
          </a:ln>
        </p:spPr>
      </p:sp>
      <p:sp>
        <p:nvSpPr>
          <p:cNvPr id="11" name="Text 9"/>
          <p:cNvSpPr txBox="1"/>
          <p:nvPr/>
        </p:nvSpPr>
        <p:spPr>
          <a:xfrm>
            <a:off x="6446520" y="1645920"/>
            <a:ext cx="4572000" cy="365760"/>
          </a:xfrm>
          <a:prstGeom prst="rect">
            <a:avLst/>
          </a:prstGeom>
          <a:noFill/>
          <a:ln/>
        </p:spPr>
        <p:txBody>
          <a:bodyPr wrap="square" lIns="0" tIns="0" rIns="0" bIns="0" rtlCol="0" anchor="ctr"/>
          <a:lstStyle/>
          <a:p>
            <a:pPr indent="0" marL="0">
              <a:buNone/>
            </a:pPr>
            <a:r>
              <a:rPr lang="en-US" sz="1500" b="1" dirty="0">
                <a:solidFill>
                  <a:srgbClr val="990011"/>
                </a:solidFill>
                <a:latin typeface="Courier New" pitchFamily="34" charset="0"/>
                <a:ea typeface="Courier New" pitchFamily="34" charset="-122"/>
                <a:cs typeface="Courier New" pitchFamily="34" charset="-120"/>
              </a:rPr>
              <a:t>Native build</a:t>
            </a:r>
            <a:endParaRPr lang="en-US" sz="1500" dirty="0"/>
          </a:p>
        </p:txBody>
      </p:sp>
      <p:sp>
        <p:nvSpPr>
          <p:cNvPr id="12" name="Text 10"/>
          <p:cNvSpPr txBox="1"/>
          <p:nvPr/>
        </p:nvSpPr>
        <p:spPr>
          <a:xfrm>
            <a:off x="6446520" y="2057400"/>
            <a:ext cx="4709160" cy="640080"/>
          </a:xfrm>
          <a:prstGeom prst="rect">
            <a:avLst/>
          </a:prstGeom>
          <a:noFill/>
          <a:ln/>
        </p:spPr>
        <p:txBody>
          <a:bodyPr wrap="square" lIns="0" tIns="0" rIns="0" bIns="0" rtlCol="0" anchor="t"/>
          <a:lstStyle/>
          <a:p>
            <a:pPr indent="0" marL="0">
              <a:buNone/>
            </a:pPr>
            <a:r>
              <a:rPr lang="en-US" sz="1300" dirty="0">
                <a:solidFill>
                  <a:srgbClr val="1C1C22"/>
                </a:solidFill>
              </a:rPr>
              <a:t>fp32 arithmetic, real loop bounds, real tables and caches, gcc -O2, best of 21 interleaved runs.</a:t>
            </a:r>
            <a:endParaRPr lang="en-US" sz="1300" dirty="0"/>
          </a:p>
        </p:txBody>
      </p:sp>
      <p:sp>
        <p:nvSpPr>
          <p:cNvPr id="13" name="Text 11"/>
          <p:cNvSpPr txBox="1"/>
          <p:nvPr/>
        </p:nvSpPr>
        <p:spPr>
          <a:xfrm>
            <a:off x="6446520" y="2697480"/>
            <a:ext cx="4709160" cy="640080"/>
          </a:xfrm>
          <a:prstGeom prst="rect">
            <a:avLst/>
          </a:prstGeom>
          <a:noFill/>
          <a:ln/>
        </p:spPr>
        <p:txBody>
          <a:bodyPr wrap="square" lIns="0" tIns="0" rIns="0" bIns="0" rtlCol="0" anchor="t"/>
          <a:lstStyle/>
          <a:p>
            <a:pPr indent="0" marL="0">
              <a:buNone/>
            </a:pPr>
            <a:r>
              <a:rPr lang="en-US" sz="1300" dirty="0">
                <a:solidFill>
                  <a:srgbClr val="6E7079"/>
                </a:solidFill>
              </a:rPr>
              <a:t>Times the structural levers on this machine. Precision-only changes compile to identical code on x86.</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3611880"/>
          <a:ext cx="10543032" cy="914400"/>
        </p:xfrm>
        <a:graphic>
          <a:graphicData uri="http://schemas.openxmlformats.org/drawingml/2006/table">
            <a:tbl>
              <a:tblPr/>
              <a:tblGrid>
                <a:gridCol w="2377440"/>
                <a:gridCol w="2834640"/>
                <a:gridCol w="1737360"/>
                <a:gridCol w="1737360"/>
                <a:gridCol w="1856232"/>
              </a:tblGrid>
              <a:tr h="283464">
                <a:tc>
                  <a:txBody>
                    <a:bodyPr/>
                    <a:lstStyle/>
                    <a:p>
                      <a:pPr algn="l" indent="0" marL="0">
                        <a:buNone/>
                      </a:pPr>
                      <a:r>
                        <a:rPr lang="en-US" sz="1000" b="1" dirty="0">
                          <a:solidFill>
                            <a:srgbClr val="6E7079"/>
                          </a:solidFill>
                          <a:latin typeface="Calibri" pitchFamily="34" charset="0"/>
                          <a:ea typeface="Calibri" pitchFamily="34" charset="-122"/>
                          <a:cs typeface="Calibri" pitchFamily="34" charset="-120"/>
                        </a:rPr>
                        <a:t>Kernel</a:t>
                      </a:r>
                      <a:endParaRPr lang="en-US" sz="10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tcPr>
                </a:tc>
                <a:tc>
                  <a:txBody>
                    <a:bodyPr/>
                    <a:lstStyle/>
                    <a:p>
                      <a:pPr algn="l" indent="0" marL="0">
                        <a:buNone/>
                      </a:pPr>
                      <a:r>
                        <a:rPr lang="en-US" sz="1000" b="1" dirty="0">
                          <a:solidFill>
                            <a:srgbClr val="6E7079"/>
                          </a:solidFill>
                          <a:latin typeface="Calibri" pitchFamily="34" charset="0"/>
                          <a:ea typeface="Calibri" pitchFamily="34" charset="-122"/>
                          <a:cs typeface="Calibri" pitchFamily="34" charset="-120"/>
                        </a:rPr>
                        <a:t>Structural levers</a:t>
                      </a:r>
                      <a:endParaRPr lang="en-US" sz="10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tcPr>
                </a:tc>
                <a:tc>
                  <a:txBody>
                    <a:bodyPr/>
                    <a:lstStyle/>
                    <a:p>
                      <a:pPr algn="r" indent="0" marL="0">
                        <a:buNone/>
                      </a:pPr>
                      <a:r>
                        <a:rPr lang="en-US" sz="1000" b="1" dirty="0">
                          <a:solidFill>
                            <a:srgbClr val="6E7079"/>
                          </a:solidFill>
                          <a:latin typeface="Calibri" pitchFamily="34" charset="0"/>
                          <a:ea typeface="Calibri" pitchFamily="34" charset="-122"/>
                          <a:cs typeface="Calibri" pitchFamily="34" charset="-120"/>
                        </a:rPr>
                        <a:t>Baseline</a:t>
                      </a:r>
                      <a:endParaRPr lang="en-US" sz="10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tcPr>
                </a:tc>
                <a:tc>
                  <a:txBody>
                    <a:bodyPr/>
                    <a:lstStyle/>
                    <a:p>
                      <a:pPr algn="r" indent="0" marL="0">
                        <a:buNone/>
                      </a:pPr>
                      <a:r>
                        <a:rPr lang="en-US" sz="1000" b="1" dirty="0">
                          <a:solidFill>
                            <a:srgbClr val="6E7079"/>
                          </a:solidFill>
                          <a:latin typeface="Calibri" pitchFamily="34" charset="0"/>
                          <a:ea typeface="Calibri" pitchFamily="34" charset="-122"/>
                          <a:cs typeface="Calibri" pitchFamily="34" charset="-120"/>
                        </a:rPr>
                        <a:t>Approximated</a:t>
                      </a:r>
                      <a:endParaRPr lang="en-US" sz="10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tcPr>
                </a:tc>
                <a:tc>
                  <a:txBody>
                    <a:bodyPr/>
                    <a:lstStyle/>
                    <a:p>
                      <a:pPr algn="r" indent="0" marL="0">
                        <a:buNone/>
                      </a:pPr>
                      <a:r>
                        <a:rPr lang="en-US" sz="1000" b="1" dirty="0">
                          <a:solidFill>
                            <a:srgbClr val="6E7079"/>
                          </a:solidFill>
                          <a:latin typeface="Calibri" pitchFamily="34" charset="0"/>
                          <a:ea typeface="Calibri" pitchFamily="34" charset="-122"/>
                          <a:cs typeface="Calibri" pitchFamily="34" charset="-120"/>
                        </a:rPr>
                        <a:t>Native speedup</a:t>
                      </a:r>
                      <a:endParaRPr lang="en-US" sz="10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tcPr>
                </a:tc>
              </a:tr>
              <a:tr h="283464">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FIR filter</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98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97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b="1" dirty="0">
                          <a:solidFill>
                            <a:srgbClr val="1C1C22"/>
                          </a:solidFill>
                          <a:latin typeface="Calibri" pitchFamily="34" charset="0"/>
                          <a:ea typeface="Calibri" pitchFamily="34" charset="-122"/>
                          <a:cs typeface="Calibri" pitchFamily="34" charset="-120"/>
                        </a:rPr>
                        <a:t>1.01×</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r>
              <a:tr h="283464">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k-means distance</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table</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2930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299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b="1" dirty="0">
                          <a:solidFill>
                            <a:srgbClr val="990011"/>
                          </a:solidFill>
                          <a:latin typeface="Calibri" pitchFamily="34" charset="0"/>
                          <a:ea typeface="Calibri" pitchFamily="34" charset="-122"/>
                          <a:cs typeface="Calibri" pitchFamily="34" charset="-120"/>
                        </a:rPr>
                        <a:t>9.79×</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r>
              <a:tr h="283464">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Dense layer</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table</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201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196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b="1" dirty="0">
                          <a:solidFill>
                            <a:srgbClr val="1C1C22"/>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r>
              <a:tr h="283464">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Newton iteration</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47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47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b="1" dirty="0">
                          <a:solidFill>
                            <a:srgbClr val="1C1C22"/>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r>
              <a:tr h="283464">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Image kernel</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table</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4611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615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b="1" dirty="0">
                          <a:solidFill>
                            <a:srgbClr val="990011"/>
                          </a:solidFill>
                          <a:latin typeface="Calibri" pitchFamily="34" charset="0"/>
                          <a:ea typeface="Calibri" pitchFamily="34" charset="-122"/>
                          <a:cs typeface="Calibri" pitchFamily="34" charset="-120"/>
                        </a:rPr>
                        <a:t>7.49×</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r>
              <a:tr h="283464">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Decaying impulse</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l" indent="0" marL="0">
                        <a:buNone/>
                      </a:pPr>
                      <a:r>
                        <a:rPr lang="en-US" sz="1200" dirty="0">
                          <a:solidFill>
                            <a:srgbClr val="1C1C22"/>
                          </a:solidFill>
                          <a:latin typeface="Calibri" pitchFamily="34" charset="0"/>
                          <a:ea typeface="Calibri" pitchFamily="34" charset="-122"/>
                          <a:cs typeface="Calibri" pitchFamily="34" charset="-120"/>
                        </a:rPr>
                        <a:t>perforation</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218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dirty="0">
                          <a:solidFill>
                            <a:srgbClr val="1C1C22"/>
                          </a:solidFill>
                          <a:latin typeface="Calibri" pitchFamily="34" charset="0"/>
                          <a:ea typeface="Calibri" pitchFamily="34" charset="-122"/>
                          <a:cs typeface="Calibri" pitchFamily="34" charset="-120"/>
                        </a:rPr>
                        <a:t>119 ns</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c>
                  <a:txBody>
                    <a:bodyPr/>
                    <a:lstStyle/>
                    <a:p>
                      <a:pPr algn="r" indent="0" marL="0">
                        <a:buNone/>
                      </a:pPr>
                      <a:r>
                        <a:rPr lang="en-US" sz="1200" b="1" dirty="0">
                          <a:solidFill>
                            <a:srgbClr val="990011"/>
                          </a:solidFill>
                          <a:latin typeface="Calibri" pitchFamily="34" charset="0"/>
                          <a:ea typeface="Calibri" pitchFamily="34" charset="-122"/>
                          <a:cs typeface="Calibri" pitchFamily="34" charset="-120"/>
                        </a:rPr>
                        <a:t>1.83×</a:t>
                      </a:r>
                      <a:endParaRPr lang="en-US" sz="12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12</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Results Across Six Benchmarks</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Each kernel at its declared budget. Speedups are against unmodified fp32; the precision-only tuner is our own allocator restricted to lever one.</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2960" y="1554480"/>
          <a:ext cx="10543032" cy="914400"/>
        </p:xfrm>
        <a:graphic>
          <a:graphicData uri="http://schemas.openxmlformats.org/drawingml/2006/table">
            <a:tbl>
              <a:tblPr/>
              <a:tblGrid>
                <a:gridCol w="1737360"/>
                <a:gridCol w="960120"/>
                <a:gridCol w="1051560"/>
                <a:gridCol w="1051560"/>
                <a:gridCol w="1325880"/>
                <a:gridCol w="1051560"/>
                <a:gridCol w="1325880"/>
                <a:gridCol w="2039112"/>
              </a:tblGrid>
              <a:tr h="457200">
                <a:tc>
                  <a:txBody>
                    <a:bodyPr/>
                    <a:lstStyle/>
                    <a:p>
                      <a:pPr algn="l" indent="0" marL="0">
                        <a:buNone/>
                      </a:pPr>
                      <a:r>
                        <a:rPr lang="en-US" sz="1000" b="1" dirty="0">
                          <a:solidFill>
                            <a:srgbClr val="6E7079"/>
                          </a:solidFill>
                          <a:latin typeface="Calibri" pitchFamily="34" charset="0"/>
                          <a:ea typeface="Calibri" pitchFamily="34" charset="-122"/>
                          <a:cs typeface="Calibri" pitchFamily="34" charset="-120"/>
                        </a:rPr>
                        <a:t>Kernel</a:t>
                      </a:r>
                      <a:endParaRPr lang="en-US" sz="10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6E7079"/>
                          </a:solidFill>
                          <a:latin typeface="Calibri" pitchFamily="34" charset="0"/>
                          <a:ea typeface="Calibri" pitchFamily="34" charset="-122"/>
                          <a:cs typeface="Calibri" pitchFamily="34" charset="-120"/>
                        </a:rPr>
                        <a:t>Budget β</a:t>
                      </a:r>
                      <a:endParaRPr lang="en-US" sz="10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6E7079"/>
                          </a:solidFill>
                          <a:latin typeface="Calibri" pitchFamily="34" charset="0"/>
                          <a:ea typeface="Calibri" pitchFamily="34" charset="-122"/>
                          <a:cs typeface="Calibri" pitchFamily="34" charset="-120"/>
                        </a:rPr>
                        <a:t>Certified</a:t>
                      </a:r>
                      <a:endParaRPr lang="en-US" sz="10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6E7079"/>
                          </a:solidFill>
                          <a:latin typeface="Calibri" pitchFamily="34" charset="0"/>
                          <a:ea typeface="Calibri" pitchFamily="34" charset="-122"/>
                          <a:cs typeface="Calibri" pitchFamily="34" charset="-120"/>
                        </a:rPr>
                        <a:t>Measured</a:t>
                      </a:r>
                      <a:endParaRPr lang="en-US" sz="10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6E7079"/>
                          </a:solidFill>
                          <a:latin typeface="Calibri" pitchFamily="34" charset="0"/>
                          <a:ea typeface="Calibri" pitchFamily="34" charset="-122"/>
                          <a:cs typeface="Calibri" pitchFamily="34" charset="-120"/>
                        </a:rPr>
                        <a:t>Bound ÷ measured</a:t>
                      </a:r>
                      <a:endParaRPr lang="en-US" sz="10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6E7079"/>
                          </a:solidFill>
                          <a:latin typeface="Calibri" pitchFamily="34" charset="0"/>
                          <a:ea typeface="Calibri" pitchFamily="34" charset="-122"/>
                          <a:cs typeface="Calibri" pitchFamily="34" charset="-120"/>
                        </a:rPr>
                        <a:t>Speedup</a:t>
                      </a:r>
                      <a:endParaRPr lang="en-US" sz="10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6E7079"/>
                          </a:solidFill>
                          <a:latin typeface="Calibri" pitchFamily="34" charset="0"/>
                          <a:ea typeface="Calibri" pitchFamily="34" charset="-122"/>
                          <a:cs typeface="Calibri" pitchFamily="34" charset="-120"/>
                        </a:rPr>
                        <a:t>Precision only</a:t>
                      </a:r>
                      <a:endParaRPr lang="en-US" sz="10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6E7079"/>
                          </a:solidFill>
                          <a:latin typeface="Calibri" pitchFamily="34" charset="0"/>
                          <a:ea typeface="Calibri" pitchFamily="34" charset="-122"/>
                          <a:cs typeface="Calibri" pitchFamily="34" charset="-120"/>
                        </a:rPr>
                        <a:t>Levers chosen</a:t>
                      </a:r>
                      <a:endParaRPr lang="en-US" sz="10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19050" cap="flat" cmpd="sng" algn="ctr">
                      <a:solidFill>
                        <a:srgbClr val="1C1C22"/>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C1C22"/>
                          </a:solidFill>
                          <a:latin typeface="Calibri" pitchFamily="34" charset="0"/>
                          <a:ea typeface="Calibri" pitchFamily="34" charset="-122"/>
                          <a:cs typeface="Calibri" pitchFamily="34" charset="-120"/>
                        </a:rPr>
                        <a:t>FIR filter</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0.02</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5.9e-3</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6.3e-4</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9.4×</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990011"/>
                          </a:solidFill>
                          <a:latin typeface="Calibri" pitchFamily="34" charset="0"/>
                          <a:ea typeface="Calibri" pitchFamily="34" charset="-122"/>
                          <a:cs typeface="Calibri" pitchFamily="34" charset="-120"/>
                        </a:rPr>
                        <a:t>1.21×</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F3C7E"/>
                          </a:solidFill>
                          <a:latin typeface="Calibri" pitchFamily="34" charset="0"/>
                          <a:ea typeface="Calibri" pitchFamily="34" charset="-122"/>
                          <a:cs typeface="Calibri" pitchFamily="34" charset="-120"/>
                        </a:rPr>
                        <a:t>1.21×</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1C22"/>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C1C22"/>
                          </a:solidFill>
                          <a:latin typeface="Calibri" pitchFamily="34" charset="0"/>
                          <a:ea typeface="Calibri" pitchFamily="34" charset="-122"/>
                          <a:cs typeface="Calibri" pitchFamily="34" charset="-120"/>
                        </a:rPr>
                        <a:t>k-means distance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0.01</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3.9e-5</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4.6e-7</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85.0×</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b="1" dirty="0">
                          <a:solidFill>
                            <a:srgbClr val="990011"/>
                          </a:solidFill>
                          <a:latin typeface="Calibri" pitchFamily="34" charset="0"/>
                          <a:ea typeface="Calibri" pitchFamily="34" charset="-122"/>
                          <a:cs typeface="Calibri" pitchFamily="34" charset="-120"/>
                        </a:rPr>
                        <a:t>3.09×</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2F3C7E"/>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l" indent="0" marL="0">
                        <a:buNone/>
                      </a:pPr>
                      <a:r>
                        <a:rPr lang="en-US" sz="1300" dirty="0">
                          <a:solidFill>
                            <a:srgbClr val="1C1C22"/>
                          </a:solidFill>
                          <a:latin typeface="Calibri" pitchFamily="34" charset="0"/>
                          <a:ea typeface="Calibri" pitchFamily="34" charset="-122"/>
                          <a:cs typeface="Calibri" pitchFamily="34" charset="-120"/>
                        </a:rPr>
                        <a:t>table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r>
              <a:tr h="457200">
                <a:tc>
                  <a:txBody>
                    <a:bodyPr/>
                    <a:lstStyle/>
                    <a:p>
                      <a:pPr algn="l" indent="0" marL="0">
                        <a:buNone/>
                      </a:pPr>
                      <a:r>
                        <a:rPr lang="en-US" sz="1300" b="1" dirty="0">
                          <a:solidFill>
                            <a:srgbClr val="1C1C22"/>
                          </a:solidFill>
                          <a:latin typeface="Calibri" pitchFamily="34" charset="0"/>
                          <a:ea typeface="Calibri" pitchFamily="34" charset="-122"/>
                          <a:cs typeface="Calibri" pitchFamily="34" charset="-120"/>
                        </a:rPr>
                        <a:t>Dense layer</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0.01</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5.9e-3</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3.1e-4</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18.9×</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990011"/>
                          </a:solidFill>
                          <a:latin typeface="Calibri" pitchFamily="34" charset="0"/>
                          <a:ea typeface="Calibri" pitchFamily="34" charset="-122"/>
                          <a:cs typeface="Calibri" pitchFamily="34" charset="-120"/>
                        </a:rPr>
                        <a:t>1.65×</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F3C7E"/>
                          </a:solidFill>
                          <a:latin typeface="Calibri" pitchFamily="34" charset="0"/>
                          <a:ea typeface="Calibri" pitchFamily="34" charset="-122"/>
                          <a:cs typeface="Calibri" pitchFamily="34" charset="-120"/>
                        </a:rPr>
                        <a:t>1.37×</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1C22"/>
                          </a:solidFill>
                          <a:latin typeface="Calibri" pitchFamily="34" charset="0"/>
                          <a:ea typeface="Calibri" pitchFamily="34" charset="-122"/>
                          <a:cs typeface="Calibri" pitchFamily="34" charset="-120"/>
                        </a:rPr>
                        <a:t>precision + table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C1C22"/>
                          </a:solidFill>
                          <a:latin typeface="Calibri" pitchFamily="34" charset="0"/>
                          <a:ea typeface="Calibri" pitchFamily="34" charset="-122"/>
                          <a:cs typeface="Calibri" pitchFamily="34" charset="-120"/>
                        </a:rPr>
                        <a:t>Newton iteration</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1e-3</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7.7e-5</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1.3e-7</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603.8×</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b="1" dirty="0">
                          <a:solidFill>
                            <a:srgbClr val="99001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2F3C7E"/>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l" indent="0" marL="0">
                        <a:buNone/>
                      </a:pPr>
                      <a:r>
                        <a:rPr lang="en-US" sz="1300" dirty="0">
                          <a:solidFill>
                            <a:srgbClr val="1C1C22"/>
                          </a:solidFill>
                          <a:latin typeface="Calibri" pitchFamily="34" charset="0"/>
                          <a:ea typeface="Calibri" pitchFamily="34" charset="-122"/>
                          <a:cs typeface="Calibri" pitchFamily="34" charset="-120"/>
                        </a:rPr>
                        <a:t>none (fp32)</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r>
              <a:tr h="457200">
                <a:tc>
                  <a:txBody>
                    <a:bodyPr/>
                    <a:lstStyle/>
                    <a:p>
                      <a:pPr algn="l" indent="0" marL="0">
                        <a:buNone/>
                      </a:pPr>
                      <a:r>
                        <a:rPr lang="en-US" sz="1300" b="1" dirty="0">
                          <a:solidFill>
                            <a:srgbClr val="1C1C22"/>
                          </a:solidFill>
                          <a:latin typeface="Calibri" pitchFamily="34" charset="0"/>
                          <a:ea typeface="Calibri" pitchFamily="34" charset="-122"/>
                          <a:cs typeface="Calibri" pitchFamily="34" charset="-120"/>
                        </a:rPr>
                        <a:t>Image kernel</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0.01</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8.8e-3</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1.4e-3</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6.3×</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990011"/>
                          </a:solidFill>
                          <a:latin typeface="Calibri" pitchFamily="34" charset="0"/>
                          <a:ea typeface="Calibri" pitchFamily="34" charset="-122"/>
                          <a:cs typeface="Calibri" pitchFamily="34" charset="-120"/>
                        </a:rPr>
                        <a:t>6.09×</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F3C7E"/>
                          </a:solidFill>
                          <a:latin typeface="Calibri" pitchFamily="34" charset="0"/>
                          <a:ea typeface="Calibri" pitchFamily="34" charset="-122"/>
                          <a:cs typeface="Calibri" pitchFamily="34" charset="-120"/>
                        </a:rPr>
                        <a:t>1.78×</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1C22"/>
                          </a:solidFill>
                          <a:latin typeface="Calibri" pitchFamily="34" charset="0"/>
                          <a:ea typeface="Calibri" pitchFamily="34" charset="-122"/>
                          <a:cs typeface="Calibri" pitchFamily="34" charset="-120"/>
                        </a:rPr>
                        <a:t>precision + table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C1C22"/>
                          </a:solidFill>
                          <a:latin typeface="Calibri" pitchFamily="34" charset="0"/>
                          <a:ea typeface="Calibri" pitchFamily="34" charset="-122"/>
                          <a:cs typeface="Calibri" pitchFamily="34" charset="-120"/>
                        </a:rPr>
                        <a:t>Decaying impulse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0.02</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0.011</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4.9e-3</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1C1C22"/>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b="1" dirty="0">
                          <a:solidFill>
                            <a:srgbClr val="990011"/>
                          </a:solidFill>
                          <a:latin typeface="Calibri" pitchFamily="34" charset="0"/>
                          <a:ea typeface="Calibri" pitchFamily="34" charset="-122"/>
                          <a:cs typeface="Calibri" pitchFamily="34" charset="-120"/>
                        </a:rPr>
                        <a:t>3.27×</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r" indent="0" marL="0">
                        <a:buNone/>
                      </a:pPr>
                      <a:r>
                        <a:rPr lang="en-US" sz="1300" dirty="0">
                          <a:solidFill>
                            <a:srgbClr val="2F3C7E"/>
                          </a:solidFill>
                          <a:latin typeface="Calibri" pitchFamily="34" charset="0"/>
                          <a:ea typeface="Calibri" pitchFamily="34" charset="-122"/>
                          <a:cs typeface="Calibri" pitchFamily="34" charset="-120"/>
                        </a:rPr>
                        <a:t>1.83×</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c>
                  <a:txBody>
                    <a:bodyPr/>
                    <a:lstStyle/>
                    <a:p>
                      <a:pPr algn="l" indent="0" marL="0">
                        <a:buNone/>
                      </a:pPr>
                      <a:r>
                        <a:rPr lang="en-US" sz="1300" dirty="0">
                          <a:solidFill>
                            <a:srgbClr val="1C1C22"/>
                          </a:solidFill>
                          <a:latin typeface="Calibri" pitchFamily="34" charset="0"/>
                          <a:ea typeface="Calibri" pitchFamily="34" charset="-122"/>
                          <a:cs typeface="Calibri" pitchFamily="34" charset="-120"/>
                        </a:rPr>
                        <a:t>perforation + precision</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6350" cap="flat" cmpd="sng" algn="ctr">
                      <a:solidFill>
                        <a:srgbClr val="DCDCE2"/>
                      </a:solidFill>
                      <a:prstDash val="solid"/>
                      <a:round/>
                      <a:headEnd type="none" w="med" len="med"/>
                      <a:tailEnd type="none" w="med" len="med"/>
                    </a:lnB>
                    <a:solidFill>
                      <a:srgbClr val="FCF6F5"/>
                    </a:solidFill>
                  </a:tcPr>
                </a:tc>
              </a:tr>
            </a:tbl>
          </a:graphicData>
        </a:graphic>
      </p:graphicFrame>
      <p:sp>
        <p:nvSpPr>
          <p:cNvPr id="7" name="takeaway"/>
          <p:cNvSpPr/>
          <p:nvPr/>
        </p:nvSpPr>
        <p:spPr>
          <a:xfrm>
            <a:off x="822960" y="5486400"/>
            <a:ext cx="10543032" cy="566928"/>
          </a:xfrm>
          <a:prstGeom prst="rect">
            <a:avLst/>
          </a:prstGeom>
          <a:solidFill>
            <a:srgbClr val="1C1C22"/>
          </a:solidFill>
          <a:ln w="12700">
            <a:solidFill>
              <a:srgbClr val="1C1C22"/>
            </a:solidFill>
            <a:prstDash val="solid"/>
          </a:ln>
        </p:spPr>
      </p:sp>
      <p:sp>
        <p:nvSpPr>
          <p:cNvPr id="8" name="takeaway text"/>
          <p:cNvSpPr txBox="1"/>
          <p:nvPr/>
        </p:nvSpPr>
        <p:spPr>
          <a:xfrm>
            <a:off x="1051560" y="548640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Every row is sound. Where a structural lever applies, the joint allocator beats precision alone by 3.1× (k-means), 3.4× (image) and 1.8× (decay).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13</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The Figure We Had to Produce</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Review 1: “every sampled point must fall below the line.” Each dot is one certified configuration from the budget sweeps.</a:t>
            </a:r>
            <a:endParaRPr lang="en-US" sz="1300" dirty="0"/>
          </a:p>
        </p:txBody>
      </p:sp>
      <p:graphicFrame>
        <p:nvGraphicFramePr>
          <p:cNvPr id="6" name="Chart 0" descr=""/>
          <p:cNvGraphicFramePr/>
          <p:nvPr/>
        </p:nvGraphicFramePr>
        <p:xfrm>
          <a:off x="822960" y="1417320"/>
          <a:ext cx="6675120" cy="4343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863840" y="1554480"/>
            <a:ext cx="347472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WHAT IT SHOWS</a:t>
            </a:r>
            <a:endParaRPr lang="en-US" sz="1000" dirty="0"/>
          </a:p>
        </p:txBody>
      </p:sp>
      <p:sp>
        <p:nvSpPr>
          <p:cNvPr id="8" name="Text 5"/>
          <p:cNvSpPr txBox="1"/>
          <p:nvPr/>
        </p:nvSpPr>
        <p:spPr>
          <a:xfrm>
            <a:off x="7863840" y="1874520"/>
            <a:ext cx="3474720" cy="548640"/>
          </a:xfrm>
          <a:prstGeom prst="rect">
            <a:avLst/>
          </a:prstGeom>
          <a:noFill/>
          <a:ln/>
        </p:spPr>
        <p:txBody>
          <a:bodyPr wrap="square" lIns="0" tIns="0" rIns="0" bIns="0" rtlCol="0" anchor="ctr"/>
          <a:lstStyle/>
          <a:p>
            <a:pPr indent="0" marL="0">
              <a:buNone/>
            </a:pPr>
            <a:r>
              <a:rPr lang="en-US" sz="2800" b="1" dirty="0">
                <a:solidFill>
                  <a:srgbClr val="990011"/>
                </a:solidFill>
                <a:latin typeface="Cambria" pitchFamily="34" charset="0"/>
                <a:ea typeface="Cambria" pitchFamily="34" charset="-122"/>
                <a:cs typeface="Cambria" pitchFamily="34" charset="-120"/>
              </a:rPr>
              <a:t>154</a:t>
            </a:r>
            <a:endParaRPr lang="en-US" sz="2800" dirty="0"/>
          </a:p>
        </p:txBody>
      </p:sp>
      <p:sp>
        <p:nvSpPr>
          <p:cNvPr id="9" name="Text 6"/>
          <p:cNvSpPr txBox="1"/>
          <p:nvPr/>
        </p:nvSpPr>
        <p:spPr>
          <a:xfrm>
            <a:off x="7863840" y="2395728"/>
            <a:ext cx="3474720" cy="411480"/>
          </a:xfrm>
          <a:prstGeom prst="rect">
            <a:avLst/>
          </a:prstGeom>
          <a:noFill/>
          <a:ln/>
        </p:spPr>
        <p:txBody>
          <a:bodyPr wrap="square" lIns="0" tIns="0" rIns="0" bIns="0" rtlCol="0" anchor="t"/>
          <a:lstStyle/>
          <a:p>
            <a:pPr indent="0" marL="0">
              <a:buNone/>
            </a:pPr>
            <a:r>
              <a:rPr lang="en-US" sz="1250" dirty="0">
                <a:solidFill>
                  <a:srgbClr val="6E7079"/>
                </a:solidFill>
              </a:rPr>
              <a:t>certified configurations plotted</a:t>
            </a:r>
            <a:endParaRPr lang="en-US" sz="1250" dirty="0"/>
          </a:p>
        </p:txBody>
      </p:sp>
      <p:sp>
        <p:nvSpPr>
          <p:cNvPr id="10" name="Text 7"/>
          <p:cNvSpPr txBox="1"/>
          <p:nvPr/>
        </p:nvSpPr>
        <p:spPr>
          <a:xfrm>
            <a:off x="7863840" y="2898648"/>
            <a:ext cx="3474720" cy="548640"/>
          </a:xfrm>
          <a:prstGeom prst="rect">
            <a:avLst/>
          </a:prstGeom>
          <a:noFill/>
          <a:ln/>
        </p:spPr>
        <p:txBody>
          <a:bodyPr wrap="square" lIns="0" tIns="0" rIns="0" bIns="0" rtlCol="0" anchor="ctr"/>
          <a:lstStyle/>
          <a:p>
            <a:pPr indent="0" marL="0">
              <a:buNone/>
            </a:pPr>
            <a:r>
              <a:rPr lang="en-US" sz="2800" b="1" dirty="0">
                <a:solidFill>
                  <a:srgbClr val="1F7A4D"/>
                </a:solidFill>
                <a:latin typeface="Cambria" pitchFamily="34" charset="0"/>
                <a:ea typeface="Cambria" pitchFamily="34" charset="-122"/>
                <a:cs typeface="Cambria" pitchFamily="34" charset="-120"/>
              </a:rPr>
              <a:t>0</a:t>
            </a:r>
            <a:endParaRPr lang="en-US" sz="2800" dirty="0"/>
          </a:p>
        </p:txBody>
      </p:sp>
      <p:sp>
        <p:nvSpPr>
          <p:cNvPr id="11" name="Text 8"/>
          <p:cNvSpPr txBox="1"/>
          <p:nvPr/>
        </p:nvSpPr>
        <p:spPr>
          <a:xfrm>
            <a:off x="7863840" y="3419856"/>
            <a:ext cx="3474720" cy="411480"/>
          </a:xfrm>
          <a:prstGeom prst="rect">
            <a:avLst/>
          </a:prstGeom>
          <a:noFill/>
          <a:ln/>
        </p:spPr>
        <p:txBody>
          <a:bodyPr wrap="square" lIns="0" tIns="0" rIns="0" bIns="0" rtlCol="0" anchor="t"/>
          <a:lstStyle/>
          <a:p>
            <a:pPr indent="0" marL="0">
              <a:buNone/>
            </a:pPr>
            <a:r>
              <a:rPr lang="en-US" sz="1250" dirty="0">
                <a:solidFill>
                  <a:srgbClr val="6E7079"/>
                </a:solidFill>
              </a:rPr>
              <a:t>points above the diagonal</a:t>
            </a:r>
            <a:endParaRPr lang="en-US" sz="1250" dirty="0"/>
          </a:p>
        </p:txBody>
      </p:sp>
      <p:sp>
        <p:nvSpPr>
          <p:cNvPr id="12" name="Text 9"/>
          <p:cNvSpPr txBox="1"/>
          <p:nvPr/>
        </p:nvSpPr>
        <p:spPr>
          <a:xfrm>
            <a:off x="7863840" y="3922776"/>
            <a:ext cx="3474720" cy="548640"/>
          </a:xfrm>
          <a:prstGeom prst="rect">
            <a:avLst/>
          </a:prstGeom>
          <a:noFill/>
          <a:ln/>
        </p:spPr>
        <p:txBody>
          <a:bodyPr wrap="square" lIns="0" tIns="0" rIns="0" bIns="0" rtlCol="0" anchor="ctr"/>
          <a:lstStyle/>
          <a:p>
            <a:pPr indent="0" marL="0">
              <a:buNone/>
            </a:pPr>
            <a:r>
              <a:rPr lang="en-US" sz="2800" b="1" dirty="0">
                <a:solidFill>
                  <a:srgbClr val="990011"/>
                </a:solidFill>
                <a:latin typeface="Cambria" pitchFamily="34" charset="0"/>
                <a:ea typeface="Cambria" pitchFamily="34" charset="-122"/>
                <a:cs typeface="Cambria" pitchFamily="34" charset="-120"/>
              </a:rPr>
              <a:t>2.2× – 604×</a:t>
            </a:r>
            <a:endParaRPr lang="en-US" sz="2800" dirty="0"/>
          </a:p>
        </p:txBody>
      </p:sp>
      <p:sp>
        <p:nvSpPr>
          <p:cNvPr id="13" name="Text 10"/>
          <p:cNvSpPr txBox="1"/>
          <p:nvPr/>
        </p:nvSpPr>
        <p:spPr>
          <a:xfrm>
            <a:off x="7863840" y="4443984"/>
            <a:ext cx="3474720" cy="411480"/>
          </a:xfrm>
          <a:prstGeom prst="rect">
            <a:avLst/>
          </a:prstGeom>
          <a:noFill/>
          <a:ln/>
        </p:spPr>
        <p:txBody>
          <a:bodyPr wrap="square" lIns="0" tIns="0" rIns="0" bIns="0" rtlCol="0" anchor="t"/>
          <a:lstStyle/>
          <a:p>
            <a:pPr indent="0" marL="0">
              <a:buNone/>
            </a:pPr>
            <a:r>
              <a:rPr lang="en-US" sz="1250" dirty="0">
                <a:solidFill>
                  <a:srgbClr val="6E7079"/>
                </a:solidFill>
              </a:rPr>
              <a:t>bound ÷ worst measured error at the headline budgets</a:t>
            </a:r>
            <a:endParaRPr lang="en-US" sz="1250" dirty="0"/>
          </a:p>
        </p:txBody>
      </p:sp>
      <p:sp>
        <p:nvSpPr>
          <p:cNvPr id="14" name="takeaway"/>
          <p:cNvSpPr/>
          <p:nvPr/>
        </p:nvSpPr>
        <p:spPr>
          <a:xfrm>
            <a:off x="822960" y="5897880"/>
            <a:ext cx="10543032" cy="566928"/>
          </a:xfrm>
          <a:prstGeom prst="rect">
            <a:avLst/>
          </a:prstGeom>
          <a:solidFill>
            <a:srgbClr val="1C1C22"/>
          </a:solidFill>
          <a:ln w="12700">
            <a:solidFill>
              <a:srgbClr val="1C1C22"/>
            </a:solidFill>
            <a:prstDash val="solid"/>
          </a:ln>
        </p:spPr>
      </p:sp>
      <p:sp>
        <p:nvSpPr>
          <p:cNvPr id="15" name="takeaway text"/>
          <p:cNvSpPr txBox="1"/>
          <p:nvPr/>
        </p:nvSpPr>
        <p:spPr>
          <a:xfrm>
            <a:off x="1051560" y="589788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No violation. The distance below the line is the price of soundness: tight for linear kernels, loose for long nonlinear chains.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14</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Pareto Curves: Joint Allocation Wins</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Modeled speedup against the budget. Both curves are certified at every point and monotone by construction.</a:t>
            </a:r>
            <a:endParaRPr lang="en-US" sz="1300" dirty="0"/>
          </a:p>
        </p:txBody>
      </p:sp>
      <p:sp>
        <p:nvSpPr>
          <p:cNvPr id="6" name="Text 4"/>
          <p:cNvSpPr txBox="1"/>
          <p:nvPr/>
        </p:nvSpPr>
        <p:spPr>
          <a:xfrm>
            <a:off x="822960" y="1463040"/>
            <a:ext cx="5029200" cy="237744"/>
          </a:xfrm>
          <a:prstGeom prst="rect">
            <a:avLst/>
          </a:prstGeom>
          <a:noFill/>
          <a:ln/>
        </p:spPr>
        <p:txBody>
          <a:bodyPr wrap="square" lIns="0" tIns="0" rIns="0" bIns="0" rtlCol="0" anchor="ctr"/>
          <a:lstStyle/>
          <a:p>
            <a:pPr indent="0" marL="0">
              <a:buNone/>
            </a:pPr>
            <a:r>
              <a:rPr lang="en-US" sz="1000" b="1" spc="200" kern="0" dirty="0">
                <a:solidFill>
                  <a:srgbClr val="2F3C7E"/>
                </a:solidFill>
              </a:rPr>
              <a:t>IMAGE KERNEL  ·  IMAGE.ACC</a:t>
            </a:r>
            <a:endParaRPr lang="en-US" sz="1000" dirty="0"/>
          </a:p>
        </p:txBody>
      </p:sp>
      <p:graphicFrame>
        <p:nvGraphicFramePr>
          <p:cNvPr id="7" name="Chart 0" descr=""/>
          <p:cNvGraphicFramePr/>
          <p:nvPr/>
        </p:nvGraphicFramePr>
        <p:xfrm>
          <a:off x="822960" y="173736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245352" y="1463040"/>
            <a:ext cx="5029200" cy="237744"/>
          </a:xfrm>
          <a:prstGeom prst="rect">
            <a:avLst/>
          </a:prstGeom>
          <a:noFill/>
          <a:ln/>
        </p:spPr>
        <p:txBody>
          <a:bodyPr wrap="square" lIns="0" tIns="0" rIns="0" bIns="0" rtlCol="0" anchor="ctr"/>
          <a:lstStyle/>
          <a:p>
            <a:pPr indent="0" marL="0">
              <a:buNone/>
            </a:pPr>
            <a:r>
              <a:rPr lang="en-US" sz="1000" b="1" spc="200" kern="0" dirty="0">
                <a:solidFill>
                  <a:srgbClr val="2F3C7E"/>
                </a:solidFill>
              </a:rPr>
              <a:t>DECAYING IMPULSE  ·  DECAY.ACC</a:t>
            </a:r>
            <a:endParaRPr lang="en-US" sz="1000" dirty="0"/>
          </a:p>
        </p:txBody>
      </p:sp>
      <p:graphicFrame>
        <p:nvGraphicFramePr>
          <p:cNvPr id="9" name="Chart 1" descr=""/>
          <p:cNvGraphicFramePr/>
          <p:nvPr/>
        </p:nvGraphicFramePr>
        <p:xfrm>
          <a:off x="6245352" y="1737360"/>
          <a:ext cx="5120640" cy="3566160"/>
        </p:xfrm>
        <a:graphic xmlns:a="http://schemas.openxmlformats.org/drawingml/2006/main">
          <a:graphicData uri="http://schemas.openxmlformats.org/drawingml/2006/chart">
            <c:chart xmlns:c="http://schemas.openxmlformats.org/drawingml/2006/chart" r:id="rId2"/>
          </a:graphicData>
        </a:graphic>
      </p:graphicFrame>
      <p:sp>
        <p:nvSpPr>
          <p:cNvPr id="10" name="takeaway"/>
          <p:cNvSpPr/>
          <p:nvPr/>
        </p:nvSpPr>
        <p:spPr>
          <a:xfrm>
            <a:off x="822960" y="5623560"/>
            <a:ext cx="10543032" cy="566928"/>
          </a:xfrm>
          <a:prstGeom prst="rect">
            <a:avLst/>
          </a:prstGeom>
          <a:solidFill>
            <a:srgbClr val="1C1C22"/>
          </a:solidFill>
          <a:ln w="12700">
            <a:solidFill>
              <a:srgbClr val="1C1C22"/>
            </a:solidFill>
            <a:prstDash val="solid"/>
          </a:ln>
        </p:spPr>
      </p:sp>
      <p:sp>
        <p:nvSpPr>
          <p:cNvPr id="11" name="takeaway text"/>
          <p:cNvSpPr txBox="1"/>
          <p:nvPr/>
        </p:nvSpPr>
        <p:spPr>
          <a:xfrm>
            <a:off x="1051560" y="562356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Image tops out at 7.2× with a table plus fp16 (precision alone: 2.0×). Decay reaches 3.4× once perforation unlocks (precision alone: 1.9×).</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15</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Modeled Versus Measured Speedup</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Modeled speedup comes from the calibrated cost model; measured speedup is the native gcc build on this laptop.</a:t>
            </a:r>
            <a:endParaRPr lang="en-US" sz="1300" dirty="0"/>
          </a:p>
        </p:txBody>
      </p:sp>
      <p:graphicFrame>
        <p:nvGraphicFramePr>
          <p:cNvPr id="6" name="Chart 0" descr=""/>
          <p:cNvGraphicFramePr/>
          <p:nvPr/>
        </p:nvGraphicFramePr>
        <p:xfrm>
          <a:off x="822960" y="141732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092440" y="1554480"/>
            <a:ext cx="3291840" cy="237744"/>
          </a:xfrm>
          <a:prstGeom prst="rect">
            <a:avLst/>
          </a:prstGeom>
          <a:noFill/>
          <a:ln/>
        </p:spPr>
        <p:txBody>
          <a:bodyPr wrap="square" lIns="0" tIns="0" rIns="0" bIns="0" rtlCol="0" anchor="ctr"/>
          <a:lstStyle/>
          <a:p>
            <a:pPr indent="0" marL="0">
              <a:buNone/>
            </a:pPr>
            <a:r>
              <a:rPr lang="en-US" sz="950" b="1" spc="200" kern="0" dirty="0">
                <a:solidFill>
                  <a:srgbClr val="2F3C7E"/>
                </a:solidFill>
              </a:rPr>
              <a:t>TABLES BEAT THE MODEL</a:t>
            </a:r>
            <a:endParaRPr lang="en-US" sz="950" dirty="0"/>
          </a:p>
        </p:txBody>
      </p:sp>
      <p:sp>
        <p:nvSpPr>
          <p:cNvPr id="8" name="Text 5"/>
          <p:cNvSpPr txBox="1"/>
          <p:nvPr/>
        </p:nvSpPr>
        <p:spPr>
          <a:xfrm>
            <a:off x="8092440" y="1828800"/>
            <a:ext cx="3273552" cy="1005840"/>
          </a:xfrm>
          <a:prstGeom prst="rect">
            <a:avLst/>
          </a:prstGeom>
          <a:noFill/>
          <a:ln/>
        </p:spPr>
        <p:txBody>
          <a:bodyPr wrap="square" lIns="0" tIns="0" rIns="0" bIns="0" rtlCol="0" anchor="t"/>
          <a:lstStyle/>
          <a:p>
            <a:pPr indent="0" marL="0">
              <a:buNone/>
            </a:pPr>
            <a:r>
              <a:rPr lang="en-US" sz="1250" dirty="0">
                <a:solidFill>
                  <a:srgbClr val="3A3D46"/>
                </a:solidFill>
              </a:rPr>
              <a:t>libm's expf and tanhf are slower on this host than the latency model assumes, so k-means measures 9.8× and image 7.5×.</a:t>
            </a:r>
            <a:endParaRPr lang="en-US" sz="1250" dirty="0"/>
          </a:p>
        </p:txBody>
      </p:sp>
      <p:sp>
        <p:nvSpPr>
          <p:cNvPr id="9" name="Text 6"/>
          <p:cNvSpPr txBox="1"/>
          <p:nvPr/>
        </p:nvSpPr>
        <p:spPr>
          <a:xfrm>
            <a:off x="8092440" y="2926080"/>
            <a:ext cx="3291840" cy="237744"/>
          </a:xfrm>
          <a:prstGeom prst="rect">
            <a:avLst/>
          </a:prstGeom>
          <a:noFill/>
          <a:ln/>
        </p:spPr>
        <p:txBody>
          <a:bodyPr wrap="square" lIns="0" tIns="0" rIns="0" bIns="0" rtlCol="0" anchor="ctr"/>
          <a:lstStyle/>
          <a:p>
            <a:pPr indent="0" marL="0">
              <a:buNone/>
            </a:pPr>
            <a:r>
              <a:rPr lang="en-US" sz="950" b="1" spc="200" kern="0" dirty="0">
                <a:solidFill>
                  <a:srgbClr val="990011"/>
                </a:solidFill>
              </a:rPr>
              <a:t>PRECISION DOES NOT SHOW NATIVELY</a:t>
            </a:r>
            <a:endParaRPr lang="en-US" sz="950" dirty="0"/>
          </a:p>
        </p:txBody>
      </p:sp>
      <p:sp>
        <p:nvSpPr>
          <p:cNvPr id="10" name="Text 7"/>
          <p:cNvSpPr txBox="1"/>
          <p:nvPr/>
        </p:nvSpPr>
        <p:spPr>
          <a:xfrm>
            <a:off x="8092440" y="3200400"/>
            <a:ext cx="3273552" cy="1005840"/>
          </a:xfrm>
          <a:prstGeom prst="rect">
            <a:avLst/>
          </a:prstGeom>
          <a:noFill/>
          <a:ln/>
        </p:spPr>
        <p:txBody>
          <a:bodyPr wrap="square" lIns="0" tIns="0" rIns="0" bIns="0" rtlCol="0" anchor="t"/>
          <a:lstStyle/>
          <a:p>
            <a:pPr indent="0" marL="0">
              <a:buNone/>
            </a:pPr>
            <a:r>
              <a:rPr lang="en-US" sz="1250" dirty="0">
                <a:solidFill>
                  <a:srgbClr val="3A3D46"/>
                </a:solidFill>
              </a:rPr>
              <a:t>x86 scalar units have no faster fp16 or fp8 path; that gain needs vector or matrix units and is modeled only.</a:t>
            </a:r>
            <a:endParaRPr lang="en-US" sz="1250" dirty="0"/>
          </a:p>
        </p:txBody>
      </p:sp>
      <p:sp>
        <p:nvSpPr>
          <p:cNvPr id="11" name="Text 8"/>
          <p:cNvSpPr txBox="1"/>
          <p:nvPr/>
        </p:nvSpPr>
        <p:spPr>
          <a:xfrm>
            <a:off x="8092440" y="4297680"/>
            <a:ext cx="3291840" cy="237744"/>
          </a:xfrm>
          <a:prstGeom prst="rect">
            <a:avLst/>
          </a:prstGeom>
          <a:noFill/>
          <a:ln/>
        </p:spPr>
        <p:txBody>
          <a:bodyPr wrap="square" lIns="0" tIns="0" rIns="0" bIns="0" rtlCol="0" anchor="ctr"/>
          <a:lstStyle/>
          <a:p>
            <a:pPr indent="0" marL="0">
              <a:buNone/>
            </a:pPr>
            <a:r>
              <a:rPr lang="en-US" sz="950" b="1" spc="200" kern="0" dirty="0">
                <a:solidFill>
                  <a:srgbClr val="2F3C7E"/>
                </a:solidFill>
              </a:rPr>
              <a:t>PERFORATION LANDS AS PREDICTED</a:t>
            </a:r>
            <a:endParaRPr lang="en-US" sz="950" dirty="0"/>
          </a:p>
        </p:txBody>
      </p:sp>
      <p:sp>
        <p:nvSpPr>
          <p:cNvPr id="12" name="Text 9"/>
          <p:cNvSpPr txBox="1"/>
          <p:nvPr/>
        </p:nvSpPr>
        <p:spPr>
          <a:xfrm>
            <a:off x="8092440" y="4572000"/>
            <a:ext cx="3273552" cy="1005840"/>
          </a:xfrm>
          <a:prstGeom prst="rect">
            <a:avLst/>
          </a:prstGeom>
          <a:noFill/>
          <a:ln/>
        </p:spPr>
        <p:txBody>
          <a:bodyPr wrap="square" lIns="0" tIns="0" rIns="0" bIns="0" rtlCol="0" anchor="t"/>
          <a:lstStyle/>
          <a:p>
            <a:pPr indent="0" marL="0">
              <a:buNone/>
            </a:pPr>
            <a:r>
              <a:rPr lang="en-US" sz="1250" dirty="0">
                <a:solidFill>
                  <a:srgbClr val="3A3D46"/>
                </a:solidFill>
              </a:rPr>
              <a:t>Decay: 3.3× modeled, 1.8× measured, the gap being the precision share.</a:t>
            </a:r>
            <a:endParaRPr lang="en-US" sz="1250" dirty="0"/>
          </a:p>
        </p:txBody>
      </p:sp>
      <p:sp>
        <p:nvSpPr>
          <p:cNvPr id="13" name="takeaway"/>
          <p:cNvSpPr/>
          <p:nvPr/>
        </p:nvSpPr>
        <p:spPr>
          <a:xfrm>
            <a:off x="822960" y="5897880"/>
            <a:ext cx="10543032" cy="566928"/>
          </a:xfrm>
          <a:prstGeom prst="rect">
            <a:avLst/>
          </a:prstGeom>
          <a:solidFill>
            <a:srgbClr val="1C1C22"/>
          </a:solidFill>
          <a:ln w="12700">
            <a:solidFill>
              <a:srgbClr val="1C1C22"/>
            </a:solidFill>
            <a:prstDash val="solid"/>
          </a:ln>
        </p:spPr>
      </p:sp>
      <p:sp>
        <p:nvSpPr>
          <p:cNvPr id="14" name="takeaway text"/>
          <p:cNvSpPr txBox="1"/>
          <p:nvPr/>
        </p:nvSpPr>
        <p:spPr>
          <a:xfrm>
            <a:off x="1051560" y="589788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Structural levers deliver real speed today. Precision gains are honest model numbers that need vector hardware to be realised.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16</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Where Each Budget Went</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Composition of the certified bound on the worst output, by error kind.</a:t>
            </a:r>
            <a:endParaRPr lang="en-US" sz="1300" dirty="0"/>
          </a:p>
        </p:txBody>
      </p:sp>
      <p:graphicFrame>
        <p:nvGraphicFramePr>
          <p:cNvPr id="6" name="Chart 0" descr=""/>
          <p:cNvGraphicFramePr/>
          <p:nvPr/>
        </p:nvGraphicFramePr>
        <p:xfrm>
          <a:off x="822960" y="141732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092440" y="1554480"/>
            <a:ext cx="3291840" cy="237744"/>
          </a:xfrm>
          <a:prstGeom prst="rect">
            <a:avLst/>
          </a:prstGeom>
          <a:noFill/>
          <a:ln/>
        </p:spPr>
        <p:txBody>
          <a:bodyPr wrap="square" lIns="0" tIns="0" rIns="0" bIns="0" rtlCol="0" anchor="ctr"/>
          <a:lstStyle/>
          <a:p>
            <a:pPr indent="0" marL="0">
              <a:buNone/>
            </a:pPr>
            <a:r>
              <a:rPr lang="en-US" sz="950" b="1" spc="200" kern="0" dirty="0">
                <a:solidFill>
                  <a:srgbClr val="990011"/>
                </a:solidFill>
              </a:rPr>
              <a:t>THE GREY BAR IS THE FRONTIER</a:t>
            </a:r>
            <a:endParaRPr lang="en-US" sz="950" dirty="0"/>
          </a:p>
        </p:txBody>
      </p:sp>
      <p:sp>
        <p:nvSpPr>
          <p:cNvPr id="8" name="Text 5"/>
          <p:cNvSpPr txBox="1"/>
          <p:nvPr/>
        </p:nvSpPr>
        <p:spPr>
          <a:xfrm>
            <a:off x="8092440" y="1828800"/>
            <a:ext cx="3273552" cy="1005840"/>
          </a:xfrm>
          <a:prstGeom prst="rect">
            <a:avLst/>
          </a:prstGeom>
          <a:noFill/>
          <a:ln/>
        </p:spPr>
        <p:txBody>
          <a:bodyPr wrap="square" lIns="0" tIns="0" rIns="0" bIns="0" rtlCol="0" anchor="t"/>
          <a:lstStyle/>
          <a:p>
            <a:pPr indent="0" marL="0">
              <a:buNone/>
            </a:pPr>
            <a:r>
              <a:rPr lang="en-US" sz="1250" dirty="0">
                <a:solidFill>
                  <a:srgbClr val="3A3D46"/>
                </a:solidFill>
              </a:rPr>
              <a:t>Sign-uncertain terms dominate FIR, dense and Newton: centred input ranges make product signs unknown, so those errors cannot cancel.</a:t>
            </a:r>
            <a:endParaRPr lang="en-US" sz="1250" dirty="0"/>
          </a:p>
        </p:txBody>
      </p:sp>
      <p:sp>
        <p:nvSpPr>
          <p:cNvPr id="9" name="Text 6"/>
          <p:cNvSpPr txBox="1"/>
          <p:nvPr/>
        </p:nvSpPr>
        <p:spPr>
          <a:xfrm>
            <a:off x="8092440" y="2926080"/>
            <a:ext cx="3291840" cy="237744"/>
          </a:xfrm>
          <a:prstGeom prst="rect">
            <a:avLst/>
          </a:prstGeom>
          <a:noFill/>
          <a:ln/>
        </p:spPr>
        <p:txBody>
          <a:bodyPr wrap="square" lIns="0" tIns="0" rIns="0" bIns="0" rtlCol="0" anchor="ctr"/>
          <a:lstStyle/>
          <a:p>
            <a:pPr indent="0" marL="0">
              <a:buNone/>
            </a:pPr>
            <a:r>
              <a:rPr lang="en-US" sz="950" b="1" spc="200" kern="0" dirty="0">
                <a:solidFill>
                  <a:srgbClr val="2F3C7E"/>
                </a:solidFill>
              </a:rPr>
              <a:t>DECAY SPENDS IT EVENLY</a:t>
            </a:r>
            <a:endParaRPr lang="en-US" sz="950" dirty="0"/>
          </a:p>
        </p:txBody>
      </p:sp>
      <p:sp>
        <p:nvSpPr>
          <p:cNvPr id="10" name="Text 7"/>
          <p:cNvSpPr txBox="1"/>
          <p:nvPr/>
        </p:nvSpPr>
        <p:spPr>
          <a:xfrm>
            <a:off x="8092440" y="3200400"/>
            <a:ext cx="3273552" cy="1005840"/>
          </a:xfrm>
          <a:prstGeom prst="rect">
            <a:avLst/>
          </a:prstGeom>
          <a:noFill/>
          <a:ln/>
        </p:spPr>
        <p:txBody>
          <a:bodyPr wrap="square" lIns="0" tIns="0" rIns="0" bIns="0" rtlCol="0" anchor="t"/>
          <a:lstStyle/>
          <a:p>
            <a:pPr indent="0" marL="0">
              <a:buNone/>
            </a:pPr>
            <a:r>
              <a:rPr lang="en-US" sz="1250" dirty="0">
                <a:solidFill>
                  <a:srgbClr val="3A3D46"/>
                </a:solidFill>
              </a:rPr>
              <a:t>Half the budget buys fp16, half buys dropping the tail. The allocator found the split on its own.</a:t>
            </a:r>
            <a:endParaRPr lang="en-US" sz="1250" dirty="0"/>
          </a:p>
        </p:txBody>
      </p:sp>
      <p:sp>
        <p:nvSpPr>
          <p:cNvPr id="11" name="Text 8"/>
          <p:cNvSpPr txBox="1"/>
          <p:nvPr/>
        </p:nvSpPr>
        <p:spPr>
          <a:xfrm>
            <a:off x="8092440" y="4297680"/>
            <a:ext cx="3291840" cy="237744"/>
          </a:xfrm>
          <a:prstGeom prst="rect">
            <a:avLst/>
          </a:prstGeom>
          <a:noFill/>
          <a:ln/>
        </p:spPr>
        <p:txBody>
          <a:bodyPr wrap="square" lIns="0" tIns="0" rIns="0" bIns="0" rtlCol="0" anchor="ctr"/>
          <a:lstStyle/>
          <a:p>
            <a:pPr indent="0" marL="0">
              <a:buNone/>
            </a:pPr>
            <a:r>
              <a:rPr lang="en-US" sz="950" b="1" spc="200" kern="0" dirty="0">
                <a:solidFill>
                  <a:srgbClr val="2F3C7E"/>
                </a:solidFill>
              </a:rPr>
              <a:t>TABLES ARE NEARLY FREE</a:t>
            </a:r>
            <a:endParaRPr lang="en-US" sz="950" dirty="0"/>
          </a:p>
        </p:txBody>
      </p:sp>
      <p:sp>
        <p:nvSpPr>
          <p:cNvPr id="12" name="Text 9"/>
          <p:cNvSpPr txBox="1"/>
          <p:nvPr/>
        </p:nvSpPr>
        <p:spPr>
          <a:xfrm>
            <a:off x="8092440" y="4572000"/>
            <a:ext cx="3273552" cy="1005840"/>
          </a:xfrm>
          <a:prstGeom prst="rect">
            <a:avLst/>
          </a:prstGeom>
          <a:noFill/>
          <a:ln/>
        </p:spPr>
        <p:txBody>
          <a:bodyPr wrap="square" lIns="0" tIns="0" rIns="0" bIns="0" rtlCol="0" anchor="t"/>
          <a:lstStyle/>
          <a:p>
            <a:pPr indent="0" marL="0">
              <a:buNone/>
            </a:pPr>
            <a:r>
              <a:rPr lang="en-US" sz="1250" dirty="0">
                <a:solidFill>
                  <a:srgbClr val="3A3D46"/>
                </a:solidFill>
              </a:rPr>
              <a:t>On image the 4,096-entry table costs 3.8e-7 of a 0.01 budget.</a:t>
            </a:r>
            <a:endParaRPr lang="en-US" sz="1250" dirty="0"/>
          </a:p>
        </p:txBody>
      </p:sp>
      <p:sp>
        <p:nvSpPr>
          <p:cNvPr id="13" name="takeaway"/>
          <p:cNvSpPr/>
          <p:nvPr/>
        </p:nvSpPr>
        <p:spPr>
          <a:xfrm>
            <a:off x="822960" y="5897880"/>
            <a:ext cx="10543032" cy="566928"/>
          </a:xfrm>
          <a:prstGeom prst="rect">
            <a:avLst/>
          </a:prstGeom>
          <a:solidFill>
            <a:srgbClr val="FCF6F5"/>
          </a:solidFill>
          <a:ln w="12700">
            <a:solidFill>
              <a:srgbClr val="FCF6F5"/>
            </a:solidFill>
            <a:prstDash val="solid"/>
          </a:ln>
        </p:spPr>
      </p:sp>
      <p:sp>
        <p:nvSpPr>
          <p:cNvPr id="14" name="takeaway text"/>
          <p:cNvSpPr txBox="1"/>
          <p:nvPr/>
        </p:nvSpPr>
        <p:spPr>
          <a:xfrm>
            <a:off x="1051560" y="5897880"/>
            <a:ext cx="10149840" cy="566928"/>
          </a:xfrm>
          <a:prstGeom prst="rect">
            <a:avLst/>
          </a:prstGeom>
          <a:noFill/>
          <a:ln/>
        </p:spPr>
        <p:txBody>
          <a:bodyPr wrap="square" lIns="0" tIns="0" rIns="0" bIns="0" rtlCol="0" anchor="ctr"/>
          <a:lstStyle/>
          <a:p>
            <a:pPr indent="0" marL="0">
              <a:buNone/>
            </a:pPr>
            <a:r>
              <a:rPr lang="en-US" sz="1400" dirty="0">
                <a:solidFill>
                  <a:srgbClr val="1C1C22"/>
                </a:solidFill>
              </a:rPr>
              <a:t>The breakdown is shown live in the frontend for every compile, per lever and per site.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17</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Risks Revisited</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The three risks named at Review 1, and what actually happened.</a:t>
            </a:r>
            <a:endParaRPr lang="en-US" sz="1300" dirty="0"/>
          </a:p>
        </p:txBody>
      </p:sp>
      <p:sp>
        <p:nvSpPr>
          <p:cNvPr id="6" name="Shape 4"/>
          <p:cNvSpPr/>
          <p:nvPr/>
        </p:nvSpPr>
        <p:spPr>
          <a:xfrm>
            <a:off x="822960" y="1508760"/>
            <a:ext cx="3355848" cy="4114800"/>
          </a:xfrm>
          <a:prstGeom prst="rect">
            <a:avLst/>
          </a:prstGeom>
          <a:solidFill>
            <a:srgbClr val="FCF6F5"/>
          </a:solidFill>
          <a:ln w="12700">
            <a:solidFill>
              <a:srgbClr val="FCF6F5"/>
            </a:solidFill>
            <a:prstDash val="solid"/>
          </a:ln>
        </p:spPr>
      </p:sp>
      <p:sp>
        <p:nvSpPr>
          <p:cNvPr id="7" name="Text 5"/>
          <p:cNvSpPr txBox="1"/>
          <p:nvPr/>
        </p:nvSpPr>
        <p:spPr>
          <a:xfrm>
            <a:off x="1051560" y="1691640"/>
            <a:ext cx="2926080" cy="237744"/>
          </a:xfrm>
          <a:prstGeom prst="rect">
            <a:avLst/>
          </a:prstGeom>
          <a:noFill/>
          <a:ln/>
        </p:spPr>
        <p:txBody>
          <a:bodyPr wrap="square" lIns="0" tIns="0" rIns="0" bIns="0" rtlCol="0" anchor="ctr"/>
          <a:lstStyle/>
          <a:p>
            <a:pPr indent="0" marL="0">
              <a:buNone/>
            </a:pPr>
            <a:r>
              <a:rPr lang="en-US" sz="900" b="1" spc="200" kern="0" dirty="0">
                <a:solidFill>
                  <a:srgbClr val="6E7079"/>
                </a:solidFill>
              </a:rPr>
              <a:t>PREDICTED HIGH</a:t>
            </a:r>
            <a:endParaRPr lang="en-US" sz="900" dirty="0"/>
          </a:p>
        </p:txBody>
      </p:sp>
      <p:sp>
        <p:nvSpPr>
          <p:cNvPr id="8" name="Text 6"/>
          <p:cNvSpPr txBox="1"/>
          <p:nvPr/>
        </p:nvSpPr>
        <p:spPr>
          <a:xfrm>
            <a:off x="1051560" y="1965960"/>
            <a:ext cx="2926080" cy="685800"/>
          </a:xfrm>
          <a:prstGeom prst="rect">
            <a:avLst/>
          </a:prstGeom>
          <a:noFill/>
          <a:ln/>
        </p:spPr>
        <p:txBody>
          <a:bodyPr wrap="square" lIns="0" tIns="0" rIns="0" bIns="0" rtlCol="0" anchor="t"/>
          <a:lstStyle/>
          <a:p>
            <a:pPr indent="0" marL="0">
              <a:buNone/>
            </a:pPr>
            <a:r>
              <a:rPr lang="en-US" sz="1600" b="1" dirty="0">
                <a:solidFill>
                  <a:srgbClr val="1C1C22"/>
                </a:solidFill>
                <a:latin typeface="Cambria" pitchFamily="34" charset="0"/>
                <a:ea typeface="Cambria" pitchFamily="34" charset="-122"/>
                <a:cs typeface="Cambria" pitchFamily="34" charset="-120"/>
              </a:rPr>
              <a:t>Bounds loosen through long chains</a:t>
            </a:r>
            <a:endParaRPr lang="en-US" sz="1600" dirty="0"/>
          </a:p>
        </p:txBody>
      </p:sp>
      <p:sp>
        <p:nvSpPr>
          <p:cNvPr id="9" name="Shape 7"/>
          <p:cNvSpPr/>
          <p:nvPr/>
        </p:nvSpPr>
        <p:spPr>
          <a:xfrm>
            <a:off x="1051560" y="2724912"/>
            <a:ext cx="1691640" cy="310896"/>
          </a:xfrm>
          <a:prstGeom prst="roundRect">
            <a:avLst>
              <a:gd name="adj" fmla="val 50000"/>
            </a:avLst>
          </a:prstGeom>
          <a:solidFill>
            <a:srgbClr val="990011"/>
          </a:solidFill>
          <a:ln w="12700">
            <a:solidFill>
              <a:srgbClr val="990011"/>
            </a:solidFill>
            <a:prstDash val="solid"/>
          </a:ln>
        </p:spPr>
      </p:sp>
      <p:sp>
        <p:nvSpPr>
          <p:cNvPr id="10" name="Text 8"/>
          <p:cNvSpPr txBox="1"/>
          <p:nvPr/>
        </p:nvSpPr>
        <p:spPr>
          <a:xfrm>
            <a:off x="1051560" y="2724912"/>
            <a:ext cx="1691640"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rPr>
              <a:t>MATERIALISED</a:t>
            </a:r>
            <a:endParaRPr lang="en-US" sz="900" dirty="0"/>
          </a:p>
        </p:txBody>
      </p:sp>
      <p:sp>
        <p:nvSpPr>
          <p:cNvPr id="11" name="Text 9"/>
          <p:cNvSpPr txBox="1"/>
          <p:nvPr/>
        </p:nvSpPr>
        <p:spPr>
          <a:xfrm>
            <a:off x="1051560" y="3200400"/>
            <a:ext cx="2926080" cy="2286000"/>
          </a:xfrm>
          <a:prstGeom prst="rect">
            <a:avLst/>
          </a:prstGeom>
          <a:noFill/>
          <a:ln/>
        </p:spPr>
        <p:txBody>
          <a:bodyPr wrap="square" lIns="0" tIns="0" rIns="0" bIns="0" rtlCol="0" anchor="t"/>
          <a:lstStyle/>
          <a:p>
            <a:pPr indent="0" marL="0">
              <a:buNone/>
            </a:pPr>
            <a:r>
              <a:rPr lang="en-US" sz="1250" dirty="0">
                <a:solidFill>
                  <a:srgbClr val="3A3D46"/>
                </a:solidFill>
              </a:rPr>
              <a:t>Newton: fp32 measures 1.3e-7, but we can only prove 7.7e-5 (604× loose). At β = 1e-6 the compiler must pay for fp64 (0.51×). The negative result Review 1 predicted, with its cause.</a:t>
            </a:r>
            <a:endParaRPr lang="en-US" sz="1250" dirty="0"/>
          </a:p>
        </p:txBody>
      </p:sp>
      <p:sp>
        <p:nvSpPr>
          <p:cNvPr id="12" name="Shape 10"/>
          <p:cNvSpPr/>
          <p:nvPr/>
        </p:nvSpPr>
        <p:spPr>
          <a:xfrm>
            <a:off x="4416552" y="1508760"/>
            <a:ext cx="3355848" cy="4114800"/>
          </a:xfrm>
          <a:prstGeom prst="rect">
            <a:avLst/>
          </a:prstGeom>
          <a:solidFill>
            <a:srgbClr val="FCF6F5"/>
          </a:solidFill>
          <a:ln w="12700">
            <a:solidFill>
              <a:srgbClr val="FCF6F5"/>
            </a:solidFill>
            <a:prstDash val="solid"/>
          </a:ln>
        </p:spPr>
      </p:sp>
      <p:sp>
        <p:nvSpPr>
          <p:cNvPr id="13" name="Text 11"/>
          <p:cNvSpPr txBox="1"/>
          <p:nvPr/>
        </p:nvSpPr>
        <p:spPr>
          <a:xfrm>
            <a:off x="4645152" y="1691640"/>
            <a:ext cx="2926080" cy="237744"/>
          </a:xfrm>
          <a:prstGeom prst="rect">
            <a:avLst/>
          </a:prstGeom>
          <a:noFill/>
          <a:ln/>
        </p:spPr>
        <p:txBody>
          <a:bodyPr wrap="square" lIns="0" tIns="0" rIns="0" bIns="0" rtlCol="0" anchor="ctr"/>
          <a:lstStyle/>
          <a:p>
            <a:pPr indent="0" marL="0">
              <a:buNone/>
            </a:pPr>
            <a:r>
              <a:rPr lang="en-US" sz="900" b="1" spc="200" kern="0" dirty="0">
                <a:solidFill>
                  <a:srgbClr val="6E7079"/>
                </a:solidFill>
              </a:rPr>
              <a:t>PREDICTED MEDIUM</a:t>
            </a:r>
            <a:endParaRPr lang="en-US" sz="900" dirty="0"/>
          </a:p>
        </p:txBody>
      </p:sp>
      <p:sp>
        <p:nvSpPr>
          <p:cNvPr id="14" name="Text 12"/>
          <p:cNvSpPr txBox="1"/>
          <p:nvPr/>
        </p:nvSpPr>
        <p:spPr>
          <a:xfrm>
            <a:off x="4645152" y="1965960"/>
            <a:ext cx="2926080" cy="685800"/>
          </a:xfrm>
          <a:prstGeom prst="rect">
            <a:avLst/>
          </a:prstGeom>
          <a:noFill/>
          <a:ln/>
        </p:spPr>
        <p:txBody>
          <a:bodyPr wrap="square" lIns="0" tIns="0" rIns="0" bIns="0" rtlCol="0" anchor="t"/>
          <a:lstStyle/>
          <a:p>
            <a:pPr indent="0" marL="0">
              <a:buNone/>
            </a:pPr>
            <a:r>
              <a:rPr lang="en-US" sz="1600" b="1" dirty="0">
                <a:solidFill>
                  <a:srgbClr val="1C1C22"/>
                </a:solidFill>
                <a:latin typeface="Cambria" pitchFamily="34" charset="0"/>
                <a:ea typeface="Cambria" pitchFamily="34" charset="-122"/>
                <a:cs typeface="Cambria" pitchFamily="34" charset="-120"/>
              </a:rPr>
              <a:t>Block format error is data dependent</a:t>
            </a:r>
            <a:endParaRPr lang="en-US" sz="1600" dirty="0"/>
          </a:p>
        </p:txBody>
      </p:sp>
      <p:sp>
        <p:nvSpPr>
          <p:cNvPr id="15" name="Shape 13"/>
          <p:cNvSpPr/>
          <p:nvPr/>
        </p:nvSpPr>
        <p:spPr>
          <a:xfrm>
            <a:off x="4645152" y="2724912"/>
            <a:ext cx="1691640" cy="310896"/>
          </a:xfrm>
          <a:prstGeom prst="roundRect">
            <a:avLst>
              <a:gd name="adj" fmla="val 50000"/>
            </a:avLst>
          </a:prstGeom>
          <a:solidFill>
            <a:srgbClr val="2F3C7E"/>
          </a:solidFill>
          <a:ln w="12700">
            <a:solidFill>
              <a:srgbClr val="2F3C7E"/>
            </a:solidFill>
            <a:prstDash val="solid"/>
          </a:ln>
        </p:spPr>
      </p:sp>
      <p:sp>
        <p:nvSpPr>
          <p:cNvPr id="16" name="Text 14"/>
          <p:cNvSpPr txBox="1"/>
          <p:nvPr/>
        </p:nvSpPr>
        <p:spPr>
          <a:xfrm>
            <a:off x="4645152" y="2724912"/>
            <a:ext cx="1691640"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rPr>
              <a:t>MITIGATED</a:t>
            </a:r>
            <a:endParaRPr lang="en-US" sz="900" dirty="0"/>
          </a:p>
        </p:txBody>
      </p:sp>
      <p:sp>
        <p:nvSpPr>
          <p:cNvPr id="17" name="Text 15"/>
          <p:cNvSpPr txBox="1"/>
          <p:nvPr/>
        </p:nvSpPr>
        <p:spPr>
          <a:xfrm>
            <a:off x="4645152" y="3200400"/>
            <a:ext cx="2926080" cy="2286000"/>
          </a:xfrm>
          <a:prstGeom prst="rect">
            <a:avLst/>
          </a:prstGeom>
          <a:noFill/>
          <a:ln/>
        </p:spPr>
        <p:txBody>
          <a:bodyPr wrap="square" lIns="0" tIns="0" rIns="0" bIns="0" rtlCol="0" anchor="t"/>
          <a:lstStyle/>
          <a:p>
            <a:pPr indent="0" marL="0">
              <a:buNone/>
            </a:pPr>
            <a:r>
              <a:rPr lang="en-US" sz="1250" dirty="0">
                <a:solidFill>
                  <a:srgbClr val="3A3D46"/>
                </a:solidFill>
              </a:rPr>
              <a:t>Shared exponent fixed statically from the proven range entering the block, as proposed. Forced onto every site of five kernels: sound in all tests.</a:t>
            </a:r>
            <a:endParaRPr lang="en-US" sz="1250" dirty="0"/>
          </a:p>
        </p:txBody>
      </p:sp>
      <p:sp>
        <p:nvSpPr>
          <p:cNvPr id="18" name="Shape 16"/>
          <p:cNvSpPr/>
          <p:nvPr/>
        </p:nvSpPr>
        <p:spPr>
          <a:xfrm>
            <a:off x="8010144" y="1508760"/>
            <a:ext cx="3355848" cy="4114800"/>
          </a:xfrm>
          <a:prstGeom prst="rect">
            <a:avLst/>
          </a:prstGeom>
          <a:solidFill>
            <a:srgbClr val="FCF6F5"/>
          </a:solidFill>
          <a:ln w="12700">
            <a:solidFill>
              <a:srgbClr val="FCF6F5"/>
            </a:solidFill>
            <a:prstDash val="solid"/>
          </a:ln>
        </p:spPr>
      </p:sp>
      <p:sp>
        <p:nvSpPr>
          <p:cNvPr id="19" name="Text 17"/>
          <p:cNvSpPr txBox="1"/>
          <p:nvPr/>
        </p:nvSpPr>
        <p:spPr>
          <a:xfrm>
            <a:off x="8238744" y="1691640"/>
            <a:ext cx="2926080" cy="237744"/>
          </a:xfrm>
          <a:prstGeom prst="rect">
            <a:avLst/>
          </a:prstGeom>
          <a:noFill/>
          <a:ln/>
        </p:spPr>
        <p:txBody>
          <a:bodyPr wrap="square" lIns="0" tIns="0" rIns="0" bIns="0" rtlCol="0" anchor="ctr"/>
          <a:lstStyle/>
          <a:p>
            <a:pPr indent="0" marL="0">
              <a:buNone/>
            </a:pPr>
            <a:r>
              <a:rPr lang="en-US" sz="900" b="1" spc="200" kern="0" dirty="0">
                <a:solidFill>
                  <a:srgbClr val="6E7079"/>
                </a:solidFill>
              </a:rPr>
              <a:t>PREDICTED MEDIUM</a:t>
            </a:r>
            <a:endParaRPr lang="en-US" sz="900" dirty="0"/>
          </a:p>
        </p:txBody>
      </p:sp>
      <p:sp>
        <p:nvSpPr>
          <p:cNvPr id="20" name="Text 18"/>
          <p:cNvSpPr txBox="1"/>
          <p:nvPr/>
        </p:nvSpPr>
        <p:spPr>
          <a:xfrm>
            <a:off x="8238744" y="1965960"/>
            <a:ext cx="2926080" cy="685800"/>
          </a:xfrm>
          <a:prstGeom prst="rect">
            <a:avLst/>
          </a:prstGeom>
          <a:noFill/>
          <a:ln/>
        </p:spPr>
        <p:txBody>
          <a:bodyPr wrap="square" lIns="0" tIns="0" rIns="0" bIns="0" rtlCol="0" anchor="t"/>
          <a:lstStyle/>
          <a:p>
            <a:pPr indent="0" marL="0">
              <a:buNone/>
            </a:pPr>
            <a:r>
              <a:rPr lang="en-US" sz="1600" b="1" dirty="0">
                <a:solidFill>
                  <a:srgbClr val="1C1C22"/>
                </a:solidFill>
                <a:latin typeface="Cambria" pitchFamily="34" charset="0"/>
                <a:ea typeface="Cambria" pitchFamily="34" charset="-122"/>
                <a:cs typeface="Cambria" pitchFamily="34" charset="-120"/>
              </a:rPr>
              <a:t>ILP does not scale</a:t>
            </a:r>
            <a:endParaRPr lang="en-US" sz="1600" dirty="0"/>
          </a:p>
        </p:txBody>
      </p:sp>
      <p:sp>
        <p:nvSpPr>
          <p:cNvPr id="21" name="Shape 19"/>
          <p:cNvSpPr/>
          <p:nvPr/>
        </p:nvSpPr>
        <p:spPr>
          <a:xfrm>
            <a:off x="8238744" y="2724912"/>
            <a:ext cx="1691640" cy="310896"/>
          </a:xfrm>
          <a:prstGeom prst="roundRect">
            <a:avLst>
              <a:gd name="adj" fmla="val 50000"/>
            </a:avLst>
          </a:prstGeom>
          <a:solidFill>
            <a:srgbClr val="1F7A4D"/>
          </a:solidFill>
          <a:ln w="12700">
            <a:solidFill>
              <a:srgbClr val="1F7A4D"/>
            </a:solidFill>
            <a:prstDash val="solid"/>
          </a:ln>
        </p:spPr>
      </p:sp>
      <p:sp>
        <p:nvSpPr>
          <p:cNvPr id="22" name="Text 20"/>
          <p:cNvSpPr txBox="1"/>
          <p:nvPr/>
        </p:nvSpPr>
        <p:spPr>
          <a:xfrm>
            <a:off x="8238744" y="2724912"/>
            <a:ext cx="1691640"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rPr>
              <a:t>NOT REACHED</a:t>
            </a:r>
            <a:endParaRPr lang="en-US" sz="900" dirty="0"/>
          </a:p>
        </p:txBody>
      </p:sp>
      <p:sp>
        <p:nvSpPr>
          <p:cNvPr id="23" name="Text 21"/>
          <p:cNvSpPr txBox="1"/>
          <p:nvPr/>
        </p:nvSpPr>
        <p:spPr>
          <a:xfrm>
            <a:off x="8238744" y="3200400"/>
            <a:ext cx="2926080" cy="2286000"/>
          </a:xfrm>
          <a:prstGeom prst="rect">
            <a:avLst/>
          </a:prstGeom>
          <a:noFill/>
          <a:ln/>
        </p:spPr>
        <p:txBody>
          <a:bodyPr wrap="square" lIns="0" tIns="0" rIns="0" bIns="0" rtlCol="0" anchor="t"/>
          <a:lstStyle/>
          <a:p>
            <a:pPr indent="0" marL="0">
              <a:buNone/>
            </a:pPr>
            <a:r>
              <a:rPr lang="en-US" sz="1250" dirty="0">
                <a:solidFill>
                  <a:srgbClr val="3A3D46"/>
                </a:solidFill>
              </a:rPr>
              <a:t>At most 40 options per kernel, solved in ≈3 ms. Annealing fallback implemented and selectable in the UI, never needed.</a:t>
            </a:r>
            <a:endParaRPr lang="en-US" sz="1250" dirty="0"/>
          </a:p>
        </p:txBody>
      </p:sp>
      <p:sp>
        <p:nvSpPr>
          <p:cNvPr id="24" name="takeaway"/>
          <p:cNvSpPr/>
          <p:nvPr/>
        </p:nvSpPr>
        <p:spPr>
          <a:xfrm>
            <a:off x="822960" y="5897880"/>
            <a:ext cx="10543032" cy="566928"/>
          </a:xfrm>
          <a:prstGeom prst="rect">
            <a:avLst/>
          </a:prstGeom>
          <a:solidFill>
            <a:srgbClr val="1C1C22"/>
          </a:solidFill>
          <a:ln w="12700">
            <a:solidFill>
              <a:srgbClr val="1C1C22"/>
            </a:solidFill>
            <a:prstDash val="solid"/>
          </a:ln>
        </p:spPr>
      </p:sp>
      <p:sp>
        <p:nvSpPr>
          <p:cNvPr id="25" name="takeaway text"/>
          <p:cNvSpPr txBox="1"/>
          <p:nvPr/>
        </p:nvSpPr>
        <p:spPr>
          <a:xfrm>
            <a:off x="1051560" y="589788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The first risk is real and now quantified. It is the clearest direction for future work: relational or probabilistic bounds for iterative kernels.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18</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What We Learned, What Is Left</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Findings we did not predict, and the boundaries of the current system.</a:t>
            </a:r>
            <a:endParaRPr lang="en-US" sz="1300" dirty="0"/>
          </a:p>
        </p:txBody>
      </p:sp>
      <p:sp>
        <p:nvSpPr>
          <p:cNvPr id="6" name="Text 4"/>
          <p:cNvSpPr txBox="1"/>
          <p:nvPr/>
        </p:nvSpPr>
        <p:spPr>
          <a:xfrm>
            <a:off x="822960" y="1463040"/>
            <a:ext cx="502920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FINDINGS</a:t>
            </a:r>
            <a:endParaRPr lang="en-US" sz="1000" dirty="0"/>
          </a:p>
        </p:txBody>
      </p:sp>
      <p:sp>
        <p:nvSpPr>
          <p:cNvPr id="7" name="Text 5"/>
          <p:cNvSpPr txBox="1"/>
          <p:nvPr/>
        </p:nvSpPr>
        <p:spPr>
          <a:xfrm>
            <a:off x="822960" y="1783080"/>
            <a:ext cx="4937760" cy="320040"/>
          </a:xfrm>
          <a:prstGeom prst="rect">
            <a:avLst/>
          </a:prstGeom>
          <a:noFill/>
          <a:ln/>
        </p:spPr>
        <p:txBody>
          <a:bodyPr wrap="square" lIns="0" tIns="0" rIns="0" bIns="0" rtlCol="0" anchor="ctr"/>
          <a:lstStyle/>
          <a:p>
            <a:pPr indent="0" marL="0">
              <a:buNone/>
            </a:pPr>
            <a:r>
              <a:rPr lang="en-US" sz="1500" b="1" dirty="0">
                <a:solidFill>
                  <a:srgbClr val="2F3C7E"/>
                </a:solidFill>
              </a:rPr>
              <a:t>Tables dominate memoization</a:t>
            </a:r>
            <a:endParaRPr lang="en-US" sz="1500" dirty="0"/>
          </a:p>
        </p:txBody>
      </p:sp>
      <p:sp>
        <p:nvSpPr>
          <p:cNvPr id="8" name="Text 6"/>
          <p:cNvSpPr txBox="1"/>
          <p:nvPr/>
        </p:nvSpPr>
        <p:spPr>
          <a:xfrm>
            <a:off x="822960" y="2103120"/>
            <a:ext cx="4937760" cy="822960"/>
          </a:xfrm>
          <a:prstGeom prst="rect">
            <a:avLst/>
          </a:prstGeom>
          <a:noFill/>
          <a:ln/>
        </p:spPr>
        <p:txBody>
          <a:bodyPr wrap="square" lIns="0" tIns="0" rIns="0" bIns="0" rtlCol="0" anchor="t"/>
          <a:lstStyle/>
          <a:p>
            <a:pPr indent="0" marL="0">
              <a:buNone/>
            </a:pPr>
            <a:r>
              <a:rPr lang="en-US" sz="1250" dirty="0">
                <a:solidFill>
                  <a:srgbClr val="3A3D46"/>
                </a:solidFill>
              </a:rPr>
              <a:t>Under our cost model a table is cheaper than a cache whenever both meet the error bound. Memoization is implemented, certified and tested, but never selected.</a:t>
            </a:r>
            <a:endParaRPr lang="en-US" sz="1250" dirty="0"/>
          </a:p>
        </p:txBody>
      </p:sp>
      <p:sp>
        <p:nvSpPr>
          <p:cNvPr id="9" name="Text 7"/>
          <p:cNvSpPr txBox="1"/>
          <p:nvPr/>
        </p:nvSpPr>
        <p:spPr>
          <a:xfrm>
            <a:off x="822960" y="2990088"/>
            <a:ext cx="4937760" cy="320040"/>
          </a:xfrm>
          <a:prstGeom prst="rect">
            <a:avLst/>
          </a:prstGeom>
          <a:noFill/>
          <a:ln/>
        </p:spPr>
        <p:txBody>
          <a:bodyPr wrap="square" lIns="0" tIns="0" rIns="0" bIns="0" rtlCol="0" anchor="ctr"/>
          <a:lstStyle/>
          <a:p>
            <a:pPr indent="0" marL="0">
              <a:buNone/>
            </a:pPr>
            <a:r>
              <a:rPr lang="en-US" sz="1500" b="1" dirty="0">
                <a:solidFill>
                  <a:srgbClr val="2F3C7E"/>
                </a:solidFill>
              </a:rPr>
              <a:t>Calibration matters</a:t>
            </a:r>
            <a:endParaRPr lang="en-US" sz="1500" dirty="0"/>
          </a:p>
        </p:txBody>
      </p:sp>
      <p:sp>
        <p:nvSpPr>
          <p:cNvPr id="10" name="Text 8"/>
          <p:cNvSpPr txBox="1"/>
          <p:nvPr/>
        </p:nvSpPr>
        <p:spPr>
          <a:xfrm>
            <a:off x="822960" y="3310128"/>
            <a:ext cx="4937760" cy="822960"/>
          </a:xfrm>
          <a:prstGeom prst="rect">
            <a:avLst/>
          </a:prstGeom>
          <a:noFill/>
          <a:ln/>
        </p:spPr>
        <p:txBody>
          <a:bodyPr wrap="square" lIns="0" tIns="0" rIns="0" bIns="0" rtlCol="0" anchor="t"/>
          <a:lstStyle/>
          <a:p>
            <a:pPr indent="0" marL="0">
              <a:buNone/>
            </a:pPr>
            <a:r>
              <a:rPr lang="en-US" sz="1250" dirty="0">
                <a:solidFill>
                  <a:srgbClr val="3A3D46"/>
                </a:solidFill>
              </a:rPr>
              <a:t>This host's libm is several times slower than a textbook model; calibrating per machine changed which lever wins.</a:t>
            </a:r>
            <a:endParaRPr lang="en-US" sz="1250" dirty="0"/>
          </a:p>
        </p:txBody>
      </p:sp>
      <p:sp>
        <p:nvSpPr>
          <p:cNvPr id="11" name="Text 9"/>
          <p:cNvSpPr txBox="1"/>
          <p:nvPr/>
        </p:nvSpPr>
        <p:spPr>
          <a:xfrm>
            <a:off x="822960" y="4197096"/>
            <a:ext cx="4937760" cy="320040"/>
          </a:xfrm>
          <a:prstGeom prst="rect">
            <a:avLst/>
          </a:prstGeom>
          <a:noFill/>
          <a:ln/>
        </p:spPr>
        <p:txBody>
          <a:bodyPr wrap="square" lIns="0" tIns="0" rIns="0" bIns="0" rtlCol="0" anchor="ctr"/>
          <a:lstStyle/>
          <a:p>
            <a:pPr indent="0" marL="0">
              <a:buNone/>
            </a:pPr>
            <a:r>
              <a:rPr lang="en-US" sz="1500" b="1" dirty="0">
                <a:solidFill>
                  <a:srgbClr val="2F3C7E"/>
                </a:solidFill>
              </a:rPr>
              <a:t>The remainder is the real bottleneck</a:t>
            </a:r>
            <a:endParaRPr lang="en-US" sz="1500" dirty="0"/>
          </a:p>
        </p:txBody>
      </p:sp>
      <p:sp>
        <p:nvSpPr>
          <p:cNvPr id="12" name="Text 10"/>
          <p:cNvSpPr txBox="1"/>
          <p:nvPr/>
        </p:nvSpPr>
        <p:spPr>
          <a:xfrm>
            <a:off x="822960" y="4517136"/>
            <a:ext cx="4937760" cy="822960"/>
          </a:xfrm>
          <a:prstGeom prst="rect">
            <a:avLst/>
          </a:prstGeom>
          <a:noFill/>
          <a:ln/>
        </p:spPr>
        <p:txBody>
          <a:bodyPr wrap="square" lIns="0" tIns="0" rIns="0" bIns="0" rtlCol="0" anchor="t"/>
          <a:lstStyle/>
          <a:p>
            <a:pPr indent="0" marL="0">
              <a:buNone/>
            </a:pPr>
            <a:r>
              <a:rPr lang="en-US" sz="1250" dirty="0">
                <a:solidFill>
                  <a:srgbClr val="3A3D46"/>
                </a:solidFill>
              </a:rPr>
              <a:t>Most looseness comes from sign-uncertain terms, not from the levers' own error models.</a:t>
            </a:r>
            <a:endParaRPr lang="en-US" sz="1250" dirty="0"/>
          </a:p>
        </p:txBody>
      </p:sp>
      <p:sp>
        <p:nvSpPr>
          <p:cNvPr id="13" name="Text 11"/>
          <p:cNvSpPr txBox="1"/>
          <p:nvPr/>
        </p:nvSpPr>
        <p:spPr>
          <a:xfrm>
            <a:off x="6309360" y="1463040"/>
            <a:ext cx="502920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LIMITS</a:t>
            </a:r>
            <a:endParaRPr lang="en-US" sz="1000" dirty="0"/>
          </a:p>
        </p:txBody>
      </p:sp>
      <p:sp>
        <p:nvSpPr>
          <p:cNvPr id="14" name="Text 12"/>
          <p:cNvSpPr txBox="1"/>
          <p:nvPr/>
        </p:nvSpPr>
        <p:spPr>
          <a:xfrm>
            <a:off x="6309360" y="1783080"/>
            <a:ext cx="5029200" cy="356616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C1C22"/>
                </a:solidFill>
              </a:rPr>
              <a:t>No pointers, recursion, data-dependent loops or concurrency: the Review 1 scope, kept deliberately.</a:t>
            </a:r>
            <a:endParaRPr lang="en-US" sz="1300" dirty="0"/>
          </a:p>
          <a:p>
            <a:pPr marL="342900" indent="-342900">
              <a:spcAft>
                <a:spcPts val="1000"/>
              </a:spcAft>
              <a:buSzPct val="100000"/>
              <a:buChar char="•"/>
            </a:pPr>
            <a:r>
              <a:rPr lang="en-US" sz="1300" dirty="0">
                <a:solidFill>
                  <a:srgbClr val="1C1C22"/>
                </a:solidFill>
              </a:rPr>
              <a:t>Programs are unrolled for analysis; we cap at 60,000 operations.</a:t>
            </a:r>
            <a:endParaRPr lang="en-US" sz="1300" dirty="0"/>
          </a:p>
          <a:p>
            <a:pPr marL="342900" indent="-342900">
              <a:spcAft>
                <a:spcPts val="1000"/>
              </a:spcAft>
              <a:buSzPct val="100000"/>
              <a:buChar char="•"/>
            </a:pPr>
            <a:r>
              <a:rPr lang="en-US" sz="1300" dirty="0">
                <a:solidFill>
                  <a:srgbClr val="1C1C22"/>
                </a:solidFill>
              </a:rPr>
              <a:t>Precision speedups are modeled; native gains need SIMD or tensor units.</a:t>
            </a:r>
            <a:endParaRPr lang="en-US" sz="1300" dirty="0"/>
          </a:p>
          <a:p>
            <a:pPr marL="342900" indent="-342900">
              <a:spcAft>
                <a:spcPts val="1000"/>
              </a:spcAft>
              <a:buSzPct val="100000"/>
              <a:buChar char="•"/>
            </a:pPr>
            <a:r>
              <a:rPr lang="en-US" sz="1300" dirty="0">
                <a:solidFill>
                  <a:srgbClr val="1C1C22"/>
                </a:solidFill>
              </a:rPr>
              <a:t>The bound is against real arithmetic; verification compares with fp64, a 1e-16-relative proxy.</a:t>
            </a:r>
            <a:endParaRPr lang="en-US" sz="1300" dirty="0"/>
          </a:p>
          <a:p>
            <a:pPr marL="342900" indent="-342900">
              <a:spcAft>
                <a:spcPts val="1000"/>
              </a:spcAft>
              <a:buSzPct val="100000"/>
              <a:buChar char="•"/>
            </a:pPr>
            <a:r>
              <a:rPr lang="en-US" sz="1300" dirty="0">
                <a:solidFill>
                  <a:srgbClr val="1C1C22"/>
                </a:solidFill>
              </a:rPr>
              <a:t>Block FP uses one static exponent per operand rather than per hardware block.</a:t>
            </a:r>
            <a:endParaRPr lang="en-US" sz="1300" dirty="0"/>
          </a:p>
        </p:txBody>
      </p:sp>
      <p:sp>
        <p:nvSpPr>
          <p:cNvPr id="15" name="takeaway"/>
          <p:cNvSpPr/>
          <p:nvPr/>
        </p:nvSpPr>
        <p:spPr>
          <a:xfrm>
            <a:off x="822960" y="5897880"/>
            <a:ext cx="10543032" cy="566928"/>
          </a:xfrm>
          <a:prstGeom prst="rect">
            <a:avLst/>
          </a:prstGeom>
          <a:solidFill>
            <a:srgbClr val="1C1C22"/>
          </a:solidFill>
          <a:ln w="12700">
            <a:solidFill>
              <a:srgbClr val="1C1C22"/>
            </a:solidFill>
            <a:prstDash val="solid"/>
          </a:ln>
        </p:spPr>
      </p:sp>
      <p:sp>
        <p:nvSpPr>
          <p:cNvPr id="16" name="takeaway text"/>
          <p:cNvSpPr txBox="1"/>
          <p:nvPr/>
        </p:nvSpPr>
        <p:spPr>
          <a:xfrm>
            <a:off x="1051560" y="589788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Next steps: per-iteration contraction analysis for iterative kernels, vectorised code generation to realise precision gains, and real block FP.</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19</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Demo: The Compiler in a Browser</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Edit a kernel, drag the budget, toggle levers. Each compile runs every phase, certifies, and verifies.</a:t>
            </a:r>
            <a:endParaRPr lang="en-US" sz="1300" dirty="0"/>
          </a:p>
        </p:txBody>
      </p:sp>
      <p:pic>
        <p:nvPicPr>
          <p:cNvPr id="6" name="frontend allocation view" descr="C:\Users\anand\AppData\Local\Packages\Claude_pzs8sxrjxfjjc\LocalCache\Roaming\Claude\scratch-workspaces\6d3f6ae3-a9cf-43a1-9f02-084f51aa24ce\94af3f7e-8586-428b-8d2f-3ab2c2e6953c\scratch-2026-10-23-c963b5\shots\ui_alloc.png">    </p:cNvPr>
          <p:cNvPicPr>
            <a:picLocks noChangeAspect="1"/>
          </p:cNvPicPr>
          <p:nvPr/>
        </p:nvPicPr>
        <p:blipFill>
          <a:blip r:embed="rId1"/>
          <a:stretch>
            <a:fillRect/>
          </a:stretch>
        </p:blipFill>
        <p:spPr>
          <a:xfrm>
            <a:off x="822960" y="1417320"/>
            <a:ext cx="7022592" cy="4389120"/>
          </a:xfrm>
          <a:prstGeom prst="rect">
            <a:avLst/>
          </a:prstGeom>
        </p:spPr>
      </p:pic>
      <p:sp>
        <p:nvSpPr>
          <p:cNvPr id="7" name="Text 4"/>
          <p:cNvSpPr txBox="1"/>
          <p:nvPr/>
        </p:nvSpPr>
        <p:spPr>
          <a:xfrm>
            <a:off x="8138160" y="1463040"/>
            <a:ext cx="3200400" cy="274320"/>
          </a:xfrm>
          <a:prstGeom prst="rect">
            <a:avLst/>
          </a:prstGeom>
          <a:noFill/>
          <a:ln/>
        </p:spPr>
        <p:txBody>
          <a:bodyPr wrap="square" lIns="0" tIns="0" rIns="0" bIns="0" rtlCol="0" anchor="ctr"/>
          <a:lstStyle/>
          <a:p>
            <a:pPr indent="0" marL="0">
              <a:buNone/>
            </a:pPr>
            <a:r>
              <a:rPr lang="en-US" sz="1350" b="1" dirty="0">
                <a:solidFill>
                  <a:srgbClr val="990011"/>
                </a:solidFill>
              </a:rPr>
              <a:t>Allocation</a:t>
            </a:r>
            <a:endParaRPr lang="en-US" sz="1350" dirty="0"/>
          </a:p>
        </p:txBody>
      </p:sp>
      <p:sp>
        <p:nvSpPr>
          <p:cNvPr id="8" name="Text 5"/>
          <p:cNvSpPr txBox="1"/>
          <p:nvPr/>
        </p:nvSpPr>
        <p:spPr>
          <a:xfrm>
            <a:off x="8138160" y="1737360"/>
            <a:ext cx="3200400" cy="365760"/>
          </a:xfrm>
          <a:prstGeom prst="rect">
            <a:avLst/>
          </a:prstGeom>
          <a:noFill/>
          <a:ln/>
        </p:spPr>
        <p:txBody>
          <a:bodyPr wrap="square" lIns="0" tIns="0" rIns="0" bIns="0" rtlCol="0" anchor="t"/>
          <a:lstStyle/>
          <a:p>
            <a:pPr indent="0" marL="0">
              <a:buNone/>
            </a:pPr>
            <a:r>
              <a:rPr lang="en-US" sz="1200" dirty="0">
                <a:solidFill>
                  <a:srgbClr val="6E7079"/>
                </a:solidFill>
              </a:rPr>
              <a:t>every site, its chosen option, and its share of the bound</a:t>
            </a:r>
            <a:endParaRPr lang="en-US" sz="1200" dirty="0"/>
          </a:p>
        </p:txBody>
      </p:sp>
      <p:sp>
        <p:nvSpPr>
          <p:cNvPr id="9" name="Text 6"/>
          <p:cNvSpPr txBox="1"/>
          <p:nvPr/>
        </p:nvSpPr>
        <p:spPr>
          <a:xfrm>
            <a:off x="8138160" y="2148840"/>
            <a:ext cx="3200400" cy="274320"/>
          </a:xfrm>
          <a:prstGeom prst="rect">
            <a:avLst/>
          </a:prstGeom>
          <a:noFill/>
          <a:ln/>
        </p:spPr>
        <p:txBody>
          <a:bodyPr wrap="square" lIns="0" tIns="0" rIns="0" bIns="0" rtlCol="0" anchor="ctr"/>
          <a:lstStyle/>
          <a:p>
            <a:pPr indent="0" marL="0">
              <a:buNone/>
            </a:pPr>
            <a:r>
              <a:rPr lang="en-US" sz="1350" b="1" dirty="0">
                <a:solidFill>
                  <a:srgbClr val="990011"/>
                </a:solidFill>
              </a:rPr>
              <a:t>Error budget</a:t>
            </a:r>
            <a:endParaRPr lang="en-US" sz="1350" dirty="0"/>
          </a:p>
        </p:txBody>
      </p:sp>
      <p:sp>
        <p:nvSpPr>
          <p:cNvPr id="10" name="Text 7"/>
          <p:cNvSpPr txBox="1"/>
          <p:nvPr/>
        </p:nvSpPr>
        <p:spPr>
          <a:xfrm>
            <a:off x="8138160" y="2423160"/>
            <a:ext cx="3200400" cy="365760"/>
          </a:xfrm>
          <a:prstGeom prst="rect">
            <a:avLst/>
          </a:prstGeom>
          <a:noFill/>
          <a:ln/>
        </p:spPr>
        <p:txBody>
          <a:bodyPr wrap="square" lIns="0" tIns="0" rIns="0" bIns="0" rtlCol="0" anchor="t"/>
          <a:lstStyle/>
          <a:p>
            <a:pPr indent="0" marL="0">
              <a:buNone/>
            </a:pPr>
            <a:r>
              <a:rPr lang="en-US" sz="1200" dirty="0">
                <a:solidFill>
                  <a:srgbClr val="6E7079"/>
                </a:solidFill>
              </a:rPr>
              <a:t>the bound split by lever, plus the top contributing sites</a:t>
            </a:r>
            <a:endParaRPr lang="en-US" sz="1200" dirty="0"/>
          </a:p>
        </p:txBody>
      </p:sp>
      <p:sp>
        <p:nvSpPr>
          <p:cNvPr id="11" name="Text 8"/>
          <p:cNvSpPr txBox="1"/>
          <p:nvPr/>
        </p:nvSpPr>
        <p:spPr>
          <a:xfrm>
            <a:off x="8138160" y="2834640"/>
            <a:ext cx="3200400" cy="274320"/>
          </a:xfrm>
          <a:prstGeom prst="rect">
            <a:avLst/>
          </a:prstGeom>
          <a:noFill/>
          <a:ln/>
        </p:spPr>
        <p:txBody>
          <a:bodyPr wrap="square" lIns="0" tIns="0" rIns="0" bIns="0" rtlCol="0" anchor="ctr"/>
          <a:lstStyle/>
          <a:p>
            <a:pPr indent="0" marL="0">
              <a:buNone/>
            </a:pPr>
            <a:r>
              <a:rPr lang="en-US" sz="1350" b="1" dirty="0">
                <a:solidFill>
                  <a:srgbClr val="990011"/>
                </a:solidFill>
              </a:rPr>
              <a:t>Soundness</a:t>
            </a:r>
            <a:endParaRPr lang="en-US" sz="1350" dirty="0"/>
          </a:p>
        </p:txBody>
      </p:sp>
      <p:sp>
        <p:nvSpPr>
          <p:cNvPr id="12" name="Text 9"/>
          <p:cNvSpPr txBox="1"/>
          <p:nvPr/>
        </p:nvSpPr>
        <p:spPr>
          <a:xfrm>
            <a:off x="8138160" y="3108960"/>
            <a:ext cx="3200400" cy="365760"/>
          </a:xfrm>
          <a:prstGeom prst="rect">
            <a:avLst/>
          </a:prstGeom>
          <a:noFill/>
          <a:ln/>
        </p:spPr>
        <p:txBody>
          <a:bodyPr wrap="square" lIns="0" tIns="0" rIns="0" bIns="0" rtlCol="0" anchor="t"/>
          <a:lstStyle/>
          <a:p>
            <a:pPr indent="0" marL="0">
              <a:buNone/>
            </a:pPr>
            <a:r>
              <a:rPr lang="en-US" sz="1200" dirty="0">
                <a:solidFill>
                  <a:srgbClr val="6E7079"/>
                </a:solidFill>
              </a:rPr>
              <a:t>per-sample measured error against the certified line</a:t>
            </a:r>
            <a:endParaRPr lang="en-US" sz="1200" dirty="0"/>
          </a:p>
        </p:txBody>
      </p:sp>
      <p:sp>
        <p:nvSpPr>
          <p:cNvPr id="13" name="Text 10"/>
          <p:cNvSpPr txBox="1"/>
          <p:nvPr/>
        </p:nvSpPr>
        <p:spPr>
          <a:xfrm>
            <a:off x="8138160" y="3520440"/>
            <a:ext cx="3200400" cy="274320"/>
          </a:xfrm>
          <a:prstGeom prst="rect">
            <a:avLst/>
          </a:prstGeom>
          <a:noFill/>
          <a:ln/>
        </p:spPr>
        <p:txBody>
          <a:bodyPr wrap="square" lIns="0" tIns="0" rIns="0" bIns="0" rtlCol="0" anchor="ctr"/>
          <a:lstStyle/>
          <a:p>
            <a:pPr indent="0" marL="0">
              <a:buNone/>
            </a:pPr>
            <a:r>
              <a:rPr lang="en-US" sz="1350" b="1" dirty="0">
                <a:solidFill>
                  <a:srgbClr val="990011"/>
                </a:solidFill>
              </a:rPr>
              <a:t>Pareto sweep</a:t>
            </a:r>
            <a:endParaRPr lang="en-US" sz="1350" dirty="0"/>
          </a:p>
        </p:txBody>
      </p:sp>
      <p:sp>
        <p:nvSpPr>
          <p:cNvPr id="14" name="Text 11"/>
          <p:cNvSpPr txBox="1"/>
          <p:nvPr/>
        </p:nvSpPr>
        <p:spPr>
          <a:xfrm>
            <a:off x="8138160" y="3794760"/>
            <a:ext cx="3200400" cy="365760"/>
          </a:xfrm>
          <a:prstGeom prst="rect">
            <a:avLst/>
          </a:prstGeom>
          <a:noFill/>
          <a:ln/>
        </p:spPr>
        <p:txBody>
          <a:bodyPr wrap="square" lIns="0" tIns="0" rIns="0" bIns="0" rtlCol="0" anchor="t"/>
          <a:lstStyle/>
          <a:p>
            <a:pPr indent="0" marL="0">
              <a:buNone/>
            </a:pPr>
            <a:r>
              <a:rPr lang="en-US" sz="1200" dirty="0">
                <a:solidFill>
                  <a:srgbClr val="6E7079"/>
                </a:solidFill>
              </a:rPr>
              <a:t>13 budgets, full system against precision only</a:t>
            </a:r>
            <a:endParaRPr lang="en-US" sz="1200" dirty="0"/>
          </a:p>
        </p:txBody>
      </p:sp>
      <p:sp>
        <p:nvSpPr>
          <p:cNvPr id="15" name="Text 12"/>
          <p:cNvSpPr txBox="1"/>
          <p:nvPr/>
        </p:nvSpPr>
        <p:spPr>
          <a:xfrm>
            <a:off x="8138160" y="4206240"/>
            <a:ext cx="3200400" cy="274320"/>
          </a:xfrm>
          <a:prstGeom prst="rect">
            <a:avLst/>
          </a:prstGeom>
          <a:noFill/>
          <a:ln/>
        </p:spPr>
        <p:txBody>
          <a:bodyPr wrap="square" lIns="0" tIns="0" rIns="0" bIns="0" rtlCol="0" anchor="ctr"/>
          <a:lstStyle/>
          <a:p>
            <a:pPr indent="0" marL="0">
              <a:buNone/>
            </a:pPr>
            <a:r>
              <a:rPr lang="en-US" sz="1350" b="1" dirty="0">
                <a:solidFill>
                  <a:srgbClr val="990011"/>
                </a:solidFill>
              </a:rPr>
              <a:t>Pipeline</a:t>
            </a:r>
            <a:endParaRPr lang="en-US" sz="1350" dirty="0"/>
          </a:p>
        </p:txBody>
      </p:sp>
      <p:sp>
        <p:nvSpPr>
          <p:cNvPr id="16" name="Text 13"/>
          <p:cNvSpPr txBox="1"/>
          <p:nvPr/>
        </p:nvSpPr>
        <p:spPr>
          <a:xfrm>
            <a:off x="8138160" y="4480560"/>
            <a:ext cx="3200400" cy="365760"/>
          </a:xfrm>
          <a:prstGeom prst="rect">
            <a:avLst/>
          </a:prstGeom>
          <a:noFill/>
          <a:ln/>
        </p:spPr>
        <p:txBody>
          <a:bodyPr wrap="square" lIns="0" tIns="0" rIns="0" bIns="0" rtlCol="0" anchor="t"/>
          <a:lstStyle/>
          <a:p>
            <a:pPr indent="0" marL="0">
              <a:buNone/>
            </a:pPr>
            <a:r>
              <a:rPr lang="en-US" sz="1200" dirty="0">
                <a:solidFill>
                  <a:srgbClr val="6E7079"/>
                </a:solidFill>
              </a:rPr>
              <a:t>phase timings, AST, SSA IR, allocator trace</a:t>
            </a:r>
            <a:endParaRPr lang="en-US" sz="1200" dirty="0"/>
          </a:p>
        </p:txBody>
      </p:sp>
      <p:sp>
        <p:nvSpPr>
          <p:cNvPr id="17" name="Text 14"/>
          <p:cNvSpPr txBox="1"/>
          <p:nvPr/>
        </p:nvSpPr>
        <p:spPr>
          <a:xfrm>
            <a:off x="8138160" y="4892040"/>
            <a:ext cx="3200400" cy="274320"/>
          </a:xfrm>
          <a:prstGeom prst="rect">
            <a:avLst/>
          </a:prstGeom>
          <a:noFill/>
          <a:ln/>
        </p:spPr>
        <p:txBody>
          <a:bodyPr wrap="square" lIns="0" tIns="0" rIns="0" bIns="0" rtlCol="0" anchor="ctr"/>
          <a:lstStyle/>
          <a:p>
            <a:pPr indent="0" marL="0">
              <a:buNone/>
            </a:pPr>
            <a:r>
              <a:rPr lang="en-US" sz="1350" b="1" dirty="0">
                <a:solidFill>
                  <a:srgbClr val="990011"/>
                </a:solidFill>
              </a:rPr>
              <a:t>C code</a:t>
            </a:r>
            <a:endParaRPr lang="en-US" sz="1350" dirty="0"/>
          </a:p>
        </p:txBody>
      </p:sp>
      <p:sp>
        <p:nvSpPr>
          <p:cNvPr id="18" name="Text 15"/>
          <p:cNvSpPr txBox="1"/>
          <p:nvPr/>
        </p:nvSpPr>
        <p:spPr>
          <a:xfrm>
            <a:off x="8138160" y="5166360"/>
            <a:ext cx="3200400" cy="365760"/>
          </a:xfrm>
          <a:prstGeom prst="rect">
            <a:avLst/>
          </a:prstGeom>
          <a:noFill/>
          <a:ln/>
        </p:spPr>
        <p:txBody>
          <a:bodyPr wrap="square" lIns="0" tIns="0" rIns="0" bIns="0" rtlCol="0" anchor="t"/>
          <a:lstStyle/>
          <a:p>
            <a:pPr indent="0" marL="0">
              <a:buNone/>
            </a:pPr>
            <a:r>
              <a:rPr lang="en-US" sz="1200" dirty="0">
                <a:solidFill>
                  <a:srgbClr val="6E7079"/>
                </a:solidFill>
              </a:rPr>
              <a:t>emitted kernel; one click compiles and times it with gcc</a:t>
            </a:r>
            <a:endParaRPr lang="en-US" sz="1200" dirty="0"/>
          </a:p>
        </p:txBody>
      </p:sp>
      <p:sp>
        <p:nvSpPr>
          <p:cNvPr id="19" name="takeaway"/>
          <p:cNvSpPr/>
          <p:nvPr/>
        </p:nvSpPr>
        <p:spPr>
          <a:xfrm>
            <a:off x="822960" y="5989320"/>
            <a:ext cx="10543032" cy="566928"/>
          </a:xfrm>
          <a:prstGeom prst="rect">
            <a:avLst/>
          </a:prstGeom>
          <a:solidFill>
            <a:srgbClr val="1C1C22"/>
          </a:solidFill>
          <a:ln w="12700">
            <a:solidFill>
              <a:srgbClr val="1C1C22"/>
            </a:solidFill>
            <a:prstDash val="solid"/>
          </a:ln>
        </p:spPr>
      </p:sp>
      <p:sp>
        <p:nvSpPr>
          <p:cNvPr id="20" name="takeaway text"/>
          <p:cNvSpPr txBox="1"/>
          <p:nvPr/>
        </p:nvSpPr>
        <p:spPr>
          <a:xfrm>
            <a:off x="1051560" y="5989320"/>
            <a:ext cx="10149840" cy="566928"/>
          </a:xfrm>
          <a:prstGeom prst="rect">
            <a:avLst/>
          </a:prstGeom>
          <a:noFill/>
          <a:ln/>
        </p:spPr>
        <p:txBody>
          <a:bodyPr wrap="square" lIns="0" tIns="0" rIns="0" bIns="0" rtlCol="0" anchor="ctr"/>
          <a:lstStyle/>
          <a:p>
            <a:pPr indent="0" marL="0">
              <a:buNone/>
            </a:pPr>
            <a:r>
              <a:rPr lang="en-US" sz="1400" dirty="0">
                <a:solidFill>
                  <a:srgbClr val="FFFFFF"/>
                </a:solidFill>
              </a:rPr>
              <a:t>pip install flask numpy scipy  ·  python acc/server.py  ·  open http://127.0.0.1:5000</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20</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1C1C22"/>
                </a:solidFill>
                <a:latin typeface="Cambria" pitchFamily="34" charset="0"/>
                <a:ea typeface="Cambria" pitchFamily="34" charset="-122"/>
                <a:cs typeface="Cambria" pitchFamily="34" charset="-120"/>
              </a:rPr>
              <a:t>Demo: The Evidence Views</a:t>
            </a:r>
            <a:endParaRPr lang="en-US" sz="2800" dirty="0"/>
          </a:p>
        </p:txBody>
      </p:sp>
      <p:sp>
        <p:nvSpPr>
          <p:cNvPr id="5" name="subtitle"/>
          <p:cNvSpPr txBox="1"/>
          <p:nvPr/>
        </p:nvSpPr>
        <p:spPr>
          <a:xfrm>
            <a:off x="1298448" y="987552"/>
            <a:ext cx="10058400" cy="310896"/>
          </a:xfrm>
          <a:prstGeom prst="rect">
            <a:avLst/>
          </a:prstGeom>
          <a:noFill/>
          <a:ln/>
        </p:spPr>
        <p:txBody>
          <a:bodyPr wrap="square" lIns="0" tIns="0" rIns="0" bIns="0" rtlCol="0" anchor="ctr"/>
          <a:lstStyle/>
          <a:p>
            <a:pPr indent="0" marL="0">
              <a:buNone/>
            </a:pPr>
            <a:r>
              <a:rPr lang="en-US" sz="1300" dirty="0">
                <a:solidFill>
                  <a:srgbClr val="6E7079"/>
                </a:solidFill>
              </a:rPr>
              <a:t>Soundness for the current compile, and the Pareto sweep, both generated on demand.</a:t>
            </a:r>
            <a:endParaRPr lang="en-US" sz="1300" dirty="0"/>
          </a:p>
        </p:txBody>
      </p:sp>
      <p:pic>
        <p:nvPicPr>
          <p:cNvPr id="6" name="soundness view" descr="C:\Users\anand\AppData\Local\Packages\Claude_pzs8sxrjxfjjc\LocalCache\Roaming\Claude\scratch-workspaces\6d3f6ae3-a9cf-43a1-9f02-084f51aa24ce\94af3f7e-8586-428b-8d2f-3ab2c2e6953c\scratch-2026-10-23-c963b5\shots\ui_sound.png">    </p:cNvPr>
          <p:cNvPicPr>
            <a:picLocks noChangeAspect="1"/>
          </p:cNvPicPr>
          <p:nvPr/>
        </p:nvPicPr>
        <p:blipFill>
          <a:blip r:embed="rId1"/>
          <a:stretch>
            <a:fillRect/>
          </a:stretch>
        </p:blipFill>
        <p:spPr>
          <a:xfrm>
            <a:off x="822960" y="1463040"/>
            <a:ext cx="5148072" cy="3218688"/>
          </a:xfrm>
          <a:prstGeom prst="rect">
            <a:avLst/>
          </a:prstGeom>
        </p:spPr>
      </p:pic>
      <p:pic>
        <p:nvPicPr>
          <p:cNvPr id="7" name="pareto view" descr="C:\Users\anand\AppData\Local\Packages\Claude_pzs8sxrjxfjjc\LocalCache\Roaming\Claude\scratch-workspaces\6d3f6ae3-a9cf-43a1-9f02-084f51aa24ce\94af3f7e-8586-428b-8d2f-3ab2c2e6953c\scratch-2026-10-23-c963b5\shots\ui_pareto.png">    </p:cNvPr>
          <p:cNvPicPr>
            <a:picLocks noChangeAspect="1"/>
          </p:cNvPicPr>
          <p:nvPr/>
        </p:nvPicPr>
        <p:blipFill>
          <a:blip r:embed="rId2"/>
          <a:stretch>
            <a:fillRect/>
          </a:stretch>
        </p:blipFill>
        <p:spPr>
          <a:xfrm>
            <a:off x="6217920" y="1463040"/>
            <a:ext cx="5148072" cy="3218688"/>
          </a:xfrm>
          <a:prstGeom prst="rect">
            <a:avLst/>
          </a:prstGeom>
        </p:spPr>
      </p:pic>
      <p:sp>
        <p:nvSpPr>
          <p:cNvPr id="8" name="Text 4"/>
          <p:cNvSpPr txBox="1"/>
          <p:nvPr/>
        </p:nvSpPr>
        <p:spPr>
          <a:xfrm>
            <a:off x="822960" y="4846320"/>
            <a:ext cx="457200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SOUNDNESS TAB</a:t>
            </a:r>
            <a:endParaRPr lang="en-US" sz="1000" dirty="0"/>
          </a:p>
        </p:txBody>
      </p:sp>
      <p:sp>
        <p:nvSpPr>
          <p:cNvPr id="9" name="Text 5"/>
          <p:cNvSpPr txBox="1"/>
          <p:nvPr/>
        </p:nvSpPr>
        <p:spPr>
          <a:xfrm>
            <a:off x="822960" y="5120640"/>
            <a:ext cx="5120640" cy="548640"/>
          </a:xfrm>
          <a:prstGeom prst="rect">
            <a:avLst/>
          </a:prstGeom>
          <a:noFill/>
          <a:ln/>
        </p:spPr>
        <p:txBody>
          <a:bodyPr wrap="square" lIns="0" tIns="0" rIns="0" bIns="0" rtlCol="0" anchor="t"/>
          <a:lstStyle/>
          <a:p>
            <a:pPr indent="0" marL="0">
              <a:buNone/>
            </a:pPr>
            <a:r>
              <a:rPr lang="en-US" sz="1250" dirty="0">
                <a:solidFill>
                  <a:srgbClr val="3A3D46"/>
                </a:solidFill>
              </a:rPr>
              <a:t>Image kernel, 256 samples; the first four are domain corners. Bound 8.8e-3, worst measured 1.4e-3.</a:t>
            </a:r>
            <a:endParaRPr lang="en-US" sz="1250" dirty="0"/>
          </a:p>
        </p:txBody>
      </p:sp>
      <p:sp>
        <p:nvSpPr>
          <p:cNvPr id="10" name="Text 6"/>
          <p:cNvSpPr txBox="1"/>
          <p:nvPr/>
        </p:nvSpPr>
        <p:spPr>
          <a:xfrm>
            <a:off x="6217920" y="4846320"/>
            <a:ext cx="4572000" cy="237744"/>
          </a:xfrm>
          <a:prstGeom prst="rect">
            <a:avLst/>
          </a:prstGeom>
          <a:noFill/>
          <a:ln/>
        </p:spPr>
        <p:txBody>
          <a:bodyPr wrap="square" lIns="0" tIns="0" rIns="0" bIns="0" rtlCol="0" anchor="ctr"/>
          <a:lstStyle/>
          <a:p>
            <a:pPr indent="0" marL="0">
              <a:buNone/>
            </a:pPr>
            <a:r>
              <a:rPr lang="en-US" sz="1000" b="1" spc="200" kern="0" dirty="0">
                <a:solidFill>
                  <a:srgbClr val="990011"/>
                </a:solidFill>
              </a:rPr>
              <a:t>PARETO TAB</a:t>
            </a:r>
            <a:endParaRPr lang="en-US" sz="1000" dirty="0"/>
          </a:p>
        </p:txBody>
      </p:sp>
      <p:sp>
        <p:nvSpPr>
          <p:cNvPr id="11" name="Text 7"/>
          <p:cNvSpPr txBox="1"/>
          <p:nvPr/>
        </p:nvSpPr>
        <p:spPr>
          <a:xfrm>
            <a:off x="6217920" y="5120640"/>
            <a:ext cx="5120640" cy="548640"/>
          </a:xfrm>
          <a:prstGeom prst="rect">
            <a:avLst/>
          </a:prstGeom>
          <a:noFill/>
          <a:ln/>
        </p:spPr>
        <p:txBody>
          <a:bodyPr wrap="square" lIns="0" tIns="0" rIns="0" bIns="0" rtlCol="0" anchor="t"/>
          <a:lstStyle/>
          <a:p>
            <a:pPr indent="0" marL="0">
              <a:buNone/>
            </a:pPr>
            <a:r>
              <a:rPr lang="en-US" sz="1250" dirty="0">
                <a:solidFill>
                  <a:srgbClr val="3A3D46"/>
                </a:solidFill>
              </a:rPr>
              <a:t>Each point is allocated, certified and measured live, so the curve is regenerated for whatever kernel is in the editor.</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badge"/>
          <p:cNvSpPr/>
          <p:nvPr/>
        </p:nvSpPr>
        <p:spPr>
          <a:xfrm>
            <a:off x="822960" y="548640"/>
            <a:ext cx="310896" cy="310896"/>
          </a:xfrm>
          <a:prstGeom prst="ellipse">
            <a:avLst/>
          </a:prstGeom>
          <a:solidFill>
            <a:srgbClr val="990011"/>
          </a:solidFill>
          <a:ln w="12700">
            <a:solidFill>
              <a:srgbClr val="990011"/>
            </a:solidFill>
            <a:prstDash val="solid"/>
          </a:ln>
        </p:spPr>
      </p:sp>
      <p:sp>
        <p:nvSpPr>
          <p:cNvPr id="3" name="badge number"/>
          <p:cNvSpPr txBox="1"/>
          <p:nvPr/>
        </p:nvSpPr>
        <p:spPr>
          <a:xfrm>
            <a:off x="822960" y="5486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rPr>
              <a:t>21</a:t>
            </a:r>
            <a:endParaRPr lang="en-US" sz="900" dirty="0"/>
          </a:p>
        </p:txBody>
      </p:sp>
      <p:sp>
        <p:nvSpPr>
          <p:cNvPr id="4" name="Text 0"/>
          <p:cNvSpPr/>
          <p:nvPr>
            <p:ph idx="100" type="title" hasCustomPrompt="1"/>
          </p:nvPr>
        </p:nvSpPr>
        <p:spPr>
          <a:xfrm>
            <a:off x="1298448" y="420624"/>
            <a:ext cx="10058400" cy="566928"/>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Where We Arrived</a:t>
            </a:r>
            <a:endParaRPr lang="en-US" sz="2800" dirty="0"/>
          </a:p>
        </p:txBody>
      </p:sp>
      <p:sp>
        <p:nvSpPr>
          <p:cNvPr id="5" name="Shape 3"/>
          <p:cNvSpPr/>
          <p:nvPr/>
        </p:nvSpPr>
        <p:spPr>
          <a:xfrm>
            <a:off x="822960" y="1417320"/>
            <a:ext cx="2514600" cy="1965960"/>
          </a:xfrm>
          <a:prstGeom prst="rect">
            <a:avLst/>
          </a:prstGeom>
          <a:solidFill>
            <a:srgbClr val="2A2D35"/>
          </a:solidFill>
          <a:ln w="12700">
            <a:solidFill>
              <a:srgbClr val="2A2D35"/>
            </a:solidFill>
            <a:prstDash val="solid"/>
          </a:ln>
        </p:spPr>
      </p:sp>
      <p:sp>
        <p:nvSpPr>
          <p:cNvPr id="6" name="Text 4"/>
          <p:cNvSpPr txBox="1"/>
          <p:nvPr/>
        </p:nvSpPr>
        <p:spPr>
          <a:xfrm>
            <a:off x="1024128" y="1600200"/>
            <a:ext cx="2103120" cy="237744"/>
          </a:xfrm>
          <a:prstGeom prst="rect">
            <a:avLst/>
          </a:prstGeom>
          <a:noFill/>
          <a:ln/>
        </p:spPr>
        <p:txBody>
          <a:bodyPr wrap="square" lIns="0" tIns="0" rIns="0" bIns="0" rtlCol="0" anchor="ctr"/>
          <a:lstStyle/>
          <a:p>
            <a:pPr indent="0" marL="0">
              <a:buNone/>
            </a:pPr>
            <a:r>
              <a:rPr lang="en-US" sz="900" b="1" spc="200" kern="0" dirty="0">
                <a:solidFill>
                  <a:srgbClr val="E05263"/>
                </a:solidFill>
              </a:rPr>
              <a:t>REVIEW 1</a:t>
            </a:r>
            <a:endParaRPr lang="en-US" sz="900" dirty="0"/>
          </a:p>
        </p:txBody>
      </p:sp>
      <p:sp>
        <p:nvSpPr>
          <p:cNvPr id="7" name="Text 5"/>
          <p:cNvSpPr txBox="1"/>
          <p:nvPr/>
        </p:nvSpPr>
        <p:spPr>
          <a:xfrm>
            <a:off x="1024128" y="1874520"/>
            <a:ext cx="214884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Design locked</a:t>
            </a:r>
            <a:endParaRPr lang="en-US" sz="1600" dirty="0"/>
          </a:p>
        </p:txBody>
      </p:sp>
      <p:sp>
        <p:nvSpPr>
          <p:cNvPr id="8" name="Text 6"/>
          <p:cNvSpPr txBox="1"/>
          <p:nvPr/>
        </p:nvSpPr>
        <p:spPr>
          <a:xfrm>
            <a:off x="1024128" y="2331720"/>
            <a:ext cx="2148840" cy="822960"/>
          </a:xfrm>
          <a:prstGeom prst="rect">
            <a:avLst/>
          </a:prstGeom>
          <a:noFill/>
          <a:ln/>
        </p:spPr>
        <p:txBody>
          <a:bodyPr wrap="square" lIns="0" tIns="0" rIns="0" bIns="0" rtlCol="0" anchor="ctr"/>
          <a:lstStyle/>
          <a:p>
            <a:pPr indent="0" marL="0">
              <a:buNone/>
            </a:pPr>
            <a:r>
              <a:rPr lang="en-US" sz="1150" dirty="0">
                <a:solidFill>
                  <a:srgbClr val="C9CBD4"/>
                </a:solidFill>
              </a:rPr>
              <a:t>Language, IR, error model and menu specified.</a:t>
            </a:r>
            <a:endParaRPr lang="en-US" sz="1150" dirty="0"/>
          </a:p>
        </p:txBody>
      </p:sp>
      <p:sp>
        <p:nvSpPr>
          <p:cNvPr id="9" name="Text 7"/>
          <p:cNvSpPr txBox="1"/>
          <p:nvPr/>
        </p:nvSpPr>
        <p:spPr>
          <a:xfrm>
            <a:off x="2880360" y="155448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Shape 8"/>
          <p:cNvSpPr/>
          <p:nvPr/>
        </p:nvSpPr>
        <p:spPr>
          <a:xfrm>
            <a:off x="3502152" y="1417320"/>
            <a:ext cx="2514600" cy="1965960"/>
          </a:xfrm>
          <a:prstGeom prst="rect">
            <a:avLst/>
          </a:prstGeom>
          <a:solidFill>
            <a:srgbClr val="2A2D35"/>
          </a:solidFill>
          <a:ln w="12700">
            <a:solidFill>
              <a:srgbClr val="2A2D35"/>
            </a:solidFill>
            <a:prstDash val="solid"/>
          </a:ln>
        </p:spPr>
      </p:sp>
      <p:sp>
        <p:nvSpPr>
          <p:cNvPr id="11" name="Text 9"/>
          <p:cNvSpPr txBox="1"/>
          <p:nvPr/>
        </p:nvSpPr>
        <p:spPr>
          <a:xfrm>
            <a:off x="3703320" y="1600200"/>
            <a:ext cx="2103120" cy="237744"/>
          </a:xfrm>
          <a:prstGeom prst="rect">
            <a:avLst/>
          </a:prstGeom>
          <a:noFill/>
          <a:ln/>
        </p:spPr>
        <p:txBody>
          <a:bodyPr wrap="square" lIns="0" tIns="0" rIns="0" bIns="0" rtlCol="0" anchor="ctr"/>
          <a:lstStyle/>
          <a:p>
            <a:pPr indent="0" marL="0">
              <a:buNone/>
            </a:pPr>
            <a:r>
              <a:rPr lang="en-US" sz="900" b="1" spc="200" kern="0" dirty="0">
                <a:solidFill>
                  <a:srgbClr val="E05263"/>
                </a:solidFill>
              </a:rPr>
              <a:t>REVIEW 2</a:t>
            </a:r>
            <a:endParaRPr lang="en-US" sz="900" dirty="0"/>
          </a:p>
        </p:txBody>
      </p:sp>
      <p:sp>
        <p:nvSpPr>
          <p:cNvPr id="12" name="Text 10"/>
          <p:cNvSpPr txBox="1"/>
          <p:nvPr/>
        </p:nvSpPr>
        <p:spPr>
          <a:xfrm>
            <a:off x="3703320" y="1874520"/>
            <a:ext cx="214884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Engine working</a:t>
            </a:r>
            <a:endParaRPr lang="en-US" sz="1600" dirty="0"/>
          </a:p>
        </p:txBody>
      </p:sp>
      <p:sp>
        <p:nvSpPr>
          <p:cNvPr id="13" name="Text 11"/>
          <p:cNvSpPr txBox="1"/>
          <p:nvPr/>
        </p:nvSpPr>
        <p:spPr>
          <a:xfrm>
            <a:off x="3703320" y="2331720"/>
            <a:ext cx="2148840" cy="822960"/>
          </a:xfrm>
          <a:prstGeom prst="rect">
            <a:avLst/>
          </a:prstGeom>
          <a:noFill/>
          <a:ln/>
        </p:spPr>
        <p:txBody>
          <a:bodyPr wrap="square" lIns="0" tIns="0" rIns="0" bIns="0" rtlCol="0" anchor="ctr"/>
          <a:lstStyle/>
          <a:p>
            <a:pPr indent="0" marL="0">
              <a:buNone/>
            </a:pPr>
            <a:r>
              <a:rPr lang="en-US" sz="1150" dirty="0">
                <a:solidFill>
                  <a:srgbClr val="C9CBD4"/>
                </a:solidFill>
              </a:rPr>
              <a:t>Front end, SSA, affine propagation validated by Monte Carlo.</a:t>
            </a:r>
            <a:endParaRPr lang="en-US" sz="1150" dirty="0"/>
          </a:p>
        </p:txBody>
      </p:sp>
      <p:sp>
        <p:nvSpPr>
          <p:cNvPr id="14" name="Text 12"/>
          <p:cNvSpPr txBox="1"/>
          <p:nvPr/>
        </p:nvSpPr>
        <p:spPr>
          <a:xfrm>
            <a:off x="5559552" y="155448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5" name="Shape 13"/>
          <p:cNvSpPr/>
          <p:nvPr/>
        </p:nvSpPr>
        <p:spPr>
          <a:xfrm>
            <a:off x="6181344" y="1417320"/>
            <a:ext cx="2514600" cy="1965960"/>
          </a:xfrm>
          <a:prstGeom prst="rect">
            <a:avLst/>
          </a:prstGeom>
          <a:solidFill>
            <a:srgbClr val="2A2D35"/>
          </a:solidFill>
          <a:ln w="12700">
            <a:solidFill>
              <a:srgbClr val="2A2D35"/>
            </a:solidFill>
            <a:prstDash val="solid"/>
          </a:ln>
        </p:spPr>
      </p:sp>
      <p:sp>
        <p:nvSpPr>
          <p:cNvPr id="16" name="Text 14"/>
          <p:cNvSpPr txBox="1"/>
          <p:nvPr/>
        </p:nvSpPr>
        <p:spPr>
          <a:xfrm>
            <a:off x="6382512" y="1600200"/>
            <a:ext cx="2103120" cy="237744"/>
          </a:xfrm>
          <a:prstGeom prst="rect">
            <a:avLst/>
          </a:prstGeom>
          <a:noFill/>
          <a:ln/>
        </p:spPr>
        <p:txBody>
          <a:bodyPr wrap="square" lIns="0" tIns="0" rIns="0" bIns="0" rtlCol="0" anchor="ctr"/>
          <a:lstStyle/>
          <a:p>
            <a:pPr indent="0" marL="0">
              <a:buNone/>
            </a:pPr>
            <a:r>
              <a:rPr lang="en-US" sz="900" b="1" spc="200" kern="0" dirty="0">
                <a:solidFill>
                  <a:srgbClr val="E05263"/>
                </a:solidFill>
              </a:rPr>
              <a:t>REVIEW 3</a:t>
            </a:r>
            <a:endParaRPr lang="en-US" sz="900" dirty="0"/>
          </a:p>
        </p:txBody>
      </p:sp>
      <p:sp>
        <p:nvSpPr>
          <p:cNvPr id="17" name="Text 15"/>
          <p:cNvSpPr txBox="1"/>
          <p:nvPr/>
        </p:nvSpPr>
        <p:spPr>
          <a:xfrm>
            <a:off x="6382512" y="1874520"/>
            <a:ext cx="214884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Allocator working</a:t>
            </a:r>
            <a:endParaRPr lang="en-US" sz="1600" dirty="0"/>
          </a:p>
        </p:txBody>
      </p:sp>
      <p:sp>
        <p:nvSpPr>
          <p:cNvPr id="18" name="Text 16"/>
          <p:cNvSpPr txBox="1"/>
          <p:nvPr/>
        </p:nvSpPr>
        <p:spPr>
          <a:xfrm>
            <a:off x="6382512" y="2331720"/>
            <a:ext cx="2148840" cy="822960"/>
          </a:xfrm>
          <a:prstGeom prst="rect">
            <a:avLst/>
          </a:prstGeom>
          <a:noFill/>
          <a:ln/>
        </p:spPr>
        <p:txBody>
          <a:bodyPr wrap="square" lIns="0" tIns="0" rIns="0" bIns="0" rtlCol="0" anchor="ctr"/>
          <a:lstStyle/>
          <a:p>
            <a:pPr indent="0" marL="0">
              <a:buNone/>
            </a:pPr>
            <a:r>
              <a:rPr lang="en-US" sz="1150" dirty="0">
                <a:solidFill>
                  <a:srgbClr val="C9CBD4"/>
                </a:solidFill>
              </a:rPr>
              <a:t>Four levers, ILP allocation, first speedups.</a:t>
            </a:r>
            <a:endParaRPr lang="en-US" sz="1150" dirty="0"/>
          </a:p>
        </p:txBody>
      </p:sp>
      <p:sp>
        <p:nvSpPr>
          <p:cNvPr id="19" name="Text 17"/>
          <p:cNvSpPr txBox="1"/>
          <p:nvPr/>
        </p:nvSpPr>
        <p:spPr>
          <a:xfrm>
            <a:off x="8238744" y="155448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0" name="Shape 18"/>
          <p:cNvSpPr/>
          <p:nvPr/>
        </p:nvSpPr>
        <p:spPr>
          <a:xfrm>
            <a:off x="8860536" y="1417320"/>
            <a:ext cx="2514600" cy="1965960"/>
          </a:xfrm>
          <a:prstGeom prst="rect">
            <a:avLst/>
          </a:prstGeom>
          <a:solidFill>
            <a:srgbClr val="990011"/>
          </a:solidFill>
          <a:ln w="12700">
            <a:solidFill>
              <a:srgbClr val="990011"/>
            </a:solidFill>
            <a:prstDash val="solid"/>
          </a:ln>
        </p:spPr>
      </p:sp>
      <p:sp>
        <p:nvSpPr>
          <p:cNvPr id="21" name="Text 19"/>
          <p:cNvSpPr txBox="1"/>
          <p:nvPr/>
        </p:nvSpPr>
        <p:spPr>
          <a:xfrm>
            <a:off x="9061704" y="1600200"/>
            <a:ext cx="2103120" cy="237744"/>
          </a:xfrm>
          <a:prstGeom prst="rect">
            <a:avLst/>
          </a:prstGeom>
          <a:noFill/>
          <a:ln/>
        </p:spPr>
        <p:txBody>
          <a:bodyPr wrap="square" lIns="0" tIns="0" rIns="0" bIns="0" rtlCol="0" anchor="ctr"/>
          <a:lstStyle/>
          <a:p>
            <a:pPr indent="0" marL="0">
              <a:buNone/>
            </a:pPr>
            <a:r>
              <a:rPr lang="en-US" sz="900" b="1" spc="200" kern="0" dirty="0">
                <a:solidFill>
                  <a:srgbClr val="FFD9DE"/>
                </a:solidFill>
              </a:rPr>
              <a:t>FINAL</a:t>
            </a:r>
            <a:endParaRPr lang="en-US" sz="900" dirty="0"/>
          </a:p>
        </p:txBody>
      </p:sp>
      <p:sp>
        <p:nvSpPr>
          <p:cNvPr id="22" name="Text 20"/>
          <p:cNvSpPr txBox="1"/>
          <p:nvPr/>
        </p:nvSpPr>
        <p:spPr>
          <a:xfrm>
            <a:off x="9061704" y="1874520"/>
            <a:ext cx="214884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Result defended</a:t>
            </a:r>
            <a:endParaRPr lang="en-US" sz="1600" dirty="0"/>
          </a:p>
        </p:txBody>
      </p:sp>
      <p:sp>
        <p:nvSpPr>
          <p:cNvPr id="23" name="Text 21"/>
          <p:cNvSpPr txBox="1"/>
          <p:nvPr/>
        </p:nvSpPr>
        <p:spPr>
          <a:xfrm>
            <a:off x="9061704" y="2331720"/>
            <a:ext cx="2148840" cy="822960"/>
          </a:xfrm>
          <a:prstGeom prst="rect">
            <a:avLst/>
          </a:prstGeom>
          <a:noFill/>
          <a:ln/>
        </p:spPr>
        <p:txBody>
          <a:bodyPr wrap="square" lIns="0" tIns="0" rIns="0" bIns="0" rtlCol="0" anchor="ctr"/>
          <a:lstStyle/>
          <a:p>
            <a:pPr indent="0" marL="0">
              <a:buNone/>
            </a:pPr>
            <a:r>
              <a:rPr lang="en-US" sz="1150" dirty="0">
                <a:solidFill>
                  <a:srgbClr val="C9CBD4"/>
                </a:solidFill>
              </a:rPr>
              <a:t>Soundness plot, Pareto curves, both baselines, native C.</a:t>
            </a:r>
            <a:endParaRPr lang="en-US" sz="1150" dirty="0"/>
          </a:p>
        </p:txBody>
      </p:sp>
      <p:sp>
        <p:nvSpPr>
          <p:cNvPr id="24" name="Text 22"/>
          <p:cNvSpPr txBox="1"/>
          <p:nvPr/>
        </p:nvSpPr>
        <p:spPr>
          <a:xfrm>
            <a:off x="10917936" y="155448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5" name="Shape 23"/>
          <p:cNvSpPr/>
          <p:nvPr/>
        </p:nvSpPr>
        <p:spPr>
          <a:xfrm>
            <a:off x="822960" y="3794760"/>
            <a:ext cx="10543032" cy="0"/>
          </a:xfrm>
          <a:prstGeom prst="line">
            <a:avLst/>
          </a:prstGeom>
          <a:noFill/>
          <a:ln w="12700">
            <a:solidFill>
              <a:srgbClr val="3A3D46"/>
            </a:solidFill>
            <a:prstDash val="solid"/>
          </a:ln>
        </p:spPr>
      </p:sp>
      <p:sp>
        <p:nvSpPr>
          <p:cNvPr id="26" name="Text 24"/>
          <p:cNvSpPr txBox="1"/>
          <p:nvPr/>
        </p:nvSpPr>
        <p:spPr>
          <a:xfrm>
            <a:off x="822960" y="4069080"/>
            <a:ext cx="10332720" cy="1280160"/>
          </a:xfrm>
          <a:prstGeom prst="rect">
            <a:avLst/>
          </a:prstGeom>
          <a:noFill/>
          <a:ln/>
        </p:spPr>
        <p:txBody>
          <a:bodyPr wrap="square" lIns="0" tIns="0" rIns="0" bIns="0" rtlCol="0" anchor="ctr"/>
          <a:lstStyle/>
          <a:p>
            <a:pPr indent="0" marL="0">
              <a:lnSpc>
                <a:spcPts val="3600"/>
              </a:lnSpc>
              <a:buNone/>
            </a:pPr>
            <a:r>
              <a:rPr lang="en-US" sz="2600" b="1" dirty="0">
                <a:solidFill>
                  <a:srgbClr val="FFFFFF"/>
                </a:solidFill>
                <a:latin typeface="Cambria" pitchFamily="34" charset="0"/>
                <a:ea typeface="Cambria" pitchFamily="34" charset="-122"/>
                <a:cs typeface="Cambria" pitchFamily="34" charset="-120"/>
              </a:rPr>
              <a:t>Accuracy is a resource.</a:t>
            </a:r>
            <a:endParaRPr lang="en-US" sz="2600" dirty="0"/>
          </a:p>
          <a:p>
            <a:pPr indent="0" marL="0">
              <a:lnSpc>
                <a:spcPts val="3600"/>
              </a:lnSpc>
              <a:buNone/>
            </a:pPr>
            <a:r>
              <a:rPr lang="en-US" sz="2600" b="1" dirty="0">
                <a:solidFill>
                  <a:srgbClr val="FFFFFF"/>
                </a:solidFill>
                <a:latin typeface="Cambria" pitchFamily="34" charset="0"/>
                <a:ea typeface="Cambria" pitchFamily="34" charset="-122"/>
                <a:cs typeface="Cambria" pitchFamily="34" charset="-120"/>
              </a:rPr>
              <a:t>We built the compiler that spends it deliberately, proves every spend, and shows its work.</a:t>
            </a:r>
            <a:endParaRPr lang="en-US" sz="2600" dirty="0"/>
          </a:p>
        </p:txBody>
      </p:sp>
      <p:sp>
        <p:nvSpPr>
          <p:cNvPr id="27" name="Text 25"/>
          <p:cNvSpPr txBox="1"/>
          <p:nvPr/>
        </p:nvSpPr>
        <p:spPr>
          <a:xfrm>
            <a:off x="822960" y="5760720"/>
            <a:ext cx="7315200" cy="365760"/>
          </a:xfrm>
          <a:prstGeom prst="rect">
            <a:avLst/>
          </a:prstGeom>
          <a:noFill/>
          <a:ln/>
        </p:spPr>
        <p:txBody>
          <a:bodyPr wrap="square" lIns="0" tIns="0" rIns="0" bIns="0" rtlCol="0" anchor="ctr"/>
          <a:lstStyle/>
          <a:p>
            <a:pPr indent="0" marL="0">
              <a:buNone/>
            </a:pPr>
            <a:r>
              <a:rPr lang="en-US" sz="1400" i="1" dirty="0">
                <a:solidFill>
                  <a:srgbClr val="9A9CA6"/>
                </a:solidFill>
              </a:rPr>
              <a:t>Thank you. Questions welcome.</a:t>
            </a:r>
            <a:endParaRPr lang="en-US" sz="1400" dirty="0"/>
          </a:p>
        </p:txBody>
      </p:sp>
    </p:spTree>
  </p:cSld>
  <p:clrMapOvr>
    <a:masterClrMapping/>
  </p:clrMapOvr>
</p:sld>
</file>

<file path=ppt/theme/theme1.xml><?xml version="1.0" encoding="utf-8"?>
<a:theme xmlns:a="http://schemas.openxmlformats.org/drawingml/2006/main" name="ACC Review">
  <a:themeElements>
    <a:clrScheme name="ACC Review">
      <a:dk1>
        <a:srgbClr val="1C1C22"/>
      </a:dk1>
      <a:lt1>
        <a:srgbClr val="FFFFFF"/>
      </a:lt1>
      <a:dk2>
        <a:srgbClr val="2F3C7E"/>
      </a:dk2>
      <a:lt2>
        <a:srgbClr val="FCF6F5"/>
      </a:lt2>
      <a:accent1>
        <a:srgbClr val="990011"/>
      </a:accent1>
      <a:accent2>
        <a:srgbClr val="2F3C7E"/>
      </a:accent2>
      <a:accent3>
        <a:srgbClr val="E05263"/>
      </a:accent3>
      <a:accent4>
        <a:srgbClr val="1D7F78"/>
      </a:accent4>
      <a:accent5>
        <a:srgbClr val="B7791F"/>
      </a:accent5>
      <a:accent6>
        <a:srgbClr val="6E7079"/>
      </a:accent6>
      <a:hlink>
        <a:srgbClr val="2F3C7E"/>
      </a:hlink>
      <a:folHlink>
        <a:srgbClr val="990011"/>
      </a:folHlink>
    </a:clrScheme>
    <a:fontScheme name="ACC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Accuracy Constrained Compilation - Final Review</dc:title>
  <dc:subject>PptxGenJS Presentation</dc:subject>
  <dc:creator>Anand B, Sathguruvasan Arunothayan, Karthik Senthilkumar</dc:creator>
  <cp:lastModifiedBy>Anand B, Sathguruvasan Arunothayan, Karthik Senthilkumar</cp:lastModifiedBy>
  <cp:revision>1</cp:revision>
  <dcterms:created xsi:type="dcterms:W3CDTF">2026-10-23T01:52:34Z</dcterms:created>
  <dcterms:modified xsi:type="dcterms:W3CDTF">2026-10-23T01:52:34Z</dcterms:modified>
</cp:coreProperties>
</file>